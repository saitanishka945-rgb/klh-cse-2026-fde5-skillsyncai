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300" y="0"/>
                </a:moveTo>
                <a:lnTo>
                  <a:pt x="0" y="0"/>
                </a:lnTo>
                <a:lnTo>
                  <a:pt x="0" y="6858000"/>
                </a:lnTo>
                <a:lnTo>
                  <a:pt x="12179300" y="6858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0A14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79300" cy="1342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79300" cy="73660"/>
          </a:xfrm>
          <a:custGeom>
            <a:avLst/>
            <a:gdLst/>
            <a:ahLst/>
            <a:cxnLst/>
            <a:rect l="l" t="t" r="r" b="b"/>
            <a:pathLst>
              <a:path w="12179300" h="73660">
                <a:moveTo>
                  <a:pt x="0" y="73151"/>
                </a:moveTo>
                <a:lnTo>
                  <a:pt x="12179300" y="73151"/>
                </a:lnTo>
                <a:lnTo>
                  <a:pt x="12179300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2AC4D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2139" y="1265059"/>
            <a:ext cx="204215" cy="20421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0239" y="1280159"/>
            <a:ext cx="128016" cy="12801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5100" y="1996579"/>
            <a:ext cx="167639" cy="16763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43199" y="2011679"/>
            <a:ext cx="91440" cy="9144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71659" y="1356499"/>
            <a:ext cx="240792" cy="24079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09759" y="1371600"/>
            <a:ext cx="164592" cy="164591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77500" y="2179459"/>
            <a:ext cx="185927" cy="18592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15599" y="2194559"/>
            <a:ext cx="109728" cy="1097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23019" y="4465459"/>
            <a:ext cx="176783" cy="176783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61119" y="4480559"/>
            <a:ext cx="100583" cy="100583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796539" y="4648339"/>
            <a:ext cx="195072" cy="19507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34639" y="4663440"/>
            <a:ext cx="118871" cy="118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139" y="2172470"/>
            <a:ext cx="2886075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06388" y="1831596"/>
            <a:ext cx="4872355" cy="3623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D2DDE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300" y="0"/>
                </a:moveTo>
                <a:lnTo>
                  <a:pt x="0" y="0"/>
                </a:lnTo>
                <a:lnTo>
                  <a:pt x="0" y="6858000"/>
                </a:lnTo>
                <a:lnTo>
                  <a:pt x="12179300" y="6858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0A14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79300" cy="1342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79300" cy="73660"/>
          </a:xfrm>
          <a:custGeom>
            <a:avLst/>
            <a:gdLst/>
            <a:ahLst/>
            <a:cxnLst/>
            <a:rect l="l" t="t" r="r" b="b"/>
            <a:pathLst>
              <a:path w="12179300" h="73660">
                <a:moveTo>
                  <a:pt x="0" y="73151"/>
                </a:moveTo>
                <a:lnTo>
                  <a:pt x="12179300" y="73151"/>
                </a:lnTo>
                <a:lnTo>
                  <a:pt x="12179300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2AC4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099" y="310267"/>
            <a:ext cx="368998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185" y="1732597"/>
            <a:ext cx="10875645" cy="1463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25408" y="6479713"/>
            <a:ext cx="1473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45980" y="1127899"/>
            <a:ext cx="277495" cy="277495"/>
            <a:chOff x="9745980" y="1127899"/>
            <a:chExt cx="277495" cy="2774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5980" y="1127899"/>
              <a:ext cx="277368" cy="2773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4080" y="1143000"/>
              <a:ext cx="201168" cy="201167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0706100" y="1722259"/>
            <a:ext cx="204470" cy="204470"/>
            <a:chOff x="10706100" y="1722259"/>
            <a:chExt cx="204470" cy="20447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6100" y="1722259"/>
              <a:ext cx="204216" cy="2042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44199" y="1737359"/>
              <a:ext cx="128016" cy="128016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9288780" y="2362339"/>
            <a:ext cx="186055" cy="186055"/>
            <a:chOff x="9288780" y="2362339"/>
            <a:chExt cx="186055" cy="18605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8780" y="2362339"/>
              <a:ext cx="185927" cy="1859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6880" y="2377439"/>
              <a:ext cx="109727" cy="10972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934700" y="2728099"/>
            <a:ext cx="241300" cy="241300"/>
            <a:chOff x="10934700" y="2728099"/>
            <a:chExt cx="241300" cy="24130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34700" y="2728099"/>
              <a:ext cx="240792" cy="2407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72800" y="2743200"/>
              <a:ext cx="164591" cy="16459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0066019" y="3551059"/>
            <a:ext cx="195580" cy="195580"/>
            <a:chOff x="10066019" y="3551059"/>
            <a:chExt cx="195580" cy="195580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66019" y="3551059"/>
              <a:ext cx="195072" cy="1950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04119" y="3566159"/>
              <a:ext cx="118871" cy="118871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855980" y="1251212"/>
            <a:ext cx="3183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SKILLSYNC</a:t>
            </a:r>
            <a:r>
              <a:rPr sz="3600" spc="-245" dirty="0"/>
              <a:t> </a:t>
            </a:r>
            <a:r>
              <a:rPr sz="3600" spc="-25" dirty="0"/>
              <a:t>AI</a:t>
            </a:r>
            <a:endParaRPr sz="3600"/>
          </a:p>
        </p:txBody>
      </p:sp>
      <p:sp>
        <p:nvSpPr>
          <p:cNvPr id="18" name="object 18"/>
          <p:cNvSpPr txBox="1"/>
          <p:nvPr/>
        </p:nvSpPr>
        <p:spPr>
          <a:xfrm>
            <a:off x="883411" y="1946662"/>
            <a:ext cx="7439025" cy="75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An</a:t>
            </a:r>
            <a:r>
              <a:rPr sz="2400" b="1" spc="-6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Intelligent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Data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Engineering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Platform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D2DDEA"/>
                </a:solidFill>
                <a:latin typeface="Arial"/>
                <a:cs typeface="Arial"/>
              </a:rPr>
              <a:t>for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b="1" spc="-10" dirty="0">
                <a:solidFill>
                  <a:srgbClr val="D2DDEA"/>
                </a:solidFill>
                <a:latin typeface="Arial"/>
                <a:cs typeface="Arial"/>
              </a:rPr>
              <a:t>Real-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Time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Job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Market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&amp;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Emerging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Skill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D2DDEA"/>
                </a:solidFill>
                <a:latin typeface="Arial"/>
                <a:cs typeface="Arial"/>
              </a:rPr>
              <a:t>Intelligence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6572" y="3258451"/>
            <a:ext cx="2270760" cy="140335"/>
            <a:chOff x="766572" y="3258451"/>
            <a:chExt cx="2270760" cy="140335"/>
          </a:xfrm>
        </p:grpSpPr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6572" y="3258451"/>
              <a:ext cx="2270760" cy="14020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04672" y="3273552"/>
              <a:ext cx="2194560" cy="64135"/>
            </a:xfrm>
            <a:custGeom>
              <a:avLst/>
              <a:gdLst/>
              <a:ahLst/>
              <a:cxnLst/>
              <a:rect l="l" t="t" r="r" b="b"/>
              <a:pathLst>
                <a:path w="2194560" h="64135">
                  <a:moveTo>
                    <a:pt x="219456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2194560" y="64008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83411" y="3699257"/>
            <a:ext cx="3637915" cy="1576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97A9C1"/>
                </a:solidFill>
                <a:latin typeface="Arial"/>
                <a:cs typeface="Arial"/>
              </a:rPr>
              <a:t>FUNDAMENTALS</a:t>
            </a:r>
            <a:r>
              <a:rPr sz="12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7A9C1"/>
                </a:solidFill>
                <a:latin typeface="Arial"/>
                <a:cs typeface="Arial"/>
              </a:rPr>
              <a:t>OF</a:t>
            </a:r>
            <a:r>
              <a:rPr sz="12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97A9C1"/>
                </a:solidFill>
                <a:latin typeface="Arial"/>
                <a:cs typeface="Arial"/>
              </a:rPr>
              <a:t>DATA</a:t>
            </a:r>
            <a:r>
              <a:rPr sz="1200" b="1" spc="-4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7A9C1"/>
                </a:solidFill>
                <a:latin typeface="Arial"/>
                <a:cs typeface="Arial"/>
              </a:rPr>
              <a:t>ENGINEERING</a:t>
            </a:r>
            <a:r>
              <a:rPr sz="12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7A9C1"/>
                </a:solidFill>
                <a:latin typeface="Arial"/>
                <a:cs typeface="Arial"/>
              </a:rPr>
              <a:t>FOR</a:t>
            </a:r>
            <a:r>
              <a:rPr sz="1200" b="1" spc="-5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97A9C1"/>
                </a:solidFill>
                <a:latin typeface="Arial"/>
                <a:cs typeface="Arial"/>
              </a:rPr>
              <a:t>AI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200">
              <a:latin typeface="Arial"/>
              <a:cs typeface="Arial"/>
            </a:endParaRPr>
          </a:p>
          <a:p>
            <a:pPr marL="24130" marR="1190625">
              <a:lnSpc>
                <a:spcPct val="100000"/>
              </a:lnSpc>
              <a:spcBef>
                <a:spcPts val="5"/>
              </a:spcBef>
            </a:pPr>
            <a:r>
              <a:rPr sz="1700" spc="-40" dirty="0">
                <a:solidFill>
                  <a:srgbClr val="D2DDEA"/>
                </a:solidFill>
                <a:latin typeface="Arial MT"/>
                <a:cs typeface="Arial MT"/>
              </a:rPr>
              <a:t>Team</a:t>
            </a:r>
            <a:r>
              <a:rPr sz="17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D2DDEA"/>
                </a:solidFill>
                <a:latin typeface="Arial MT"/>
                <a:cs typeface="Arial MT"/>
              </a:rPr>
              <a:t>Members: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2420030753</a:t>
            </a:r>
            <a:r>
              <a:rPr sz="15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-</a:t>
            </a:r>
            <a:r>
              <a:rPr sz="15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Sudhamsha</a:t>
            </a:r>
            <a:r>
              <a:rPr sz="1500" spc="-9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D2DDEA"/>
                </a:solidFill>
                <a:latin typeface="Arial MT"/>
                <a:cs typeface="Arial MT"/>
              </a:rPr>
              <a:t>A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2420090087</a:t>
            </a:r>
            <a:r>
              <a:rPr sz="15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-</a:t>
            </a:r>
            <a:r>
              <a:rPr sz="15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V</a:t>
            </a:r>
            <a:r>
              <a:rPr sz="1500" spc="-10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Akshaya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2420030619</a:t>
            </a:r>
            <a:r>
              <a:rPr sz="1500" spc="-5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-</a:t>
            </a:r>
            <a:r>
              <a:rPr sz="1500" spc="-7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Tanishka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4912" y="5745862"/>
            <a:ext cx="17621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Guide:</a:t>
            </a:r>
            <a:r>
              <a:rPr sz="15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Dr.N.Shirisha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Associate</a:t>
            </a:r>
            <a:r>
              <a:rPr sz="1500" spc="-8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Professor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54259" y="6018532"/>
            <a:ext cx="8655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AC4D2"/>
                </a:solidFill>
                <a:latin typeface="Arial"/>
                <a:cs typeface="Arial"/>
              </a:rPr>
              <a:t>REVIEW</a:t>
            </a:r>
            <a:r>
              <a:rPr sz="1000" b="1" spc="-15" dirty="0">
                <a:solidFill>
                  <a:srgbClr val="2AC4D2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C4D2"/>
                </a:solidFill>
                <a:latin typeface="Arial"/>
                <a:cs typeface="Arial"/>
              </a:rPr>
              <a:t>1</a:t>
            </a:r>
            <a:r>
              <a:rPr sz="1000" b="1" spc="-10" dirty="0">
                <a:solidFill>
                  <a:srgbClr val="2AC4D2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C4D2"/>
                </a:solidFill>
                <a:latin typeface="Arial"/>
                <a:cs typeface="Arial"/>
              </a:rPr>
              <a:t>&amp;</a:t>
            </a:r>
            <a:r>
              <a:rPr sz="1000" b="1" spc="-10" dirty="0">
                <a:solidFill>
                  <a:srgbClr val="2AC4D2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2AC4D2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833884"/>
            <a:ext cx="32232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From fragmented</a:t>
            </a:r>
            <a:r>
              <a:rPr sz="10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job</a:t>
            </a:r>
            <a:r>
              <a:rPr sz="10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data</a:t>
            </a:r>
            <a:r>
              <a:rPr sz="10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to</a:t>
            </a:r>
            <a:r>
              <a:rPr sz="1000" spc="-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AI-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powered</a:t>
            </a:r>
            <a:r>
              <a:rPr sz="10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skill</a:t>
            </a:r>
            <a:r>
              <a:rPr sz="10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intelligence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2937" y="1260297"/>
            <a:ext cx="10921365" cy="4612005"/>
            <a:chOff x="642937" y="1260297"/>
            <a:chExt cx="10921365" cy="46120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5707" y="1453771"/>
            <a:ext cx="10153143" cy="4116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 err="1">
                <a:solidFill>
                  <a:schemeClr val="bg1"/>
                </a:solidFill>
              </a:rPr>
              <a:t>SkillSync</a:t>
            </a:r>
            <a:r>
              <a:rPr lang="en-IN" dirty="0">
                <a:solidFill>
                  <a:schemeClr val="bg1"/>
                </a:solidFill>
              </a:rPr>
              <a:t> AI is an intelligent data engineering platform designed to transform continuously evolving job-market data into actionable skill intelligence. The platform integrates heterogeneous job data from multiple sources using batch and real-time streaming ingestion, followed by automated data-quality validation, deduplication, standardization, and scalable processing using </a:t>
            </a:r>
            <a:r>
              <a:rPr lang="en-IN" dirty="0" err="1">
                <a:solidFill>
                  <a:schemeClr val="bg1"/>
                </a:solidFill>
              </a:rPr>
              <a:t>PySpark</a:t>
            </a:r>
            <a:r>
              <a:rPr lang="en-IN" dirty="0">
                <a:solidFill>
                  <a:schemeClr val="bg1"/>
                </a:solidFill>
              </a:rPr>
              <a:t>. Natural Language Processing (NLP) techniques are applied to unstructured job descriptions to extract, normalize, and categorize relevant skills. The processed data enables job-market analytics, emerging-skill detection, role-based skill-gap analysis, and machine-learning-based demand forecasting. By combining Data Engineering, NLP, Machine Learning, and analytics, </a:t>
            </a:r>
            <a:r>
              <a:rPr lang="en-IN" dirty="0" err="1">
                <a:solidFill>
                  <a:schemeClr val="bg1"/>
                </a:solidFill>
              </a:rPr>
              <a:t>SkillSync</a:t>
            </a:r>
            <a:r>
              <a:rPr lang="en-IN" dirty="0">
                <a:solidFill>
                  <a:schemeClr val="bg1"/>
                </a:solidFill>
              </a:rPr>
              <a:t> AI provides a scalable end-to-end solution for converting raw job-market data into reliable insights and decision-ready intelligence.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833884"/>
            <a:ext cx="29343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The</a:t>
            </a:r>
            <a:r>
              <a:rPr sz="1000" spc="1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need</a:t>
            </a:r>
            <a:r>
              <a:rPr sz="1000" spc="1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for</a:t>
            </a:r>
            <a:r>
              <a:rPr sz="1000" spc="1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intelligent</a:t>
            </a:r>
            <a:r>
              <a:rPr sz="10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job-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market</a:t>
            </a:r>
            <a:r>
              <a:rPr sz="1000" spc="1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data</a:t>
            </a:r>
            <a:r>
              <a:rPr sz="1000" spc="1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engineering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2937" y="1260297"/>
            <a:ext cx="5297805" cy="4520565"/>
            <a:chOff x="642937" y="1260297"/>
            <a:chExt cx="5297805" cy="45205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5297805" cy="452056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1280159"/>
              <a:ext cx="5212080" cy="4434840"/>
            </a:xfrm>
            <a:custGeom>
              <a:avLst/>
              <a:gdLst/>
              <a:ahLst/>
              <a:cxnLst/>
              <a:rect l="l" t="t" r="r" b="b"/>
              <a:pathLst>
                <a:path w="5212080" h="4434840">
                  <a:moveTo>
                    <a:pt x="4472924" y="0"/>
                  </a:moveTo>
                  <a:lnTo>
                    <a:pt x="739155" y="0"/>
                  </a:lnTo>
                  <a:lnTo>
                    <a:pt x="690555" y="1572"/>
                  </a:lnTo>
                  <a:lnTo>
                    <a:pt x="642795" y="6224"/>
                  </a:lnTo>
                  <a:lnTo>
                    <a:pt x="595971" y="13857"/>
                  </a:lnTo>
                  <a:lnTo>
                    <a:pt x="550182" y="24376"/>
                  </a:lnTo>
                  <a:lnTo>
                    <a:pt x="505524" y="37682"/>
                  </a:lnTo>
                  <a:lnTo>
                    <a:pt x="462096" y="53678"/>
                  </a:lnTo>
                  <a:lnTo>
                    <a:pt x="419994" y="72267"/>
                  </a:lnTo>
                  <a:lnTo>
                    <a:pt x="379315" y="93350"/>
                  </a:lnTo>
                  <a:lnTo>
                    <a:pt x="340158" y="116832"/>
                  </a:lnTo>
                  <a:lnTo>
                    <a:pt x="302619" y="142614"/>
                  </a:lnTo>
                  <a:lnTo>
                    <a:pt x="266796" y="170599"/>
                  </a:lnTo>
                  <a:lnTo>
                    <a:pt x="232787" y="200689"/>
                  </a:lnTo>
                  <a:lnTo>
                    <a:pt x="200689" y="232787"/>
                  </a:lnTo>
                  <a:lnTo>
                    <a:pt x="170598" y="266797"/>
                  </a:lnTo>
                  <a:lnTo>
                    <a:pt x="142614" y="302619"/>
                  </a:lnTo>
                  <a:lnTo>
                    <a:pt x="116832" y="340158"/>
                  </a:lnTo>
                  <a:lnTo>
                    <a:pt x="93350" y="379315"/>
                  </a:lnTo>
                  <a:lnTo>
                    <a:pt x="72267" y="419994"/>
                  </a:lnTo>
                  <a:lnTo>
                    <a:pt x="53678" y="462096"/>
                  </a:lnTo>
                  <a:lnTo>
                    <a:pt x="37682" y="505525"/>
                  </a:lnTo>
                  <a:lnTo>
                    <a:pt x="24376" y="550182"/>
                  </a:lnTo>
                  <a:lnTo>
                    <a:pt x="13857" y="595972"/>
                  </a:lnTo>
                  <a:lnTo>
                    <a:pt x="6224" y="642795"/>
                  </a:lnTo>
                  <a:lnTo>
                    <a:pt x="1572" y="690555"/>
                  </a:lnTo>
                  <a:lnTo>
                    <a:pt x="0" y="739155"/>
                  </a:lnTo>
                  <a:lnTo>
                    <a:pt x="0" y="3695686"/>
                  </a:lnTo>
                  <a:lnTo>
                    <a:pt x="1572" y="3744285"/>
                  </a:lnTo>
                  <a:lnTo>
                    <a:pt x="6224" y="3792045"/>
                  </a:lnTo>
                  <a:lnTo>
                    <a:pt x="13857" y="3838869"/>
                  </a:lnTo>
                  <a:lnTo>
                    <a:pt x="24376" y="3884658"/>
                  </a:lnTo>
                  <a:lnTo>
                    <a:pt x="37682" y="3929315"/>
                  </a:lnTo>
                  <a:lnTo>
                    <a:pt x="53678" y="3972744"/>
                  </a:lnTo>
                  <a:lnTo>
                    <a:pt x="72267" y="4014846"/>
                  </a:lnTo>
                  <a:lnTo>
                    <a:pt x="93350" y="4055525"/>
                  </a:lnTo>
                  <a:lnTo>
                    <a:pt x="116832" y="4094682"/>
                  </a:lnTo>
                  <a:lnTo>
                    <a:pt x="142614" y="4132220"/>
                  </a:lnTo>
                  <a:lnTo>
                    <a:pt x="170598" y="4168043"/>
                  </a:lnTo>
                  <a:lnTo>
                    <a:pt x="200689" y="4202052"/>
                  </a:lnTo>
                  <a:lnTo>
                    <a:pt x="232787" y="4234151"/>
                  </a:lnTo>
                  <a:lnTo>
                    <a:pt x="266796" y="4264241"/>
                  </a:lnTo>
                  <a:lnTo>
                    <a:pt x="302619" y="4292226"/>
                  </a:lnTo>
                  <a:lnTo>
                    <a:pt x="340158" y="4318008"/>
                  </a:lnTo>
                  <a:lnTo>
                    <a:pt x="379315" y="4341489"/>
                  </a:lnTo>
                  <a:lnTo>
                    <a:pt x="419994" y="4362573"/>
                  </a:lnTo>
                  <a:lnTo>
                    <a:pt x="462096" y="4381161"/>
                  </a:lnTo>
                  <a:lnTo>
                    <a:pt x="505524" y="4397157"/>
                  </a:lnTo>
                  <a:lnTo>
                    <a:pt x="550182" y="4410463"/>
                  </a:lnTo>
                  <a:lnTo>
                    <a:pt x="595971" y="4420982"/>
                  </a:lnTo>
                  <a:lnTo>
                    <a:pt x="642795" y="4428616"/>
                  </a:lnTo>
                  <a:lnTo>
                    <a:pt x="690555" y="4433268"/>
                  </a:lnTo>
                  <a:lnTo>
                    <a:pt x="739155" y="4434840"/>
                  </a:lnTo>
                  <a:lnTo>
                    <a:pt x="4472924" y="4434840"/>
                  </a:lnTo>
                  <a:lnTo>
                    <a:pt x="4521524" y="4433268"/>
                  </a:lnTo>
                  <a:lnTo>
                    <a:pt x="4569284" y="4428616"/>
                  </a:lnTo>
                  <a:lnTo>
                    <a:pt x="4616107" y="4420982"/>
                  </a:lnTo>
                  <a:lnTo>
                    <a:pt x="4661897" y="4410463"/>
                  </a:lnTo>
                  <a:lnTo>
                    <a:pt x="4706554" y="4397157"/>
                  </a:lnTo>
                  <a:lnTo>
                    <a:pt x="4749983" y="4381161"/>
                  </a:lnTo>
                  <a:lnTo>
                    <a:pt x="4792085" y="4362573"/>
                  </a:lnTo>
                  <a:lnTo>
                    <a:pt x="4832764" y="4341489"/>
                  </a:lnTo>
                  <a:lnTo>
                    <a:pt x="4871921" y="4318008"/>
                  </a:lnTo>
                  <a:lnTo>
                    <a:pt x="4909460" y="4292226"/>
                  </a:lnTo>
                  <a:lnTo>
                    <a:pt x="4945282" y="4264241"/>
                  </a:lnTo>
                  <a:lnTo>
                    <a:pt x="4979292" y="4234151"/>
                  </a:lnTo>
                  <a:lnTo>
                    <a:pt x="5011390" y="4202052"/>
                  </a:lnTo>
                  <a:lnTo>
                    <a:pt x="5041480" y="4168043"/>
                  </a:lnTo>
                  <a:lnTo>
                    <a:pt x="5069465" y="4132220"/>
                  </a:lnTo>
                  <a:lnTo>
                    <a:pt x="5095247" y="4094682"/>
                  </a:lnTo>
                  <a:lnTo>
                    <a:pt x="5118729" y="4055525"/>
                  </a:lnTo>
                  <a:lnTo>
                    <a:pt x="5139812" y="4014846"/>
                  </a:lnTo>
                  <a:lnTo>
                    <a:pt x="5158401" y="3972744"/>
                  </a:lnTo>
                  <a:lnTo>
                    <a:pt x="5174397" y="3929315"/>
                  </a:lnTo>
                  <a:lnTo>
                    <a:pt x="5187703" y="3884658"/>
                  </a:lnTo>
                  <a:lnTo>
                    <a:pt x="5198222" y="3838869"/>
                  </a:lnTo>
                  <a:lnTo>
                    <a:pt x="5205855" y="3792045"/>
                  </a:lnTo>
                  <a:lnTo>
                    <a:pt x="5210507" y="3744285"/>
                  </a:lnTo>
                  <a:lnTo>
                    <a:pt x="5212080" y="3695686"/>
                  </a:lnTo>
                  <a:lnTo>
                    <a:pt x="5212080" y="739155"/>
                  </a:lnTo>
                  <a:lnTo>
                    <a:pt x="5210507" y="690555"/>
                  </a:lnTo>
                  <a:lnTo>
                    <a:pt x="5205855" y="642795"/>
                  </a:lnTo>
                  <a:lnTo>
                    <a:pt x="5198222" y="595972"/>
                  </a:lnTo>
                  <a:lnTo>
                    <a:pt x="5187703" y="550182"/>
                  </a:lnTo>
                  <a:lnTo>
                    <a:pt x="5174397" y="505525"/>
                  </a:lnTo>
                  <a:lnTo>
                    <a:pt x="5158401" y="462096"/>
                  </a:lnTo>
                  <a:lnTo>
                    <a:pt x="5139812" y="419994"/>
                  </a:lnTo>
                  <a:lnTo>
                    <a:pt x="5118729" y="379315"/>
                  </a:lnTo>
                  <a:lnTo>
                    <a:pt x="5095247" y="340158"/>
                  </a:lnTo>
                  <a:lnTo>
                    <a:pt x="5069465" y="302619"/>
                  </a:lnTo>
                  <a:lnTo>
                    <a:pt x="5041480" y="266797"/>
                  </a:lnTo>
                  <a:lnTo>
                    <a:pt x="5011390" y="232787"/>
                  </a:lnTo>
                  <a:lnTo>
                    <a:pt x="4979292" y="200689"/>
                  </a:lnTo>
                  <a:lnTo>
                    <a:pt x="4945282" y="170599"/>
                  </a:lnTo>
                  <a:lnTo>
                    <a:pt x="4909460" y="142614"/>
                  </a:lnTo>
                  <a:lnTo>
                    <a:pt x="4871921" y="116832"/>
                  </a:lnTo>
                  <a:lnTo>
                    <a:pt x="4832764" y="93350"/>
                  </a:lnTo>
                  <a:lnTo>
                    <a:pt x="4792085" y="72267"/>
                  </a:lnTo>
                  <a:lnTo>
                    <a:pt x="4749983" y="53678"/>
                  </a:lnTo>
                  <a:lnTo>
                    <a:pt x="4706554" y="37682"/>
                  </a:lnTo>
                  <a:lnTo>
                    <a:pt x="4661897" y="24376"/>
                  </a:lnTo>
                  <a:lnTo>
                    <a:pt x="4616107" y="13857"/>
                  </a:lnTo>
                  <a:lnTo>
                    <a:pt x="4569284" y="6224"/>
                  </a:lnTo>
                  <a:lnTo>
                    <a:pt x="4521524" y="1572"/>
                  </a:lnTo>
                  <a:lnTo>
                    <a:pt x="447292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1280159"/>
              <a:ext cx="5212080" cy="4434840"/>
            </a:xfrm>
            <a:custGeom>
              <a:avLst/>
              <a:gdLst/>
              <a:ahLst/>
              <a:cxnLst/>
              <a:rect l="l" t="t" r="r" b="b"/>
              <a:pathLst>
                <a:path w="5212080" h="4434840">
                  <a:moveTo>
                    <a:pt x="739154" y="0"/>
                  </a:moveTo>
                  <a:lnTo>
                    <a:pt x="4472924" y="0"/>
                  </a:lnTo>
                  <a:lnTo>
                    <a:pt x="4521524" y="1572"/>
                  </a:lnTo>
                  <a:lnTo>
                    <a:pt x="4569284" y="6224"/>
                  </a:lnTo>
                  <a:lnTo>
                    <a:pt x="4616107" y="13857"/>
                  </a:lnTo>
                  <a:lnTo>
                    <a:pt x="4661897" y="24376"/>
                  </a:lnTo>
                  <a:lnTo>
                    <a:pt x="4706554" y="37682"/>
                  </a:lnTo>
                  <a:lnTo>
                    <a:pt x="4749983" y="53678"/>
                  </a:lnTo>
                  <a:lnTo>
                    <a:pt x="4792085" y="72267"/>
                  </a:lnTo>
                  <a:lnTo>
                    <a:pt x="4832764" y="93350"/>
                  </a:lnTo>
                  <a:lnTo>
                    <a:pt x="4871921" y="116832"/>
                  </a:lnTo>
                  <a:lnTo>
                    <a:pt x="4909460" y="142613"/>
                  </a:lnTo>
                  <a:lnTo>
                    <a:pt x="4945282" y="170598"/>
                  </a:lnTo>
                  <a:lnTo>
                    <a:pt x="4979292" y="200689"/>
                  </a:lnTo>
                  <a:lnTo>
                    <a:pt x="5011390" y="232787"/>
                  </a:lnTo>
                  <a:lnTo>
                    <a:pt x="5041480" y="266796"/>
                  </a:lnTo>
                  <a:lnTo>
                    <a:pt x="5069465" y="302619"/>
                  </a:lnTo>
                  <a:lnTo>
                    <a:pt x="5095247" y="340158"/>
                  </a:lnTo>
                  <a:lnTo>
                    <a:pt x="5118729" y="379315"/>
                  </a:lnTo>
                  <a:lnTo>
                    <a:pt x="5139812" y="419993"/>
                  </a:lnTo>
                  <a:lnTo>
                    <a:pt x="5158401" y="462096"/>
                  </a:lnTo>
                  <a:lnTo>
                    <a:pt x="5174397" y="505524"/>
                  </a:lnTo>
                  <a:lnTo>
                    <a:pt x="5187703" y="550182"/>
                  </a:lnTo>
                  <a:lnTo>
                    <a:pt x="5198222" y="595971"/>
                  </a:lnTo>
                  <a:lnTo>
                    <a:pt x="5205855" y="642794"/>
                  </a:lnTo>
                  <a:lnTo>
                    <a:pt x="5210507" y="690555"/>
                  </a:lnTo>
                  <a:lnTo>
                    <a:pt x="5212080" y="739154"/>
                  </a:lnTo>
                  <a:lnTo>
                    <a:pt x="5212080" y="3695684"/>
                  </a:lnTo>
                  <a:lnTo>
                    <a:pt x="5210507" y="3744284"/>
                  </a:lnTo>
                  <a:lnTo>
                    <a:pt x="5205855" y="3792044"/>
                  </a:lnTo>
                  <a:lnTo>
                    <a:pt x="5198222" y="3838868"/>
                  </a:lnTo>
                  <a:lnTo>
                    <a:pt x="5187703" y="3884657"/>
                  </a:lnTo>
                  <a:lnTo>
                    <a:pt x="5174397" y="3929315"/>
                  </a:lnTo>
                  <a:lnTo>
                    <a:pt x="5158401" y="3972743"/>
                  </a:lnTo>
                  <a:lnTo>
                    <a:pt x="5139812" y="4014846"/>
                  </a:lnTo>
                  <a:lnTo>
                    <a:pt x="5118729" y="4055524"/>
                  </a:lnTo>
                  <a:lnTo>
                    <a:pt x="5095247" y="4094681"/>
                  </a:lnTo>
                  <a:lnTo>
                    <a:pt x="5069465" y="4132220"/>
                  </a:lnTo>
                  <a:lnTo>
                    <a:pt x="5041480" y="4168043"/>
                  </a:lnTo>
                  <a:lnTo>
                    <a:pt x="5011390" y="4202052"/>
                  </a:lnTo>
                  <a:lnTo>
                    <a:pt x="4979292" y="4234151"/>
                  </a:lnTo>
                  <a:lnTo>
                    <a:pt x="4945282" y="4264241"/>
                  </a:lnTo>
                  <a:lnTo>
                    <a:pt x="4909460" y="4292226"/>
                  </a:lnTo>
                  <a:lnTo>
                    <a:pt x="4871921" y="4318007"/>
                  </a:lnTo>
                  <a:lnTo>
                    <a:pt x="4832764" y="4341489"/>
                  </a:lnTo>
                  <a:lnTo>
                    <a:pt x="4792085" y="4362573"/>
                  </a:lnTo>
                  <a:lnTo>
                    <a:pt x="4749983" y="4381161"/>
                  </a:lnTo>
                  <a:lnTo>
                    <a:pt x="4706554" y="4397157"/>
                  </a:lnTo>
                  <a:lnTo>
                    <a:pt x="4661897" y="4410463"/>
                  </a:lnTo>
                  <a:lnTo>
                    <a:pt x="4616107" y="4420982"/>
                  </a:lnTo>
                  <a:lnTo>
                    <a:pt x="4569284" y="4428616"/>
                  </a:lnTo>
                  <a:lnTo>
                    <a:pt x="4521524" y="4433267"/>
                  </a:lnTo>
                  <a:lnTo>
                    <a:pt x="4472924" y="4434840"/>
                  </a:lnTo>
                  <a:lnTo>
                    <a:pt x="739154" y="4434840"/>
                  </a:lnTo>
                  <a:lnTo>
                    <a:pt x="690555" y="4433267"/>
                  </a:lnTo>
                  <a:lnTo>
                    <a:pt x="642794" y="4428616"/>
                  </a:lnTo>
                  <a:lnTo>
                    <a:pt x="595971" y="4420982"/>
                  </a:lnTo>
                  <a:lnTo>
                    <a:pt x="550182" y="4410463"/>
                  </a:lnTo>
                  <a:lnTo>
                    <a:pt x="505524" y="4397157"/>
                  </a:lnTo>
                  <a:lnTo>
                    <a:pt x="462096" y="4381161"/>
                  </a:lnTo>
                  <a:lnTo>
                    <a:pt x="419993" y="4362573"/>
                  </a:lnTo>
                  <a:lnTo>
                    <a:pt x="379315" y="4341489"/>
                  </a:lnTo>
                  <a:lnTo>
                    <a:pt x="340158" y="4318007"/>
                  </a:lnTo>
                  <a:lnTo>
                    <a:pt x="302619" y="4292226"/>
                  </a:lnTo>
                  <a:lnTo>
                    <a:pt x="266796" y="4264241"/>
                  </a:lnTo>
                  <a:lnTo>
                    <a:pt x="232787" y="4234151"/>
                  </a:lnTo>
                  <a:lnTo>
                    <a:pt x="200689" y="4202052"/>
                  </a:lnTo>
                  <a:lnTo>
                    <a:pt x="170598" y="4168043"/>
                  </a:lnTo>
                  <a:lnTo>
                    <a:pt x="142613" y="4132220"/>
                  </a:lnTo>
                  <a:lnTo>
                    <a:pt x="116832" y="4094681"/>
                  </a:lnTo>
                  <a:lnTo>
                    <a:pt x="93350" y="4055524"/>
                  </a:lnTo>
                  <a:lnTo>
                    <a:pt x="72267" y="4014846"/>
                  </a:lnTo>
                  <a:lnTo>
                    <a:pt x="53678" y="3972743"/>
                  </a:lnTo>
                  <a:lnTo>
                    <a:pt x="37682" y="3929315"/>
                  </a:lnTo>
                  <a:lnTo>
                    <a:pt x="24376" y="3884657"/>
                  </a:lnTo>
                  <a:lnTo>
                    <a:pt x="13857" y="3838868"/>
                  </a:lnTo>
                  <a:lnTo>
                    <a:pt x="6224" y="3792044"/>
                  </a:lnTo>
                  <a:lnTo>
                    <a:pt x="1572" y="3744284"/>
                  </a:lnTo>
                  <a:lnTo>
                    <a:pt x="0" y="3695684"/>
                  </a:lnTo>
                  <a:lnTo>
                    <a:pt x="0" y="739154"/>
                  </a:lnTo>
                  <a:lnTo>
                    <a:pt x="1572" y="690555"/>
                  </a:lnTo>
                  <a:lnTo>
                    <a:pt x="6224" y="642794"/>
                  </a:lnTo>
                  <a:lnTo>
                    <a:pt x="13857" y="595971"/>
                  </a:lnTo>
                  <a:lnTo>
                    <a:pt x="24376" y="550182"/>
                  </a:lnTo>
                  <a:lnTo>
                    <a:pt x="37682" y="505524"/>
                  </a:lnTo>
                  <a:lnTo>
                    <a:pt x="53678" y="462096"/>
                  </a:lnTo>
                  <a:lnTo>
                    <a:pt x="72267" y="419993"/>
                  </a:lnTo>
                  <a:lnTo>
                    <a:pt x="93350" y="379315"/>
                  </a:lnTo>
                  <a:lnTo>
                    <a:pt x="116832" y="340158"/>
                  </a:lnTo>
                  <a:lnTo>
                    <a:pt x="142613" y="302619"/>
                  </a:lnTo>
                  <a:lnTo>
                    <a:pt x="170598" y="266796"/>
                  </a:lnTo>
                  <a:lnTo>
                    <a:pt x="200689" y="232787"/>
                  </a:lnTo>
                  <a:lnTo>
                    <a:pt x="232787" y="200689"/>
                  </a:lnTo>
                  <a:lnTo>
                    <a:pt x="266796" y="170598"/>
                  </a:lnTo>
                  <a:lnTo>
                    <a:pt x="302619" y="142613"/>
                  </a:lnTo>
                  <a:lnTo>
                    <a:pt x="340158" y="116832"/>
                  </a:lnTo>
                  <a:lnTo>
                    <a:pt x="379315" y="93350"/>
                  </a:lnTo>
                  <a:lnTo>
                    <a:pt x="419993" y="72267"/>
                  </a:lnTo>
                  <a:lnTo>
                    <a:pt x="462096" y="53678"/>
                  </a:lnTo>
                  <a:lnTo>
                    <a:pt x="505524" y="37682"/>
                  </a:lnTo>
                  <a:lnTo>
                    <a:pt x="550182" y="24376"/>
                  </a:lnTo>
                  <a:lnTo>
                    <a:pt x="595971" y="13857"/>
                  </a:lnTo>
                  <a:lnTo>
                    <a:pt x="642794" y="6224"/>
                  </a:lnTo>
                  <a:lnTo>
                    <a:pt x="690555" y="1572"/>
                  </a:lnTo>
                  <a:lnTo>
                    <a:pt x="73915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60"/>
              <a:ext cx="140208" cy="45110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800" y="1280160"/>
              <a:ext cx="64135" cy="4434840"/>
            </a:xfrm>
            <a:custGeom>
              <a:avLst/>
              <a:gdLst/>
              <a:ahLst/>
              <a:cxnLst/>
              <a:rect l="l" t="t" r="r" b="b"/>
              <a:pathLst>
                <a:path w="64134" h="4434840">
                  <a:moveTo>
                    <a:pt x="64007" y="0"/>
                  </a:moveTo>
                  <a:lnTo>
                    <a:pt x="0" y="0"/>
                  </a:lnTo>
                  <a:lnTo>
                    <a:pt x="0" y="4434839"/>
                  </a:lnTo>
                  <a:lnTo>
                    <a:pt x="64007" y="4434839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E74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70925" y="3361286"/>
            <a:ext cx="5842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solidFill>
                  <a:srgbClr val="D2DDEA"/>
                </a:solidFill>
                <a:latin typeface="Arial MT"/>
                <a:cs typeface="Arial MT"/>
              </a:rPr>
              <a:t>inside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5707" y="1456692"/>
            <a:ext cx="4688840" cy="3256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5F8FC"/>
                </a:solidFill>
                <a:latin typeface="Arial"/>
                <a:cs typeface="Arial"/>
              </a:rPr>
              <a:t>CURRENT</a:t>
            </a:r>
            <a:r>
              <a:rPr sz="1400" b="1" spc="-7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5F8FC"/>
                </a:solidFill>
                <a:latin typeface="Arial"/>
                <a:cs typeface="Arial"/>
              </a:rPr>
              <a:t>CHALLENGE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400" dirty="0">
              <a:latin typeface="Arial"/>
              <a:cs typeface="Arial"/>
            </a:endParaRPr>
          </a:p>
          <a:p>
            <a:pPr marL="12700" marR="5080" indent="174625">
              <a:lnSpc>
                <a:spcPct val="120000"/>
              </a:lnSpc>
              <a:buChar char="•"/>
              <a:tabLst>
                <a:tab pos="187325" algn="l"/>
              </a:tabLst>
            </a:pP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Job-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market</a:t>
            </a:r>
            <a:r>
              <a:rPr sz="1500" spc="38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data</a:t>
            </a:r>
            <a:r>
              <a:rPr sz="1500" spc="39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is</a:t>
            </a:r>
            <a:r>
              <a:rPr sz="1500" spc="39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continuously</a:t>
            </a:r>
            <a:r>
              <a:rPr sz="1500" spc="39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generated</a:t>
            </a:r>
            <a:r>
              <a:rPr sz="1500" spc="39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across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multiple</a:t>
            </a:r>
            <a:r>
              <a:rPr sz="1500" spc="-6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sources.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Clr>
                <a:srgbClr val="D2DDEA"/>
              </a:buClr>
              <a:buFont typeface="Arial MT"/>
              <a:buChar char="•"/>
            </a:pPr>
            <a:endParaRPr sz="1500" dirty="0">
              <a:latin typeface="Arial MT"/>
              <a:cs typeface="Arial MT"/>
            </a:endParaRPr>
          </a:p>
          <a:p>
            <a:pPr marL="131445" indent="-118745">
              <a:lnSpc>
                <a:spcPct val="100000"/>
              </a:lnSpc>
              <a:buChar char="•"/>
              <a:tabLst>
                <a:tab pos="131445" algn="l"/>
              </a:tabLst>
            </a:pP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Data</a:t>
            </a:r>
            <a:r>
              <a:rPr sz="15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exists</a:t>
            </a:r>
            <a:r>
              <a:rPr sz="1500" spc="-3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in</a:t>
            </a:r>
            <a:r>
              <a:rPr sz="15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different</a:t>
            </a:r>
            <a:r>
              <a:rPr sz="15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formats</a:t>
            </a:r>
            <a:r>
              <a:rPr sz="1500" spc="-3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and</a:t>
            </a:r>
            <a:r>
              <a:rPr sz="15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schemas.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Clr>
                <a:srgbClr val="D2DDEA"/>
              </a:buClr>
              <a:buFont typeface="Arial MT"/>
              <a:buChar char="•"/>
            </a:pPr>
            <a:endParaRPr sz="1500" dirty="0">
              <a:latin typeface="Arial MT"/>
              <a:cs typeface="Arial MT"/>
            </a:endParaRPr>
          </a:p>
          <a:p>
            <a:pPr marL="12700" marR="716915" indent="220345">
              <a:lnSpc>
                <a:spcPct val="120000"/>
              </a:lnSpc>
              <a:buChar char="•"/>
              <a:tabLst>
                <a:tab pos="233045" algn="l"/>
                <a:tab pos="1289050" algn="l"/>
                <a:tab pos="1809114" algn="l"/>
                <a:tab pos="3027045" algn="l"/>
                <a:tab pos="3330575" algn="l"/>
              </a:tabLst>
            </a:pPr>
            <a:r>
              <a:rPr sz="1500" spc="70" dirty="0">
                <a:solidFill>
                  <a:srgbClr val="D2DDEA"/>
                </a:solidFill>
                <a:latin typeface="Arial MT"/>
                <a:cs typeface="Arial MT"/>
              </a:rPr>
              <a:t>Important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	</a:t>
            </a:r>
            <a:r>
              <a:rPr sz="1500" spc="60" dirty="0">
                <a:solidFill>
                  <a:srgbClr val="D2DDEA"/>
                </a:solidFill>
                <a:latin typeface="Arial MT"/>
                <a:cs typeface="Arial MT"/>
              </a:rPr>
              <a:t>skill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	</a:t>
            </a:r>
            <a:r>
              <a:rPr sz="1500" spc="70" dirty="0">
                <a:solidFill>
                  <a:srgbClr val="D2DDEA"/>
                </a:solidFill>
                <a:latin typeface="Arial MT"/>
                <a:cs typeface="Arial MT"/>
              </a:rPr>
              <a:t>information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	</a:t>
            </a:r>
            <a:r>
              <a:rPr sz="1500" spc="-25" dirty="0">
                <a:solidFill>
                  <a:srgbClr val="D2DDEA"/>
                </a:solidFill>
                <a:latin typeface="Arial MT"/>
                <a:cs typeface="Arial MT"/>
              </a:rPr>
              <a:t>is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	</a:t>
            </a:r>
            <a:r>
              <a:rPr sz="1500" spc="60" dirty="0">
                <a:solidFill>
                  <a:srgbClr val="D2DDEA"/>
                </a:solidFill>
                <a:latin typeface="Arial MT"/>
                <a:cs typeface="Arial MT"/>
              </a:rPr>
              <a:t>hidden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unstructured</a:t>
            </a:r>
            <a:r>
              <a:rPr sz="1500" spc="-5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job</a:t>
            </a:r>
            <a:r>
              <a:rPr sz="1500" spc="-4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descriptions.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Clr>
                <a:srgbClr val="D2DDEA"/>
              </a:buClr>
              <a:buFont typeface="Arial MT"/>
              <a:buChar char="•"/>
            </a:pPr>
            <a:endParaRPr sz="1500" dirty="0">
              <a:latin typeface="Arial MT"/>
              <a:cs typeface="Arial MT"/>
            </a:endParaRPr>
          </a:p>
          <a:p>
            <a:pPr marL="12700" marR="5080" indent="213995">
              <a:lnSpc>
                <a:spcPct val="120000"/>
              </a:lnSpc>
              <a:buChar char="•"/>
              <a:tabLst>
                <a:tab pos="226695" algn="l"/>
                <a:tab pos="1320800" algn="l"/>
                <a:tab pos="2202180" algn="l"/>
                <a:tab pos="3174365" algn="l"/>
                <a:tab pos="3490595" algn="l"/>
                <a:tab pos="4078604" algn="l"/>
              </a:tabLst>
            </a:pP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Traditional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	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analysis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	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struggles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	</a:t>
            </a:r>
            <a:r>
              <a:rPr sz="1500" spc="-25" dirty="0">
                <a:solidFill>
                  <a:srgbClr val="D2DDEA"/>
                </a:solidFill>
                <a:latin typeface="Arial MT"/>
                <a:cs typeface="Arial MT"/>
              </a:rPr>
              <a:t>to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	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track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	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rapidly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emerging</a:t>
            </a:r>
            <a:r>
              <a:rPr sz="15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skills</a:t>
            </a:r>
            <a:r>
              <a:rPr sz="15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and</a:t>
            </a:r>
            <a:r>
              <a:rPr sz="1500" spc="-5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changing</a:t>
            </a:r>
            <a:r>
              <a:rPr sz="15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demand.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83617" y="1260297"/>
            <a:ext cx="5480685" cy="4520565"/>
            <a:chOff x="6083617" y="1260297"/>
            <a:chExt cx="5480685" cy="452056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3617" y="1260297"/>
              <a:ext cx="5480685" cy="452056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26479" y="1280159"/>
              <a:ext cx="5394960" cy="4434840"/>
            </a:xfrm>
            <a:custGeom>
              <a:avLst/>
              <a:gdLst/>
              <a:ahLst/>
              <a:cxnLst/>
              <a:rect l="l" t="t" r="r" b="b"/>
              <a:pathLst>
                <a:path w="5394959" h="4434840">
                  <a:moveTo>
                    <a:pt x="4655804" y="0"/>
                  </a:moveTo>
                  <a:lnTo>
                    <a:pt x="739155" y="0"/>
                  </a:lnTo>
                  <a:lnTo>
                    <a:pt x="690555" y="1572"/>
                  </a:lnTo>
                  <a:lnTo>
                    <a:pt x="642795" y="6224"/>
                  </a:lnTo>
                  <a:lnTo>
                    <a:pt x="595971" y="13857"/>
                  </a:lnTo>
                  <a:lnTo>
                    <a:pt x="550182" y="24376"/>
                  </a:lnTo>
                  <a:lnTo>
                    <a:pt x="505524" y="37682"/>
                  </a:lnTo>
                  <a:lnTo>
                    <a:pt x="462096" y="53678"/>
                  </a:lnTo>
                  <a:lnTo>
                    <a:pt x="419993" y="72267"/>
                  </a:lnTo>
                  <a:lnTo>
                    <a:pt x="379315" y="93350"/>
                  </a:lnTo>
                  <a:lnTo>
                    <a:pt x="340158" y="116832"/>
                  </a:lnTo>
                  <a:lnTo>
                    <a:pt x="302619" y="142614"/>
                  </a:lnTo>
                  <a:lnTo>
                    <a:pt x="266796" y="170599"/>
                  </a:lnTo>
                  <a:lnTo>
                    <a:pt x="232787" y="200689"/>
                  </a:lnTo>
                  <a:lnTo>
                    <a:pt x="200688" y="232787"/>
                  </a:lnTo>
                  <a:lnTo>
                    <a:pt x="170598" y="266797"/>
                  </a:lnTo>
                  <a:lnTo>
                    <a:pt x="142613" y="302619"/>
                  </a:lnTo>
                  <a:lnTo>
                    <a:pt x="116832" y="340158"/>
                  </a:lnTo>
                  <a:lnTo>
                    <a:pt x="93350" y="379315"/>
                  </a:lnTo>
                  <a:lnTo>
                    <a:pt x="72266" y="419994"/>
                  </a:lnTo>
                  <a:lnTo>
                    <a:pt x="53678" y="462096"/>
                  </a:lnTo>
                  <a:lnTo>
                    <a:pt x="37682" y="505525"/>
                  </a:lnTo>
                  <a:lnTo>
                    <a:pt x="24376" y="550182"/>
                  </a:lnTo>
                  <a:lnTo>
                    <a:pt x="13857" y="595972"/>
                  </a:lnTo>
                  <a:lnTo>
                    <a:pt x="6223" y="642795"/>
                  </a:lnTo>
                  <a:lnTo>
                    <a:pt x="1572" y="690555"/>
                  </a:lnTo>
                  <a:lnTo>
                    <a:pt x="0" y="739155"/>
                  </a:lnTo>
                  <a:lnTo>
                    <a:pt x="0" y="3695686"/>
                  </a:lnTo>
                  <a:lnTo>
                    <a:pt x="1572" y="3744285"/>
                  </a:lnTo>
                  <a:lnTo>
                    <a:pt x="6223" y="3792045"/>
                  </a:lnTo>
                  <a:lnTo>
                    <a:pt x="13857" y="3838869"/>
                  </a:lnTo>
                  <a:lnTo>
                    <a:pt x="24376" y="3884658"/>
                  </a:lnTo>
                  <a:lnTo>
                    <a:pt x="37682" y="3929315"/>
                  </a:lnTo>
                  <a:lnTo>
                    <a:pt x="53678" y="3972744"/>
                  </a:lnTo>
                  <a:lnTo>
                    <a:pt x="72266" y="4014846"/>
                  </a:lnTo>
                  <a:lnTo>
                    <a:pt x="93350" y="4055525"/>
                  </a:lnTo>
                  <a:lnTo>
                    <a:pt x="116832" y="4094682"/>
                  </a:lnTo>
                  <a:lnTo>
                    <a:pt x="142613" y="4132220"/>
                  </a:lnTo>
                  <a:lnTo>
                    <a:pt x="170598" y="4168043"/>
                  </a:lnTo>
                  <a:lnTo>
                    <a:pt x="200688" y="4202052"/>
                  </a:lnTo>
                  <a:lnTo>
                    <a:pt x="232787" y="4234151"/>
                  </a:lnTo>
                  <a:lnTo>
                    <a:pt x="266796" y="4264241"/>
                  </a:lnTo>
                  <a:lnTo>
                    <a:pt x="302619" y="4292226"/>
                  </a:lnTo>
                  <a:lnTo>
                    <a:pt x="340158" y="4318008"/>
                  </a:lnTo>
                  <a:lnTo>
                    <a:pt x="379315" y="4341489"/>
                  </a:lnTo>
                  <a:lnTo>
                    <a:pt x="419993" y="4362573"/>
                  </a:lnTo>
                  <a:lnTo>
                    <a:pt x="462096" y="4381161"/>
                  </a:lnTo>
                  <a:lnTo>
                    <a:pt x="505524" y="4397157"/>
                  </a:lnTo>
                  <a:lnTo>
                    <a:pt x="550182" y="4410463"/>
                  </a:lnTo>
                  <a:lnTo>
                    <a:pt x="595971" y="4420982"/>
                  </a:lnTo>
                  <a:lnTo>
                    <a:pt x="642795" y="4428616"/>
                  </a:lnTo>
                  <a:lnTo>
                    <a:pt x="690555" y="4433268"/>
                  </a:lnTo>
                  <a:lnTo>
                    <a:pt x="739155" y="4434840"/>
                  </a:lnTo>
                  <a:lnTo>
                    <a:pt x="4655804" y="4434840"/>
                  </a:lnTo>
                  <a:lnTo>
                    <a:pt x="4704404" y="4433268"/>
                  </a:lnTo>
                  <a:lnTo>
                    <a:pt x="4752164" y="4428616"/>
                  </a:lnTo>
                  <a:lnTo>
                    <a:pt x="4798987" y="4420982"/>
                  </a:lnTo>
                  <a:lnTo>
                    <a:pt x="4844777" y="4410463"/>
                  </a:lnTo>
                  <a:lnTo>
                    <a:pt x="4889434" y="4397157"/>
                  </a:lnTo>
                  <a:lnTo>
                    <a:pt x="4932863" y="4381161"/>
                  </a:lnTo>
                  <a:lnTo>
                    <a:pt x="4974965" y="4362573"/>
                  </a:lnTo>
                  <a:lnTo>
                    <a:pt x="5015644" y="4341489"/>
                  </a:lnTo>
                  <a:lnTo>
                    <a:pt x="5054801" y="4318008"/>
                  </a:lnTo>
                  <a:lnTo>
                    <a:pt x="5092340" y="4292226"/>
                  </a:lnTo>
                  <a:lnTo>
                    <a:pt x="5128162" y="4264241"/>
                  </a:lnTo>
                  <a:lnTo>
                    <a:pt x="5162172" y="4234151"/>
                  </a:lnTo>
                  <a:lnTo>
                    <a:pt x="5194270" y="4202052"/>
                  </a:lnTo>
                  <a:lnTo>
                    <a:pt x="5224360" y="4168043"/>
                  </a:lnTo>
                  <a:lnTo>
                    <a:pt x="5252345" y="4132220"/>
                  </a:lnTo>
                  <a:lnTo>
                    <a:pt x="5278127" y="4094682"/>
                  </a:lnTo>
                  <a:lnTo>
                    <a:pt x="5301609" y="4055525"/>
                  </a:lnTo>
                  <a:lnTo>
                    <a:pt x="5322692" y="4014846"/>
                  </a:lnTo>
                  <a:lnTo>
                    <a:pt x="5341281" y="3972744"/>
                  </a:lnTo>
                  <a:lnTo>
                    <a:pt x="5357277" y="3929315"/>
                  </a:lnTo>
                  <a:lnTo>
                    <a:pt x="5370583" y="3884658"/>
                  </a:lnTo>
                  <a:lnTo>
                    <a:pt x="5381102" y="3838869"/>
                  </a:lnTo>
                  <a:lnTo>
                    <a:pt x="5388735" y="3792045"/>
                  </a:lnTo>
                  <a:lnTo>
                    <a:pt x="5393387" y="3744285"/>
                  </a:lnTo>
                  <a:lnTo>
                    <a:pt x="5394960" y="3695686"/>
                  </a:lnTo>
                  <a:lnTo>
                    <a:pt x="5394960" y="739155"/>
                  </a:lnTo>
                  <a:lnTo>
                    <a:pt x="5393387" y="690555"/>
                  </a:lnTo>
                  <a:lnTo>
                    <a:pt x="5388735" y="642795"/>
                  </a:lnTo>
                  <a:lnTo>
                    <a:pt x="5381102" y="595972"/>
                  </a:lnTo>
                  <a:lnTo>
                    <a:pt x="5370583" y="550182"/>
                  </a:lnTo>
                  <a:lnTo>
                    <a:pt x="5357277" y="505525"/>
                  </a:lnTo>
                  <a:lnTo>
                    <a:pt x="5341281" y="462096"/>
                  </a:lnTo>
                  <a:lnTo>
                    <a:pt x="5322692" y="419994"/>
                  </a:lnTo>
                  <a:lnTo>
                    <a:pt x="5301609" y="379315"/>
                  </a:lnTo>
                  <a:lnTo>
                    <a:pt x="5278127" y="340158"/>
                  </a:lnTo>
                  <a:lnTo>
                    <a:pt x="5252345" y="302619"/>
                  </a:lnTo>
                  <a:lnTo>
                    <a:pt x="5224360" y="266797"/>
                  </a:lnTo>
                  <a:lnTo>
                    <a:pt x="5194270" y="232787"/>
                  </a:lnTo>
                  <a:lnTo>
                    <a:pt x="5162172" y="200689"/>
                  </a:lnTo>
                  <a:lnTo>
                    <a:pt x="5128162" y="170599"/>
                  </a:lnTo>
                  <a:lnTo>
                    <a:pt x="5092340" y="142614"/>
                  </a:lnTo>
                  <a:lnTo>
                    <a:pt x="5054801" y="116832"/>
                  </a:lnTo>
                  <a:lnTo>
                    <a:pt x="5015644" y="93350"/>
                  </a:lnTo>
                  <a:lnTo>
                    <a:pt x="4974965" y="72267"/>
                  </a:lnTo>
                  <a:lnTo>
                    <a:pt x="4932863" y="53678"/>
                  </a:lnTo>
                  <a:lnTo>
                    <a:pt x="4889434" y="37682"/>
                  </a:lnTo>
                  <a:lnTo>
                    <a:pt x="4844777" y="24376"/>
                  </a:lnTo>
                  <a:lnTo>
                    <a:pt x="4798987" y="13857"/>
                  </a:lnTo>
                  <a:lnTo>
                    <a:pt x="4752164" y="6224"/>
                  </a:lnTo>
                  <a:lnTo>
                    <a:pt x="4704404" y="1572"/>
                  </a:lnTo>
                  <a:lnTo>
                    <a:pt x="465580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26479" y="1280159"/>
              <a:ext cx="5394960" cy="4434840"/>
            </a:xfrm>
            <a:custGeom>
              <a:avLst/>
              <a:gdLst/>
              <a:ahLst/>
              <a:cxnLst/>
              <a:rect l="l" t="t" r="r" b="b"/>
              <a:pathLst>
                <a:path w="5394959" h="4434840">
                  <a:moveTo>
                    <a:pt x="739154" y="0"/>
                  </a:moveTo>
                  <a:lnTo>
                    <a:pt x="4655804" y="0"/>
                  </a:lnTo>
                  <a:lnTo>
                    <a:pt x="4704404" y="1572"/>
                  </a:lnTo>
                  <a:lnTo>
                    <a:pt x="4752164" y="6224"/>
                  </a:lnTo>
                  <a:lnTo>
                    <a:pt x="4798987" y="13857"/>
                  </a:lnTo>
                  <a:lnTo>
                    <a:pt x="4844777" y="24376"/>
                  </a:lnTo>
                  <a:lnTo>
                    <a:pt x="4889434" y="37682"/>
                  </a:lnTo>
                  <a:lnTo>
                    <a:pt x="4932863" y="53678"/>
                  </a:lnTo>
                  <a:lnTo>
                    <a:pt x="4974965" y="72267"/>
                  </a:lnTo>
                  <a:lnTo>
                    <a:pt x="5015644" y="93350"/>
                  </a:lnTo>
                  <a:lnTo>
                    <a:pt x="5054801" y="116832"/>
                  </a:lnTo>
                  <a:lnTo>
                    <a:pt x="5092340" y="142613"/>
                  </a:lnTo>
                  <a:lnTo>
                    <a:pt x="5128162" y="170598"/>
                  </a:lnTo>
                  <a:lnTo>
                    <a:pt x="5162172" y="200689"/>
                  </a:lnTo>
                  <a:lnTo>
                    <a:pt x="5194270" y="232787"/>
                  </a:lnTo>
                  <a:lnTo>
                    <a:pt x="5224360" y="266796"/>
                  </a:lnTo>
                  <a:lnTo>
                    <a:pt x="5252345" y="302619"/>
                  </a:lnTo>
                  <a:lnTo>
                    <a:pt x="5278127" y="340158"/>
                  </a:lnTo>
                  <a:lnTo>
                    <a:pt x="5301609" y="379315"/>
                  </a:lnTo>
                  <a:lnTo>
                    <a:pt x="5322692" y="419993"/>
                  </a:lnTo>
                  <a:lnTo>
                    <a:pt x="5341281" y="462096"/>
                  </a:lnTo>
                  <a:lnTo>
                    <a:pt x="5357277" y="505524"/>
                  </a:lnTo>
                  <a:lnTo>
                    <a:pt x="5370583" y="550182"/>
                  </a:lnTo>
                  <a:lnTo>
                    <a:pt x="5381102" y="595971"/>
                  </a:lnTo>
                  <a:lnTo>
                    <a:pt x="5388735" y="642794"/>
                  </a:lnTo>
                  <a:lnTo>
                    <a:pt x="5393387" y="690555"/>
                  </a:lnTo>
                  <a:lnTo>
                    <a:pt x="5394960" y="739154"/>
                  </a:lnTo>
                  <a:lnTo>
                    <a:pt x="5394960" y="3695684"/>
                  </a:lnTo>
                  <a:lnTo>
                    <a:pt x="5393387" y="3744284"/>
                  </a:lnTo>
                  <a:lnTo>
                    <a:pt x="5388735" y="3792044"/>
                  </a:lnTo>
                  <a:lnTo>
                    <a:pt x="5381102" y="3838868"/>
                  </a:lnTo>
                  <a:lnTo>
                    <a:pt x="5370583" y="3884657"/>
                  </a:lnTo>
                  <a:lnTo>
                    <a:pt x="5357277" y="3929315"/>
                  </a:lnTo>
                  <a:lnTo>
                    <a:pt x="5341281" y="3972743"/>
                  </a:lnTo>
                  <a:lnTo>
                    <a:pt x="5322692" y="4014846"/>
                  </a:lnTo>
                  <a:lnTo>
                    <a:pt x="5301609" y="4055524"/>
                  </a:lnTo>
                  <a:lnTo>
                    <a:pt x="5278127" y="4094681"/>
                  </a:lnTo>
                  <a:lnTo>
                    <a:pt x="5252345" y="4132220"/>
                  </a:lnTo>
                  <a:lnTo>
                    <a:pt x="5224360" y="4168043"/>
                  </a:lnTo>
                  <a:lnTo>
                    <a:pt x="5194270" y="4202052"/>
                  </a:lnTo>
                  <a:lnTo>
                    <a:pt x="5162172" y="4234151"/>
                  </a:lnTo>
                  <a:lnTo>
                    <a:pt x="5128162" y="4264241"/>
                  </a:lnTo>
                  <a:lnTo>
                    <a:pt x="5092340" y="4292226"/>
                  </a:lnTo>
                  <a:lnTo>
                    <a:pt x="5054801" y="4318007"/>
                  </a:lnTo>
                  <a:lnTo>
                    <a:pt x="5015644" y="4341489"/>
                  </a:lnTo>
                  <a:lnTo>
                    <a:pt x="4974965" y="4362573"/>
                  </a:lnTo>
                  <a:lnTo>
                    <a:pt x="4932863" y="4381161"/>
                  </a:lnTo>
                  <a:lnTo>
                    <a:pt x="4889434" y="4397157"/>
                  </a:lnTo>
                  <a:lnTo>
                    <a:pt x="4844777" y="4410463"/>
                  </a:lnTo>
                  <a:lnTo>
                    <a:pt x="4798987" y="4420982"/>
                  </a:lnTo>
                  <a:lnTo>
                    <a:pt x="4752164" y="4428616"/>
                  </a:lnTo>
                  <a:lnTo>
                    <a:pt x="4704404" y="4433267"/>
                  </a:lnTo>
                  <a:lnTo>
                    <a:pt x="4655804" y="4434840"/>
                  </a:lnTo>
                  <a:lnTo>
                    <a:pt x="739154" y="4434840"/>
                  </a:lnTo>
                  <a:lnTo>
                    <a:pt x="690555" y="4433267"/>
                  </a:lnTo>
                  <a:lnTo>
                    <a:pt x="642794" y="4428616"/>
                  </a:lnTo>
                  <a:lnTo>
                    <a:pt x="595971" y="4420982"/>
                  </a:lnTo>
                  <a:lnTo>
                    <a:pt x="550182" y="4410463"/>
                  </a:lnTo>
                  <a:lnTo>
                    <a:pt x="505524" y="4397157"/>
                  </a:lnTo>
                  <a:lnTo>
                    <a:pt x="462096" y="4381161"/>
                  </a:lnTo>
                  <a:lnTo>
                    <a:pt x="419993" y="4362573"/>
                  </a:lnTo>
                  <a:lnTo>
                    <a:pt x="379315" y="4341489"/>
                  </a:lnTo>
                  <a:lnTo>
                    <a:pt x="340158" y="4318007"/>
                  </a:lnTo>
                  <a:lnTo>
                    <a:pt x="302619" y="4292226"/>
                  </a:lnTo>
                  <a:lnTo>
                    <a:pt x="266796" y="4264241"/>
                  </a:lnTo>
                  <a:lnTo>
                    <a:pt x="232787" y="4234151"/>
                  </a:lnTo>
                  <a:lnTo>
                    <a:pt x="200689" y="4202052"/>
                  </a:lnTo>
                  <a:lnTo>
                    <a:pt x="170598" y="4168043"/>
                  </a:lnTo>
                  <a:lnTo>
                    <a:pt x="142613" y="4132220"/>
                  </a:lnTo>
                  <a:lnTo>
                    <a:pt x="116832" y="4094681"/>
                  </a:lnTo>
                  <a:lnTo>
                    <a:pt x="93350" y="4055524"/>
                  </a:lnTo>
                  <a:lnTo>
                    <a:pt x="72267" y="4014846"/>
                  </a:lnTo>
                  <a:lnTo>
                    <a:pt x="53678" y="3972743"/>
                  </a:lnTo>
                  <a:lnTo>
                    <a:pt x="37682" y="3929315"/>
                  </a:lnTo>
                  <a:lnTo>
                    <a:pt x="24376" y="3884657"/>
                  </a:lnTo>
                  <a:lnTo>
                    <a:pt x="13857" y="3838868"/>
                  </a:lnTo>
                  <a:lnTo>
                    <a:pt x="6224" y="3792044"/>
                  </a:lnTo>
                  <a:lnTo>
                    <a:pt x="1572" y="3744284"/>
                  </a:lnTo>
                  <a:lnTo>
                    <a:pt x="0" y="3695684"/>
                  </a:lnTo>
                  <a:lnTo>
                    <a:pt x="0" y="739154"/>
                  </a:lnTo>
                  <a:lnTo>
                    <a:pt x="1572" y="690555"/>
                  </a:lnTo>
                  <a:lnTo>
                    <a:pt x="6224" y="642794"/>
                  </a:lnTo>
                  <a:lnTo>
                    <a:pt x="13857" y="595971"/>
                  </a:lnTo>
                  <a:lnTo>
                    <a:pt x="24376" y="550182"/>
                  </a:lnTo>
                  <a:lnTo>
                    <a:pt x="37682" y="505524"/>
                  </a:lnTo>
                  <a:lnTo>
                    <a:pt x="53678" y="462096"/>
                  </a:lnTo>
                  <a:lnTo>
                    <a:pt x="72267" y="419993"/>
                  </a:lnTo>
                  <a:lnTo>
                    <a:pt x="93350" y="379315"/>
                  </a:lnTo>
                  <a:lnTo>
                    <a:pt x="116832" y="340158"/>
                  </a:lnTo>
                  <a:lnTo>
                    <a:pt x="142613" y="302619"/>
                  </a:lnTo>
                  <a:lnTo>
                    <a:pt x="170598" y="266796"/>
                  </a:lnTo>
                  <a:lnTo>
                    <a:pt x="200689" y="232787"/>
                  </a:lnTo>
                  <a:lnTo>
                    <a:pt x="232787" y="200689"/>
                  </a:lnTo>
                  <a:lnTo>
                    <a:pt x="266796" y="170598"/>
                  </a:lnTo>
                  <a:lnTo>
                    <a:pt x="302619" y="142613"/>
                  </a:lnTo>
                  <a:lnTo>
                    <a:pt x="340158" y="116832"/>
                  </a:lnTo>
                  <a:lnTo>
                    <a:pt x="379315" y="93350"/>
                  </a:lnTo>
                  <a:lnTo>
                    <a:pt x="419993" y="72267"/>
                  </a:lnTo>
                  <a:lnTo>
                    <a:pt x="462096" y="53678"/>
                  </a:lnTo>
                  <a:lnTo>
                    <a:pt x="505524" y="37682"/>
                  </a:lnTo>
                  <a:lnTo>
                    <a:pt x="550182" y="24376"/>
                  </a:lnTo>
                  <a:lnTo>
                    <a:pt x="595971" y="13857"/>
                  </a:lnTo>
                  <a:lnTo>
                    <a:pt x="642794" y="6224"/>
                  </a:lnTo>
                  <a:lnTo>
                    <a:pt x="690555" y="1572"/>
                  </a:lnTo>
                  <a:lnTo>
                    <a:pt x="73915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8379" y="1265060"/>
              <a:ext cx="140208" cy="451104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26479" y="1280160"/>
              <a:ext cx="64135" cy="4434840"/>
            </a:xfrm>
            <a:custGeom>
              <a:avLst/>
              <a:gdLst/>
              <a:ahLst/>
              <a:cxnLst/>
              <a:rect l="l" t="t" r="r" b="b"/>
              <a:pathLst>
                <a:path w="64135" h="4434840">
                  <a:moveTo>
                    <a:pt x="64008" y="0"/>
                  </a:moveTo>
                  <a:lnTo>
                    <a:pt x="0" y="0"/>
                  </a:lnTo>
                  <a:lnTo>
                    <a:pt x="0" y="4434839"/>
                  </a:lnTo>
                  <a:lnTo>
                    <a:pt x="64008" y="443483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06388" y="1456692"/>
            <a:ext cx="1254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5F8FC"/>
                </a:solidFill>
                <a:latin typeface="Arial"/>
                <a:cs typeface="Arial"/>
              </a:rPr>
              <a:t>SKILLSYNC</a:t>
            </a:r>
            <a:r>
              <a:rPr sz="1400" b="1" spc="-5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5F8FC"/>
                </a:solidFill>
                <a:latin typeface="Arial"/>
                <a:cs typeface="Arial"/>
              </a:rPr>
              <a:t>AI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9" name="object 19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SkillSync</a:t>
            </a:r>
            <a:r>
              <a:rPr spc="-90" dirty="0"/>
              <a:t> </a:t>
            </a:r>
            <a:r>
              <a:rPr dirty="0"/>
              <a:t>AI</a:t>
            </a:r>
            <a:r>
              <a:rPr spc="-10" dirty="0"/>
              <a:t> </a:t>
            </a:r>
            <a:r>
              <a:rPr dirty="0"/>
              <a:t>unifies</a:t>
            </a:r>
            <a:r>
              <a:rPr spc="-5" dirty="0"/>
              <a:t> </a:t>
            </a:r>
            <a:r>
              <a:rPr dirty="0"/>
              <a:t>the complete</a:t>
            </a:r>
            <a:r>
              <a:rPr spc="-5" dirty="0"/>
              <a:t> </a:t>
            </a:r>
            <a:r>
              <a:rPr spc="-10" dirty="0"/>
              <a:t>workflow:</a:t>
            </a: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pc="-10" dirty="0"/>
              <a:t>Multi-</a:t>
            </a:r>
            <a:r>
              <a:rPr dirty="0"/>
              <a:t>source</a:t>
            </a:r>
            <a:r>
              <a:rPr spc="25" dirty="0"/>
              <a:t> </a:t>
            </a:r>
            <a:r>
              <a:rPr spc="-20" dirty="0"/>
              <a:t>data</a:t>
            </a:r>
          </a:p>
          <a:p>
            <a:pPr marL="407670">
              <a:lnSpc>
                <a:spcPct val="100000"/>
              </a:lnSpc>
              <a:spcBef>
                <a:spcPts val="385"/>
              </a:spcBef>
            </a:pPr>
            <a:r>
              <a:rPr spc="150" dirty="0">
                <a:latin typeface="Microsoft Sans Serif"/>
                <a:cs typeface="Microsoft Sans Serif"/>
              </a:rPr>
              <a:t>↓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10" dirty="0"/>
              <a:t> Pipeline</a:t>
            </a:r>
          </a:p>
          <a:p>
            <a:pPr marL="407670">
              <a:lnSpc>
                <a:spcPct val="100000"/>
              </a:lnSpc>
              <a:spcBef>
                <a:spcPts val="385"/>
              </a:spcBef>
            </a:pPr>
            <a:r>
              <a:rPr spc="150" dirty="0">
                <a:latin typeface="Microsoft Sans Serif"/>
                <a:cs typeface="Microsoft Sans Serif"/>
              </a:rPr>
              <a:t>↓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pc="-10" dirty="0"/>
              <a:t>AI-</a:t>
            </a:r>
            <a:r>
              <a:rPr dirty="0"/>
              <a:t>Based</a:t>
            </a:r>
            <a:r>
              <a:rPr spc="-20" dirty="0"/>
              <a:t> </a:t>
            </a:r>
            <a:r>
              <a:rPr dirty="0"/>
              <a:t>Skill</a:t>
            </a:r>
            <a:r>
              <a:rPr spc="-15" dirty="0"/>
              <a:t> </a:t>
            </a:r>
            <a:r>
              <a:rPr spc="-10" dirty="0"/>
              <a:t>Extraction</a:t>
            </a:r>
          </a:p>
          <a:p>
            <a:pPr marL="407670">
              <a:lnSpc>
                <a:spcPct val="100000"/>
              </a:lnSpc>
              <a:spcBef>
                <a:spcPts val="385"/>
              </a:spcBef>
            </a:pPr>
            <a:r>
              <a:rPr spc="150" dirty="0">
                <a:latin typeface="Microsoft Sans Serif"/>
                <a:cs typeface="Microsoft Sans Serif"/>
              </a:rPr>
              <a:t>↓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pc="-20" dirty="0"/>
              <a:t>Trend</a:t>
            </a:r>
            <a:r>
              <a:rPr spc="-80" dirty="0"/>
              <a:t> </a:t>
            </a:r>
            <a:r>
              <a:rPr dirty="0"/>
              <a:t>Analysis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Forecasting</a:t>
            </a:r>
          </a:p>
          <a:p>
            <a:pPr marL="407670">
              <a:lnSpc>
                <a:spcPct val="100000"/>
              </a:lnSpc>
              <a:spcBef>
                <a:spcPts val="385"/>
              </a:spcBef>
            </a:pPr>
            <a:r>
              <a:rPr spc="150" dirty="0">
                <a:latin typeface="Microsoft Sans Serif"/>
                <a:cs typeface="Microsoft Sans Serif"/>
              </a:rPr>
              <a:t>↓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pc="-10" dirty="0"/>
              <a:t>Decision-</a:t>
            </a:r>
            <a:r>
              <a:rPr dirty="0"/>
              <a:t>Ready</a:t>
            </a:r>
            <a:r>
              <a:rPr spc="40" dirty="0"/>
              <a:t> </a:t>
            </a:r>
            <a:r>
              <a:rPr spc="-10" dirty="0"/>
              <a:t>Insights</a:t>
            </a: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pc="-10" dirty="0"/>
          </a:p>
          <a:p>
            <a:pPr marL="12700" marR="5080">
              <a:lnSpc>
                <a:spcPct val="121400"/>
              </a:lnSpc>
            </a:pPr>
            <a:r>
              <a:rPr dirty="0"/>
              <a:t>It</a:t>
            </a:r>
            <a:r>
              <a:rPr spc="160" dirty="0"/>
              <a:t> </a:t>
            </a:r>
            <a:r>
              <a:rPr dirty="0"/>
              <a:t>combines</a:t>
            </a:r>
            <a:r>
              <a:rPr spc="165" dirty="0"/>
              <a:t> </a:t>
            </a:r>
            <a:r>
              <a:rPr dirty="0"/>
              <a:t>Data</a:t>
            </a:r>
            <a:r>
              <a:rPr spc="160" dirty="0"/>
              <a:t> </a:t>
            </a:r>
            <a:r>
              <a:rPr dirty="0"/>
              <a:t>Engineering,</a:t>
            </a:r>
            <a:r>
              <a:rPr spc="165" dirty="0"/>
              <a:t> </a:t>
            </a:r>
            <a:r>
              <a:rPr dirty="0"/>
              <a:t>NLP,</a:t>
            </a:r>
            <a:r>
              <a:rPr spc="160" dirty="0"/>
              <a:t> </a:t>
            </a:r>
            <a:r>
              <a:rPr dirty="0"/>
              <a:t>Machine</a:t>
            </a:r>
            <a:r>
              <a:rPr spc="165" dirty="0"/>
              <a:t> </a:t>
            </a:r>
            <a:r>
              <a:rPr dirty="0"/>
              <a:t>Learning,</a:t>
            </a:r>
            <a:r>
              <a:rPr spc="160" dirty="0"/>
              <a:t> </a:t>
            </a:r>
            <a:r>
              <a:rPr spc="-25" dirty="0"/>
              <a:t>and </a:t>
            </a:r>
            <a:r>
              <a:rPr dirty="0"/>
              <a:t>analytics</a:t>
            </a:r>
            <a:r>
              <a:rPr spc="-1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one</a:t>
            </a:r>
            <a:r>
              <a:rPr spc="-5" dirty="0"/>
              <a:t> </a:t>
            </a:r>
            <a:r>
              <a:rPr dirty="0"/>
              <a:t>scalable</a:t>
            </a:r>
            <a:r>
              <a:rPr spc="-10" dirty="0"/>
              <a:t>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833884"/>
            <a:ext cx="1367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Four focused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objectives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2937" y="1260297"/>
            <a:ext cx="5252085" cy="1960245"/>
            <a:chOff x="642937" y="1260297"/>
            <a:chExt cx="5252085" cy="19602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5252085" cy="19602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1280160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60" h="1874520">
                  <a:moveTo>
                    <a:pt x="4853933" y="0"/>
                  </a:moveTo>
                  <a:lnTo>
                    <a:pt x="312426" y="0"/>
                  </a:lnTo>
                  <a:lnTo>
                    <a:pt x="266258" y="3387"/>
                  </a:lnTo>
                  <a:lnTo>
                    <a:pt x="222193" y="13227"/>
                  </a:lnTo>
                  <a:lnTo>
                    <a:pt x="180715" y="29037"/>
                  </a:lnTo>
                  <a:lnTo>
                    <a:pt x="142306" y="50333"/>
                  </a:lnTo>
                  <a:lnTo>
                    <a:pt x="107451" y="76632"/>
                  </a:lnTo>
                  <a:lnTo>
                    <a:pt x="76632" y="107451"/>
                  </a:lnTo>
                  <a:lnTo>
                    <a:pt x="50333" y="142306"/>
                  </a:lnTo>
                  <a:lnTo>
                    <a:pt x="29037" y="180715"/>
                  </a:lnTo>
                  <a:lnTo>
                    <a:pt x="13227" y="222193"/>
                  </a:lnTo>
                  <a:lnTo>
                    <a:pt x="3387" y="266258"/>
                  </a:lnTo>
                  <a:lnTo>
                    <a:pt x="0" y="312426"/>
                  </a:lnTo>
                  <a:lnTo>
                    <a:pt x="0" y="1562092"/>
                  </a:lnTo>
                  <a:lnTo>
                    <a:pt x="3387" y="1608260"/>
                  </a:lnTo>
                  <a:lnTo>
                    <a:pt x="13227" y="1652325"/>
                  </a:lnTo>
                  <a:lnTo>
                    <a:pt x="29037" y="1693803"/>
                  </a:lnTo>
                  <a:lnTo>
                    <a:pt x="50333" y="1732211"/>
                  </a:lnTo>
                  <a:lnTo>
                    <a:pt x="76632" y="1767067"/>
                  </a:lnTo>
                  <a:lnTo>
                    <a:pt x="107451" y="1797885"/>
                  </a:lnTo>
                  <a:lnTo>
                    <a:pt x="142306" y="1824184"/>
                  </a:lnTo>
                  <a:lnTo>
                    <a:pt x="180715" y="1845481"/>
                  </a:lnTo>
                  <a:lnTo>
                    <a:pt x="222193" y="1861290"/>
                  </a:lnTo>
                  <a:lnTo>
                    <a:pt x="266258" y="1871131"/>
                  </a:lnTo>
                  <a:lnTo>
                    <a:pt x="312426" y="1874518"/>
                  </a:lnTo>
                  <a:lnTo>
                    <a:pt x="4853933" y="1874518"/>
                  </a:lnTo>
                  <a:lnTo>
                    <a:pt x="4900101" y="1871131"/>
                  </a:lnTo>
                  <a:lnTo>
                    <a:pt x="4944166" y="1861290"/>
                  </a:lnTo>
                  <a:lnTo>
                    <a:pt x="4985644" y="1845481"/>
                  </a:lnTo>
                  <a:lnTo>
                    <a:pt x="5024053" y="1824184"/>
                  </a:lnTo>
                  <a:lnTo>
                    <a:pt x="5058908" y="1797885"/>
                  </a:lnTo>
                  <a:lnTo>
                    <a:pt x="5089727" y="1767067"/>
                  </a:lnTo>
                  <a:lnTo>
                    <a:pt x="5116026" y="1732211"/>
                  </a:lnTo>
                  <a:lnTo>
                    <a:pt x="5137322" y="1693803"/>
                  </a:lnTo>
                  <a:lnTo>
                    <a:pt x="5153132" y="1652325"/>
                  </a:lnTo>
                  <a:lnTo>
                    <a:pt x="5162972" y="1608260"/>
                  </a:lnTo>
                  <a:lnTo>
                    <a:pt x="5166360" y="1562092"/>
                  </a:lnTo>
                  <a:lnTo>
                    <a:pt x="5166360" y="312426"/>
                  </a:lnTo>
                  <a:lnTo>
                    <a:pt x="5162972" y="266258"/>
                  </a:lnTo>
                  <a:lnTo>
                    <a:pt x="5153132" y="222193"/>
                  </a:lnTo>
                  <a:lnTo>
                    <a:pt x="5137322" y="180715"/>
                  </a:lnTo>
                  <a:lnTo>
                    <a:pt x="5116026" y="142306"/>
                  </a:lnTo>
                  <a:lnTo>
                    <a:pt x="5089727" y="107451"/>
                  </a:lnTo>
                  <a:lnTo>
                    <a:pt x="5058908" y="76632"/>
                  </a:lnTo>
                  <a:lnTo>
                    <a:pt x="5024053" y="50333"/>
                  </a:lnTo>
                  <a:lnTo>
                    <a:pt x="4985644" y="29037"/>
                  </a:lnTo>
                  <a:lnTo>
                    <a:pt x="4944166" y="13227"/>
                  </a:lnTo>
                  <a:lnTo>
                    <a:pt x="4900101" y="3387"/>
                  </a:lnTo>
                  <a:lnTo>
                    <a:pt x="4853933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1280160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60" h="1874520">
                  <a:moveTo>
                    <a:pt x="312426" y="0"/>
                  </a:moveTo>
                  <a:lnTo>
                    <a:pt x="4853933" y="0"/>
                  </a:lnTo>
                  <a:lnTo>
                    <a:pt x="4900101" y="3387"/>
                  </a:lnTo>
                  <a:lnTo>
                    <a:pt x="4944166" y="13227"/>
                  </a:lnTo>
                  <a:lnTo>
                    <a:pt x="4985644" y="29037"/>
                  </a:lnTo>
                  <a:lnTo>
                    <a:pt x="5024053" y="50333"/>
                  </a:lnTo>
                  <a:lnTo>
                    <a:pt x="5058908" y="76632"/>
                  </a:lnTo>
                  <a:lnTo>
                    <a:pt x="5089727" y="107451"/>
                  </a:lnTo>
                  <a:lnTo>
                    <a:pt x="5116026" y="142306"/>
                  </a:lnTo>
                  <a:lnTo>
                    <a:pt x="5137322" y="180715"/>
                  </a:lnTo>
                  <a:lnTo>
                    <a:pt x="5153132" y="222193"/>
                  </a:lnTo>
                  <a:lnTo>
                    <a:pt x="5162972" y="266258"/>
                  </a:lnTo>
                  <a:lnTo>
                    <a:pt x="5166360" y="312426"/>
                  </a:lnTo>
                  <a:lnTo>
                    <a:pt x="5166360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1"/>
                  </a:lnTo>
                  <a:lnTo>
                    <a:pt x="5089727" y="1767067"/>
                  </a:lnTo>
                  <a:lnTo>
                    <a:pt x="5058908" y="1797885"/>
                  </a:lnTo>
                  <a:lnTo>
                    <a:pt x="5024053" y="1824184"/>
                  </a:lnTo>
                  <a:lnTo>
                    <a:pt x="4985644" y="1845481"/>
                  </a:lnTo>
                  <a:lnTo>
                    <a:pt x="4944166" y="1861290"/>
                  </a:lnTo>
                  <a:lnTo>
                    <a:pt x="4900101" y="1871131"/>
                  </a:lnTo>
                  <a:lnTo>
                    <a:pt x="4853933" y="1874518"/>
                  </a:lnTo>
                  <a:lnTo>
                    <a:pt x="312426" y="1874518"/>
                  </a:lnTo>
                  <a:lnTo>
                    <a:pt x="266258" y="1871131"/>
                  </a:lnTo>
                  <a:lnTo>
                    <a:pt x="222193" y="1861290"/>
                  </a:lnTo>
                  <a:lnTo>
                    <a:pt x="180715" y="1845481"/>
                  </a:lnTo>
                  <a:lnTo>
                    <a:pt x="142306" y="1824184"/>
                  </a:lnTo>
                  <a:lnTo>
                    <a:pt x="107451" y="1797885"/>
                  </a:lnTo>
                  <a:lnTo>
                    <a:pt x="76632" y="1767067"/>
                  </a:lnTo>
                  <a:lnTo>
                    <a:pt x="50333" y="1732211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6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60"/>
              <a:ext cx="140208" cy="19507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800" y="1280160"/>
              <a:ext cx="64135" cy="1874520"/>
            </a:xfrm>
            <a:custGeom>
              <a:avLst/>
              <a:gdLst/>
              <a:ahLst/>
              <a:cxnLst/>
              <a:rect l="l" t="t" r="r" b="b"/>
              <a:pathLst>
                <a:path w="64134" h="1874520">
                  <a:moveTo>
                    <a:pt x="64007" y="0"/>
                  </a:moveTo>
                  <a:lnTo>
                    <a:pt x="0" y="0"/>
                  </a:lnTo>
                  <a:lnTo>
                    <a:pt x="0" y="1874517"/>
                  </a:lnTo>
                  <a:lnTo>
                    <a:pt x="64007" y="1874517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E74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5707" y="1453771"/>
            <a:ext cx="34905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01</a:t>
            </a:r>
            <a:r>
              <a:rPr sz="1500" b="1" spc="39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INTELLIGENT</a:t>
            </a:r>
            <a:r>
              <a:rPr sz="1500" b="1" spc="-1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spc="-75" dirty="0">
                <a:solidFill>
                  <a:srgbClr val="F5F8FC"/>
                </a:solidFill>
                <a:latin typeface="Arial"/>
                <a:cs typeface="Arial"/>
              </a:rPr>
              <a:t>DATA</a:t>
            </a:r>
            <a:r>
              <a:rPr sz="1500" b="1" spc="-6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5F8FC"/>
                </a:solidFill>
                <a:latin typeface="Arial"/>
                <a:cs typeface="Arial"/>
              </a:rPr>
              <a:t>INTEGRATION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5708" y="1727837"/>
            <a:ext cx="46437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3800"/>
              </a:lnSpc>
              <a:spcBef>
                <a:spcPts val="100"/>
              </a:spcBef>
            </a:pP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Design a scalable pipeline that integrates heterogeneous </a:t>
            </a:r>
            <a:r>
              <a:rPr sz="1300" spc="-20" dirty="0">
                <a:solidFill>
                  <a:srgbClr val="D2DDEA"/>
                </a:solidFill>
                <a:latin typeface="Arial MT"/>
                <a:cs typeface="Arial MT"/>
              </a:rPr>
              <a:t>job-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market</a:t>
            </a:r>
            <a:r>
              <a:rPr sz="1300" spc="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data</a:t>
            </a:r>
            <a:r>
              <a:rPr sz="1300" spc="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from</a:t>
            </a:r>
            <a:r>
              <a:rPr sz="1300" spc="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multiple</a:t>
            </a:r>
            <a:r>
              <a:rPr sz="1300" spc="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sources</a:t>
            </a:r>
            <a:r>
              <a:rPr sz="1300" spc="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into</a:t>
            </a:r>
            <a:r>
              <a:rPr sz="1300" spc="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reliable,</a:t>
            </a:r>
            <a:r>
              <a:rPr sz="1300" spc="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analytics-ready information.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29337" y="1260297"/>
            <a:ext cx="5252085" cy="1960245"/>
            <a:chOff x="6129337" y="1260297"/>
            <a:chExt cx="5252085" cy="196024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9337" y="1260297"/>
              <a:ext cx="5252084" cy="19602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72200" y="1280160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59" h="1874520">
                  <a:moveTo>
                    <a:pt x="4853933" y="0"/>
                  </a:moveTo>
                  <a:lnTo>
                    <a:pt x="312426" y="0"/>
                  </a:lnTo>
                  <a:lnTo>
                    <a:pt x="266258" y="3387"/>
                  </a:lnTo>
                  <a:lnTo>
                    <a:pt x="222193" y="13227"/>
                  </a:lnTo>
                  <a:lnTo>
                    <a:pt x="180715" y="29037"/>
                  </a:lnTo>
                  <a:lnTo>
                    <a:pt x="142306" y="50333"/>
                  </a:lnTo>
                  <a:lnTo>
                    <a:pt x="107451" y="76632"/>
                  </a:lnTo>
                  <a:lnTo>
                    <a:pt x="76632" y="107451"/>
                  </a:lnTo>
                  <a:lnTo>
                    <a:pt x="50333" y="142306"/>
                  </a:lnTo>
                  <a:lnTo>
                    <a:pt x="29037" y="180715"/>
                  </a:lnTo>
                  <a:lnTo>
                    <a:pt x="13227" y="222193"/>
                  </a:lnTo>
                  <a:lnTo>
                    <a:pt x="3387" y="266258"/>
                  </a:lnTo>
                  <a:lnTo>
                    <a:pt x="0" y="312426"/>
                  </a:lnTo>
                  <a:lnTo>
                    <a:pt x="0" y="1562092"/>
                  </a:lnTo>
                  <a:lnTo>
                    <a:pt x="3387" y="1608260"/>
                  </a:lnTo>
                  <a:lnTo>
                    <a:pt x="13227" y="1652325"/>
                  </a:lnTo>
                  <a:lnTo>
                    <a:pt x="29037" y="1693803"/>
                  </a:lnTo>
                  <a:lnTo>
                    <a:pt x="50333" y="1732211"/>
                  </a:lnTo>
                  <a:lnTo>
                    <a:pt x="76632" y="1767067"/>
                  </a:lnTo>
                  <a:lnTo>
                    <a:pt x="107451" y="1797885"/>
                  </a:lnTo>
                  <a:lnTo>
                    <a:pt x="142306" y="1824184"/>
                  </a:lnTo>
                  <a:lnTo>
                    <a:pt x="180715" y="1845481"/>
                  </a:lnTo>
                  <a:lnTo>
                    <a:pt x="222193" y="1861290"/>
                  </a:lnTo>
                  <a:lnTo>
                    <a:pt x="266258" y="1871131"/>
                  </a:lnTo>
                  <a:lnTo>
                    <a:pt x="312426" y="1874518"/>
                  </a:lnTo>
                  <a:lnTo>
                    <a:pt x="4853933" y="1874518"/>
                  </a:lnTo>
                  <a:lnTo>
                    <a:pt x="4900101" y="1871131"/>
                  </a:lnTo>
                  <a:lnTo>
                    <a:pt x="4944166" y="1861290"/>
                  </a:lnTo>
                  <a:lnTo>
                    <a:pt x="4985644" y="1845481"/>
                  </a:lnTo>
                  <a:lnTo>
                    <a:pt x="5024053" y="1824184"/>
                  </a:lnTo>
                  <a:lnTo>
                    <a:pt x="5058908" y="1797885"/>
                  </a:lnTo>
                  <a:lnTo>
                    <a:pt x="5089727" y="1767067"/>
                  </a:lnTo>
                  <a:lnTo>
                    <a:pt x="5116026" y="1732211"/>
                  </a:lnTo>
                  <a:lnTo>
                    <a:pt x="5137322" y="1693803"/>
                  </a:lnTo>
                  <a:lnTo>
                    <a:pt x="5153132" y="1652325"/>
                  </a:lnTo>
                  <a:lnTo>
                    <a:pt x="5162972" y="1608260"/>
                  </a:lnTo>
                  <a:lnTo>
                    <a:pt x="5166359" y="1562092"/>
                  </a:lnTo>
                  <a:lnTo>
                    <a:pt x="5166359" y="312426"/>
                  </a:lnTo>
                  <a:lnTo>
                    <a:pt x="5162972" y="266258"/>
                  </a:lnTo>
                  <a:lnTo>
                    <a:pt x="5153132" y="222193"/>
                  </a:lnTo>
                  <a:lnTo>
                    <a:pt x="5137322" y="180715"/>
                  </a:lnTo>
                  <a:lnTo>
                    <a:pt x="5116026" y="142306"/>
                  </a:lnTo>
                  <a:lnTo>
                    <a:pt x="5089727" y="107451"/>
                  </a:lnTo>
                  <a:lnTo>
                    <a:pt x="5058908" y="76632"/>
                  </a:lnTo>
                  <a:lnTo>
                    <a:pt x="5024053" y="50333"/>
                  </a:lnTo>
                  <a:lnTo>
                    <a:pt x="4985644" y="29037"/>
                  </a:lnTo>
                  <a:lnTo>
                    <a:pt x="4944166" y="13227"/>
                  </a:lnTo>
                  <a:lnTo>
                    <a:pt x="4900101" y="3387"/>
                  </a:lnTo>
                  <a:lnTo>
                    <a:pt x="4853933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72200" y="1280160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59" h="1874520">
                  <a:moveTo>
                    <a:pt x="312426" y="0"/>
                  </a:moveTo>
                  <a:lnTo>
                    <a:pt x="4853933" y="0"/>
                  </a:lnTo>
                  <a:lnTo>
                    <a:pt x="4900101" y="3387"/>
                  </a:lnTo>
                  <a:lnTo>
                    <a:pt x="4944166" y="13227"/>
                  </a:lnTo>
                  <a:lnTo>
                    <a:pt x="4985644" y="29037"/>
                  </a:lnTo>
                  <a:lnTo>
                    <a:pt x="5024053" y="50333"/>
                  </a:lnTo>
                  <a:lnTo>
                    <a:pt x="5058908" y="76632"/>
                  </a:lnTo>
                  <a:lnTo>
                    <a:pt x="5089727" y="107451"/>
                  </a:lnTo>
                  <a:lnTo>
                    <a:pt x="5116026" y="142306"/>
                  </a:lnTo>
                  <a:lnTo>
                    <a:pt x="5137322" y="180715"/>
                  </a:lnTo>
                  <a:lnTo>
                    <a:pt x="5153132" y="222193"/>
                  </a:lnTo>
                  <a:lnTo>
                    <a:pt x="5162972" y="266258"/>
                  </a:lnTo>
                  <a:lnTo>
                    <a:pt x="5166360" y="312426"/>
                  </a:lnTo>
                  <a:lnTo>
                    <a:pt x="5166360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1"/>
                  </a:lnTo>
                  <a:lnTo>
                    <a:pt x="5089727" y="1767067"/>
                  </a:lnTo>
                  <a:lnTo>
                    <a:pt x="5058908" y="1797885"/>
                  </a:lnTo>
                  <a:lnTo>
                    <a:pt x="5024053" y="1824184"/>
                  </a:lnTo>
                  <a:lnTo>
                    <a:pt x="4985644" y="1845481"/>
                  </a:lnTo>
                  <a:lnTo>
                    <a:pt x="4944166" y="1861290"/>
                  </a:lnTo>
                  <a:lnTo>
                    <a:pt x="4900101" y="1871131"/>
                  </a:lnTo>
                  <a:lnTo>
                    <a:pt x="4853933" y="1874518"/>
                  </a:lnTo>
                  <a:lnTo>
                    <a:pt x="312426" y="1874518"/>
                  </a:lnTo>
                  <a:lnTo>
                    <a:pt x="266258" y="1871131"/>
                  </a:lnTo>
                  <a:lnTo>
                    <a:pt x="222193" y="1861290"/>
                  </a:lnTo>
                  <a:lnTo>
                    <a:pt x="180715" y="1845481"/>
                  </a:lnTo>
                  <a:lnTo>
                    <a:pt x="142306" y="1824184"/>
                  </a:lnTo>
                  <a:lnTo>
                    <a:pt x="107451" y="1797885"/>
                  </a:lnTo>
                  <a:lnTo>
                    <a:pt x="76632" y="1767067"/>
                  </a:lnTo>
                  <a:lnTo>
                    <a:pt x="50333" y="1732211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6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100" y="1265060"/>
              <a:ext cx="140208" cy="195071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72200" y="1280160"/>
              <a:ext cx="64135" cy="1874520"/>
            </a:xfrm>
            <a:custGeom>
              <a:avLst/>
              <a:gdLst/>
              <a:ahLst/>
              <a:cxnLst/>
              <a:rect l="l" t="t" r="r" b="b"/>
              <a:pathLst>
                <a:path w="64135" h="1874520">
                  <a:moveTo>
                    <a:pt x="64008" y="0"/>
                  </a:moveTo>
                  <a:lnTo>
                    <a:pt x="0" y="0"/>
                  </a:lnTo>
                  <a:lnTo>
                    <a:pt x="0" y="1874517"/>
                  </a:lnTo>
                  <a:lnTo>
                    <a:pt x="64008" y="1874517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52108" y="1453771"/>
            <a:ext cx="362457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02</a:t>
            </a:r>
            <a:r>
              <a:rPr sz="1500" b="1" spc="31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5F8FC"/>
                </a:solidFill>
                <a:latin typeface="Arial"/>
                <a:cs typeface="Arial"/>
              </a:rPr>
              <a:t>AI-</a:t>
            </a: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POWERED</a:t>
            </a:r>
            <a:r>
              <a:rPr sz="1500" b="1" spc="-2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SKILL</a:t>
            </a:r>
            <a:r>
              <a:rPr sz="1500" b="1" spc="-5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5F8FC"/>
                </a:solidFill>
                <a:latin typeface="Arial"/>
                <a:cs typeface="Arial"/>
              </a:rPr>
              <a:t>INTELLIGENCE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52108" y="1727837"/>
            <a:ext cx="46431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3800"/>
              </a:lnSpc>
              <a:spcBef>
                <a:spcPts val="100"/>
              </a:spcBef>
            </a:pP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Automatically</a:t>
            </a:r>
            <a:r>
              <a:rPr sz="1300" spc="38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extract,</a:t>
            </a:r>
            <a:r>
              <a:rPr sz="1300" spc="38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normalize,</a:t>
            </a:r>
            <a:r>
              <a:rPr sz="1300" spc="39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and</a:t>
            </a:r>
            <a:r>
              <a:rPr sz="1300" spc="38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categorize</a:t>
            </a:r>
            <a:r>
              <a:rPr sz="1300" spc="39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skills</a:t>
            </a:r>
            <a:r>
              <a:rPr sz="1300" spc="38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D2DDEA"/>
                </a:solidFill>
                <a:latin typeface="Arial MT"/>
                <a:cs typeface="Arial MT"/>
              </a:rPr>
              <a:t>from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unstructured</a:t>
            </a:r>
            <a:r>
              <a:rPr sz="1300" spc="-5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job</a:t>
            </a:r>
            <a:r>
              <a:rPr sz="1300" spc="-4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descriptions</a:t>
            </a:r>
            <a:r>
              <a:rPr sz="1300" spc="-4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using</a:t>
            </a:r>
            <a:r>
              <a:rPr sz="1300" spc="-4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NLP-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based</a:t>
            </a:r>
            <a:r>
              <a:rPr sz="1300" spc="-4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techniques.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2937" y="3500578"/>
            <a:ext cx="5252085" cy="1960245"/>
            <a:chOff x="642937" y="3500578"/>
            <a:chExt cx="5252085" cy="196024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3500578"/>
              <a:ext cx="5252085" cy="196024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5800" y="3520440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60" h="1874520">
                  <a:moveTo>
                    <a:pt x="4853933" y="0"/>
                  </a:moveTo>
                  <a:lnTo>
                    <a:pt x="312426" y="0"/>
                  </a:lnTo>
                  <a:lnTo>
                    <a:pt x="266258" y="3387"/>
                  </a:lnTo>
                  <a:lnTo>
                    <a:pt x="222193" y="13227"/>
                  </a:lnTo>
                  <a:lnTo>
                    <a:pt x="180715" y="29037"/>
                  </a:lnTo>
                  <a:lnTo>
                    <a:pt x="142306" y="50333"/>
                  </a:lnTo>
                  <a:lnTo>
                    <a:pt x="107451" y="76632"/>
                  </a:lnTo>
                  <a:lnTo>
                    <a:pt x="76632" y="107451"/>
                  </a:lnTo>
                  <a:lnTo>
                    <a:pt x="50333" y="142306"/>
                  </a:lnTo>
                  <a:lnTo>
                    <a:pt x="29037" y="180715"/>
                  </a:lnTo>
                  <a:lnTo>
                    <a:pt x="13227" y="222193"/>
                  </a:lnTo>
                  <a:lnTo>
                    <a:pt x="3387" y="266258"/>
                  </a:lnTo>
                  <a:lnTo>
                    <a:pt x="0" y="312426"/>
                  </a:lnTo>
                  <a:lnTo>
                    <a:pt x="0" y="1562092"/>
                  </a:lnTo>
                  <a:lnTo>
                    <a:pt x="3387" y="1608260"/>
                  </a:lnTo>
                  <a:lnTo>
                    <a:pt x="13227" y="1652325"/>
                  </a:lnTo>
                  <a:lnTo>
                    <a:pt x="29037" y="1693803"/>
                  </a:lnTo>
                  <a:lnTo>
                    <a:pt x="50333" y="1732211"/>
                  </a:lnTo>
                  <a:lnTo>
                    <a:pt x="76632" y="1767067"/>
                  </a:lnTo>
                  <a:lnTo>
                    <a:pt x="107451" y="1797885"/>
                  </a:lnTo>
                  <a:lnTo>
                    <a:pt x="142306" y="1824184"/>
                  </a:lnTo>
                  <a:lnTo>
                    <a:pt x="180715" y="1845481"/>
                  </a:lnTo>
                  <a:lnTo>
                    <a:pt x="222193" y="1861290"/>
                  </a:lnTo>
                  <a:lnTo>
                    <a:pt x="266258" y="1871131"/>
                  </a:lnTo>
                  <a:lnTo>
                    <a:pt x="312426" y="1874518"/>
                  </a:lnTo>
                  <a:lnTo>
                    <a:pt x="4853933" y="1874518"/>
                  </a:lnTo>
                  <a:lnTo>
                    <a:pt x="4900101" y="1871131"/>
                  </a:lnTo>
                  <a:lnTo>
                    <a:pt x="4944166" y="1861290"/>
                  </a:lnTo>
                  <a:lnTo>
                    <a:pt x="4985644" y="1845481"/>
                  </a:lnTo>
                  <a:lnTo>
                    <a:pt x="5024053" y="1824184"/>
                  </a:lnTo>
                  <a:lnTo>
                    <a:pt x="5058908" y="1797885"/>
                  </a:lnTo>
                  <a:lnTo>
                    <a:pt x="5089727" y="1767067"/>
                  </a:lnTo>
                  <a:lnTo>
                    <a:pt x="5116026" y="1732211"/>
                  </a:lnTo>
                  <a:lnTo>
                    <a:pt x="5137322" y="1693803"/>
                  </a:lnTo>
                  <a:lnTo>
                    <a:pt x="5153132" y="1652325"/>
                  </a:lnTo>
                  <a:lnTo>
                    <a:pt x="5162972" y="1608260"/>
                  </a:lnTo>
                  <a:lnTo>
                    <a:pt x="5166360" y="1562092"/>
                  </a:lnTo>
                  <a:lnTo>
                    <a:pt x="5166360" y="312426"/>
                  </a:lnTo>
                  <a:lnTo>
                    <a:pt x="5162972" y="266258"/>
                  </a:lnTo>
                  <a:lnTo>
                    <a:pt x="5153132" y="222193"/>
                  </a:lnTo>
                  <a:lnTo>
                    <a:pt x="5137322" y="180715"/>
                  </a:lnTo>
                  <a:lnTo>
                    <a:pt x="5116026" y="142306"/>
                  </a:lnTo>
                  <a:lnTo>
                    <a:pt x="5089727" y="107451"/>
                  </a:lnTo>
                  <a:lnTo>
                    <a:pt x="5058908" y="76632"/>
                  </a:lnTo>
                  <a:lnTo>
                    <a:pt x="5024053" y="50333"/>
                  </a:lnTo>
                  <a:lnTo>
                    <a:pt x="4985644" y="29037"/>
                  </a:lnTo>
                  <a:lnTo>
                    <a:pt x="4944166" y="13227"/>
                  </a:lnTo>
                  <a:lnTo>
                    <a:pt x="4900101" y="3387"/>
                  </a:lnTo>
                  <a:lnTo>
                    <a:pt x="4853933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5800" y="3520440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60" h="1874520">
                  <a:moveTo>
                    <a:pt x="312426" y="0"/>
                  </a:moveTo>
                  <a:lnTo>
                    <a:pt x="4853933" y="0"/>
                  </a:lnTo>
                  <a:lnTo>
                    <a:pt x="4900101" y="3387"/>
                  </a:lnTo>
                  <a:lnTo>
                    <a:pt x="4944166" y="13227"/>
                  </a:lnTo>
                  <a:lnTo>
                    <a:pt x="4985644" y="29037"/>
                  </a:lnTo>
                  <a:lnTo>
                    <a:pt x="5024053" y="50333"/>
                  </a:lnTo>
                  <a:lnTo>
                    <a:pt x="5058908" y="76632"/>
                  </a:lnTo>
                  <a:lnTo>
                    <a:pt x="5089727" y="107451"/>
                  </a:lnTo>
                  <a:lnTo>
                    <a:pt x="5116026" y="142306"/>
                  </a:lnTo>
                  <a:lnTo>
                    <a:pt x="5137322" y="180715"/>
                  </a:lnTo>
                  <a:lnTo>
                    <a:pt x="5153132" y="222193"/>
                  </a:lnTo>
                  <a:lnTo>
                    <a:pt x="5162972" y="266258"/>
                  </a:lnTo>
                  <a:lnTo>
                    <a:pt x="5166360" y="312426"/>
                  </a:lnTo>
                  <a:lnTo>
                    <a:pt x="5166360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1"/>
                  </a:lnTo>
                  <a:lnTo>
                    <a:pt x="5089727" y="1767067"/>
                  </a:lnTo>
                  <a:lnTo>
                    <a:pt x="5058908" y="1797885"/>
                  </a:lnTo>
                  <a:lnTo>
                    <a:pt x="5024053" y="1824184"/>
                  </a:lnTo>
                  <a:lnTo>
                    <a:pt x="4985644" y="1845481"/>
                  </a:lnTo>
                  <a:lnTo>
                    <a:pt x="4944166" y="1861290"/>
                  </a:lnTo>
                  <a:lnTo>
                    <a:pt x="4900101" y="1871131"/>
                  </a:lnTo>
                  <a:lnTo>
                    <a:pt x="4853933" y="1874518"/>
                  </a:lnTo>
                  <a:lnTo>
                    <a:pt x="312426" y="1874518"/>
                  </a:lnTo>
                  <a:lnTo>
                    <a:pt x="266258" y="1871131"/>
                  </a:lnTo>
                  <a:lnTo>
                    <a:pt x="222193" y="1861290"/>
                  </a:lnTo>
                  <a:lnTo>
                    <a:pt x="180715" y="1845481"/>
                  </a:lnTo>
                  <a:lnTo>
                    <a:pt x="142306" y="1824184"/>
                  </a:lnTo>
                  <a:lnTo>
                    <a:pt x="107451" y="1797885"/>
                  </a:lnTo>
                  <a:lnTo>
                    <a:pt x="76632" y="1767067"/>
                  </a:lnTo>
                  <a:lnTo>
                    <a:pt x="50333" y="1732211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6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3505341"/>
              <a:ext cx="140208" cy="195071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85800" y="3520441"/>
              <a:ext cx="64135" cy="1874520"/>
            </a:xfrm>
            <a:custGeom>
              <a:avLst/>
              <a:gdLst/>
              <a:ahLst/>
              <a:cxnLst/>
              <a:rect l="l" t="t" r="r" b="b"/>
              <a:pathLst>
                <a:path w="64134" h="1874520">
                  <a:moveTo>
                    <a:pt x="64007" y="0"/>
                  </a:moveTo>
                  <a:lnTo>
                    <a:pt x="0" y="0"/>
                  </a:lnTo>
                  <a:lnTo>
                    <a:pt x="0" y="1874517"/>
                  </a:lnTo>
                  <a:lnTo>
                    <a:pt x="64007" y="1874517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3AB5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65707" y="3694052"/>
            <a:ext cx="3324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03</a:t>
            </a:r>
            <a:r>
              <a:rPr sz="1500" b="1" spc="34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EMERGING</a:t>
            </a:r>
            <a:r>
              <a:rPr sz="1500" b="1" spc="-4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SKILL</a:t>
            </a:r>
            <a:r>
              <a:rPr sz="1500" b="1" spc="-6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DETECTION</a:t>
            </a:r>
            <a:r>
              <a:rPr sz="1500" b="1" spc="-3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spc="-50" dirty="0">
                <a:solidFill>
                  <a:srgbClr val="F5F8FC"/>
                </a:solidFill>
                <a:latin typeface="Arial"/>
                <a:cs typeface="Arial"/>
              </a:rPr>
              <a:t>&amp; </a:t>
            </a:r>
            <a:r>
              <a:rPr sz="1500" b="1" spc="-10" dirty="0">
                <a:solidFill>
                  <a:srgbClr val="F5F8FC"/>
                </a:solidFill>
                <a:latin typeface="Arial"/>
                <a:cs typeface="Arial"/>
              </a:rPr>
              <a:t>FORECASTING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65707" y="4198133"/>
            <a:ext cx="46437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3800"/>
              </a:lnSpc>
              <a:spcBef>
                <a:spcPts val="100"/>
              </a:spcBef>
            </a:pP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Analyze</a:t>
            </a:r>
            <a:r>
              <a:rPr sz="1300" spc="37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changing</a:t>
            </a:r>
            <a:r>
              <a:rPr sz="1300" spc="37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skill</a:t>
            </a:r>
            <a:r>
              <a:rPr sz="1300" spc="37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trends,</a:t>
            </a:r>
            <a:r>
              <a:rPr sz="1300" spc="37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identify</a:t>
            </a:r>
            <a:r>
              <a:rPr sz="1300" spc="37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emerging</a:t>
            </a:r>
            <a:r>
              <a:rPr sz="1300" spc="37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skills,</a:t>
            </a:r>
            <a:r>
              <a:rPr sz="1300" spc="37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D2DDEA"/>
                </a:solidFill>
                <a:latin typeface="Arial MT"/>
                <a:cs typeface="Arial MT"/>
              </a:rPr>
              <a:t>and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forecast</a:t>
            </a:r>
            <a:r>
              <a:rPr sz="13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future</a:t>
            </a:r>
            <a:r>
              <a:rPr sz="13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skill</a:t>
            </a:r>
            <a:r>
              <a:rPr sz="13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demand</a:t>
            </a:r>
            <a:r>
              <a:rPr sz="13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using</a:t>
            </a:r>
            <a:r>
              <a:rPr sz="13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machine</a:t>
            </a:r>
            <a:r>
              <a:rPr sz="13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learning.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29337" y="3500578"/>
            <a:ext cx="5252085" cy="1960245"/>
            <a:chOff x="6129337" y="3500578"/>
            <a:chExt cx="5252085" cy="196024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9337" y="3500578"/>
              <a:ext cx="5252084" cy="196024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72200" y="3520440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59" h="1874520">
                  <a:moveTo>
                    <a:pt x="4853933" y="0"/>
                  </a:moveTo>
                  <a:lnTo>
                    <a:pt x="312426" y="0"/>
                  </a:lnTo>
                  <a:lnTo>
                    <a:pt x="266258" y="3387"/>
                  </a:lnTo>
                  <a:lnTo>
                    <a:pt x="222193" y="13227"/>
                  </a:lnTo>
                  <a:lnTo>
                    <a:pt x="180715" y="29037"/>
                  </a:lnTo>
                  <a:lnTo>
                    <a:pt x="142306" y="50333"/>
                  </a:lnTo>
                  <a:lnTo>
                    <a:pt x="107451" y="76632"/>
                  </a:lnTo>
                  <a:lnTo>
                    <a:pt x="76632" y="107451"/>
                  </a:lnTo>
                  <a:lnTo>
                    <a:pt x="50333" y="142306"/>
                  </a:lnTo>
                  <a:lnTo>
                    <a:pt x="29037" y="180715"/>
                  </a:lnTo>
                  <a:lnTo>
                    <a:pt x="13227" y="222193"/>
                  </a:lnTo>
                  <a:lnTo>
                    <a:pt x="3387" y="266258"/>
                  </a:lnTo>
                  <a:lnTo>
                    <a:pt x="0" y="312426"/>
                  </a:lnTo>
                  <a:lnTo>
                    <a:pt x="0" y="1562092"/>
                  </a:lnTo>
                  <a:lnTo>
                    <a:pt x="3387" y="1608260"/>
                  </a:lnTo>
                  <a:lnTo>
                    <a:pt x="13227" y="1652325"/>
                  </a:lnTo>
                  <a:lnTo>
                    <a:pt x="29037" y="1693803"/>
                  </a:lnTo>
                  <a:lnTo>
                    <a:pt x="50333" y="1732211"/>
                  </a:lnTo>
                  <a:lnTo>
                    <a:pt x="76632" y="1767067"/>
                  </a:lnTo>
                  <a:lnTo>
                    <a:pt x="107451" y="1797885"/>
                  </a:lnTo>
                  <a:lnTo>
                    <a:pt x="142306" y="1824184"/>
                  </a:lnTo>
                  <a:lnTo>
                    <a:pt x="180715" y="1845481"/>
                  </a:lnTo>
                  <a:lnTo>
                    <a:pt x="222193" y="1861290"/>
                  </a:lnTo>
                  <a:lnTo>
                    <a:pt x="266258" y="1871131"/>
                  </a:lnTo>
                  <a:lnTo>
                    <a:pt x="312426" y="1874518"/>
                  </a:lnTo>
                  <a:lnTo>
                    <a:pt x="4853933" y="1874518"/>
                  </a:lnTo>
                  <a:lnTo>
                    <a:pt x="4900101" y="1871131"/>
                  </a:lnTo>
                  <a:lnTo>
                    <a:pt x="4944166" y="1861290"/>
                  </a:lnTo>
                  <a:lnTo>
                    <a:pt x="4985644" y="1845481"/>
                  </a:lnTo>
                  <a:lnTo>
                    <a:pt x="5024053" y="1824184"/>
                  </a:lnTo>
                  <a:lnTo>
                    <a:pt x="5058908" y="1797885"/>
                  </a:lnTo>
                  <a:lnTo>
                    <a:pt x="5089727" y="1767067"/>
                  </a:lnTo>
                  <a:lnTo>
                    <a:pt x="5116026" y="1732211"/>
                  </a:lnTo>
                  <a:lnTo>
                    <a:pt x="5137322" y="1693803"/>
                  </a:lnTo>
                  <a:lnTo>
                    <a:pt x="5153132" y="1652325"/>
                  </a:lnTo>
                  <a:lnTo>
                    <a:pt x="5162972" y="1608260"/>
                  </a:lnTo>
                  <a:lnTo>
                    <a:pt x="5166359" y="1562092"/>
                  </a:lnTo>
                  <a:lnTo>
                    <a:pt x="5166359" y="312426"/>
                  </a:lnTo>
                  <a:lnTo>
                    <a:pt x="5162972" y="266258"/>
                  </a:lnTo>
                  <a:lnTo>
                    <a:pt x="5153132" y="222193"/>
                  </a:lnTo>
                  <a:lnTo>
                    <a:pt x="5137322" y="180715"/>
                  </a:lnTo>
                  <a:lnTo>
                    <a:pt x="5116026" y="142306"/>
                  </a:lnTo>
                  <a:lnTo>
                    <a:pt x="5089727" y="107451"/>
                  </a:lnTo>
                  <a:lnTo>
                    <a:pt x="5058908" y="76632"/>
                  </a:lnTo>
                  <a:lnTo>
                    <a:pt x="5024053" y="50333"/>
                  </a:lnTo>
                  <a:lnTo>
                    <a:pt x="4985644" y="29037"/>
                  </a:lnTo>
                  <a:lnTo>
                    <a:pt x="4944166" y="13227"/>
                  </a:lnTo>
                  <a:lnTo>
                    <a:pt x="4900101" y="3387"/>
                  </a:lnTo>
                  <a:lnTo>
                    <a:pt x="4853933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72200" y="3520440"/>
              <a:ext cx="5166360" cy="1874520"/>
            </a:xfrm>
            <a:custGeom>
              <a:avLst/>
              <a:gdLst/>
              <a:ahLst/>
              <a:cxnLst/>
              <a:rect l="l" t="t" r="r" b="b"/>
              <a:pathLst>
                <a:path w="5166359" h="1874520">
                  <a:moveTo>
                    <a:pt x="312426" y="0"/>
                  </a:moveTo>
                  <a:lnTo>
                    <a:pt x="4853933" y="0"/>
                  </a:lnTo>
                  <a:lnTo>
                    <a:pt x="4900101" y="3387"/>
                  </a:lnTo>
                  <a:lnTo>
                    <a:pt x="4944166" y="13227"/>
                  </a:lnTo>
                  <a:lnTo>
                    <a:pt x="4985644" y="29037"/>
                  </a:lnTo>
                  <a:lnTo>
                    <a:pt x="5024053" y="50333"/>
                  </a:lnTo>
                  <a:lnTo>
                    <a:pt x="5058908" y="76632"/>
                  </a:lnTo>
                  <a:lnTo>
                    <a:pt x="5089727" y="107451"/>
                  </a:lnTo>
                  <a:lnTo>
                    <a:pt x="5116026" y="142306"/>
                  </a:lnTo>
                  <a:lnTo>
                    <a:pt x="5137322" y="180715"/>
                  </a:lnTo>
                  <a:lnTo>
                    <a:pt x="5153132" y="222193"/>
                  </a:lnTo>
                  <a:lnTo>
                    <a:pt x="5162972" y="266258"/>
                  </a:lnTo>
                  <a:lnTo>
                    <a:pt x="5166360" y="312426"/>
                  </a:lnTo>
                  <a:lnTo>
                    <a:pt x="5166360" y="1562092"/>
                  </a:lnTo>
                  <a:lnTo>
                    <a:pt x="5162972" y="1608260"/>
                  </a:lnTo>
                  <a:lnTo>
                    <a:pt x="5153132" y="1652325"/>
                  </a:lnTo>
                  <a:lnTo>
                    <a:pt x="5137322" y="1693803"/>
                  </a:lnTo>
                  <a:lnTo>
                    <a:pt x="5116026" y="1732211"/>
                  </a:lnTo>
                  <a:lnTo>
                    <a:pt x="5089727" y="1767067"/>
                  </a:lnTo>
                  <a:lnTo>
                    <a:pt x="5058908" y="1797885"/>
                  </a:lnTo>
                  <a:lnTo>
                    <a:pt x="5024053" y="1824184"/>
                  </a:lnTo>
                  <a:lnTo>
                    <a:pt x="4985644" y="1845481"/>
                  </a:lnTo>
                  <a:lnTo>
                    <a:pt x="4944166" y="1861290"/>
                  </a:lnTo>
                  <a:lnTo>
                    <a:pt x="4900101" y="1871131"/>
                  </a:lnTo>
                  <a:lnTo>
                    <a:pt x="4853933" y="1874518"/>
                  </a:lnTo>
                  <a:lnTo>
                    <a:pt x="312426" y="1874518"/>
                  </a:lnTo>
                  <a:lnTo>
                    <a:pt x="266258" y="1871131"/>
                  </a:lnTo>
                  <a:lnTo>
                    <a:pt x="222193" y="1861290"/>
                  </a:lnTo>
                  <a:lnTo>
                    <a:pt x="180715" y="1845481"/>
                  </a:lnTo>
                  <a:lnTo>
                    <a:pt x="142306" y="1824184"/>
                  </a:lnTo>
                  <a:lnTo>
                    <a:pt x="107451" y="1797885"/>
                  </a:lnTo>
                  <a:lnTo>
                    <a:pt x="76632" y="1767067"/>
                  </a:lnTo>
                  <a:lnTo>
                    <a:pt x="50333" y="1732211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6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100" y="3505341"/>
              <a:ext cx="140208" cy="195071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172200" y="3520441"/>
              <a:ext cx="64135" cy="1874520"/>
            </a:xfrm>
            <a:custGeom>
              <a:avLst/>
              <a:gdLst/>
              <a:ahLst/>
              <a:cxnLst/>
              <a:rect l="l" t="t" r="r" b="b"/>
              <a:pathLst>
                <a:path w="64135" h="1874520">
                  <a:moveTo>
                    <a:pt x="64008" y="0"/>
                  </a:moveTo>
                  <a:lnTo>
                    <a:pt x="0" y="0"/>
                  </a:lnTo>
                  <a:lnTo>
                    <a:pt x="0" y="1874517"/>
                  </a:lnTo>
                  <a:lnTo>
                    <a:pt x="64008" y="1874517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0A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52108" y="3694052"/>
            <a:ext cx="3980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04</a:t>
            </a:r>
            <a:r>
              <a:rPr sz="1500" b="1" spc="39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5F8FC"/>
                </a:solidFill>
                <a:latin typeface="Arial"/>
                <a:cs typeface="Arial"/>
              </a:rPr>
              <a:t>SKILL-</a:t>
            </a: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GAP</a:t>
            </a:r>
            <a:r>
              <a:rPr sz="1500" b="1" spc="-4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&amp;</a:t>
            </a:r>
            <a:r>
              <a:rPr sz="1500" b="1" spc="-1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5F8FC"/>
                </a:solidFill>
                <a:latin typeface="Arial"/>
                <a:cs typeface="Arial"/>
              </a:rPr>
              <a:t>DECISION</a:t>
            </a:r>
            <a:r>
              <a:rPr sz="1500" b="1" spc="-10" dirty="0">
                <a:solidFill>
                  <a:srgbClr val="F5F8FC"/>
                </a:solidFill>
                <a:latin typeface="Arial"/>
                <a:cs typeface="Arial"/>
              </a:rPr>
              <a:t> INTELLIGENCE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5" name="object 35"/>
          <p:cNvSpPr txBox="1"/>
          <p:nvPr/>
        </p:nvSpPr>
        <p:spPr>
          <a:xfrm>
            <a:off x="6452108" y="4084449"/>
            <a:ext cx="46431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3800"/>
              </a:lnSpc>
              <a:spcBef>
                <a:spcPts val="100"/>
              </a:spcBef>
            </a:pP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Provide</a:t>
            </a:r>
            <a:r>
              <a:rPr sz="1300" spc="2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job-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market</a:t>
            </a:r>
            <a:r>
              <a:rPr sz="1300" spc="2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insights</a:t>
            </a:r>
            <a:r>
              <a:rPr sz="1300" spc="2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and</a:t>
            </a:r>
            <a:r>
              <a:rPr sz="1300" spc="2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role-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based</a:t>
            </a:r>
            <a:r>
              <a:rPr sz="1300" spc="2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skill-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gap</a:t>
            </a:r>
            <a:r>
              <a:rPr sz="1300" spc="2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analysis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through</a:t>
            </a:r>
            <a:r>
              <a:rPr sz="13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an</a:t>
            </a:r>
            <a:r>
              <a:rPr sz="13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interactive</a:t>
            </a:r>
            <a:r>
              <a:rPr sz="13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decision-</a:t>
            </a:r>
            <a:r>
              <a:rPr sz="1300" dirty="0">
                <a:solidFill>
                  <a:srgbClr val="D2DDEA"/>
                </a:solidFill>
                <a:latin typeface="Arial MT"/>
                <a:cs typeface="Arial MT"/>
              </a:rPr>
              <a:t>support</a:t>
            </a:r>
            <a:r>
              <a:rPr sz="13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2DDEA"/>
                </a:solidFill>
                <a:latin typeface="Arial MT"/>
                <a:cs typeface="Arial MT"/>
              </a:rPr>
              <a:t>platform.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LITERATURE</a:t>
            </a:r>
            <a:r>
              <a:rPr spc="-13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833884"/>
            <a:ext cx="28771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Skill</a:t>
            </a:r>
            <a:r>
              <a:rPr sz="1000" spc="1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extraction</a:t>
            </a:r>
            <a:r>
              <a:rPr sz="1000" spc="1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and</a:t>
            </a:r>
            <a:r>
              <a:rPr sz="1000" spc="1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large-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scale</a:t>
            </a:r>
            <a:r>
              <a:rPr sz="1000" spc="1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job-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market</a:t>
            </a:r>
            <a:r>
              <a:rPr sz="10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analysis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1185" y="1168856"/>
            <a:ext cx="10875645" cy="588645"/>
            <a:chOff x="341185" y="1168856"/>
            <a:chExt cx="10875645" cy="588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185" y="1168856"/>
              <a:ext cx="2097403" cy="5886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2865" y="1168856"/>
              <a:ext cx="1548764" cy="5886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95727" y="1188719"/>
              <a:ext cx="1463040" cy="502920"/>
            </a:xfrm>
            <a:custGeom>
              <a:avLst/>
              <a:gdLst/>
              <a:ahLst/>
              <a:cxnLst/>
              <a:rect l="l" t="t" r="r" b="b"/>
              <a:pathLst>
                <a:path w="1463039" h="502919">
                  <a:moveTo>
                    <a:pt x="1463039" y="0"/>
                  </a:moveTo>
                  <a:lnTo>
                    <a:pt x="0" y="0"/>
                  </a:lnTo>
                  <a:lnTo>
                    <a:pt x="0" y="502918"/>
                  </a:lnTo>
                  <a:lnTo>
                    <a:pt x="1463039" y="502918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1E3D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5905" y="1168856"/>
              <a:ext cx="2828924" cy="5886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58768" y="1188719"/>
              <a:ext cx="2743200" cy="502920"/>
            </a:xfrm>
            <a:custGeom>
              <a:avLst/>
              <a:gdLst/>
              <a:ahLst/>
              <a:cxnLst/>
              <a:rect l="l" t="t" r="r" b="b"/>
              <a:pathLst>
                <a:path w="2743200" h="502919">
                  <a:moveTo>
                    <a:pt x="2743199" y="0"/>
                  </a:moveTo>
                  <a:lnTo>
                    <a:pt x="0" y="0"/>
                  </a:lnTo>
                  <a:lnTo>
                    <a:pt x="0" y="502918"/>
                  </a:lnTo>
                  <a:lnTo>
                    <a:pt x="2743199" y="502918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E3D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9105" y="1168856"/>
              <a:ext cx="2188845" cy="58864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01968" y="1188719"/>
              <a:ext cx="2103120" cy="502920"/>
            </a:xfrm>
            <a:custGeom>
              <a:avLst/>
              <a:gdLst/>
              <a:ahLst/>
              <a:cxnLst/>
              <a:rect l="l" t="t" r="r" b="b"/>
              <a:pathLst>
                <a:path w="2103120" h="502919">
                  <a:moveTo>
                    <a:pt x="2103120" y="0"/>
                  </a:moveTo>
                  <a:lnTo>
                    <a:pt x="0" y="0"/>
                  </a:lnTo>
                  <a:lnTo>
                    <a:pt x="0" y="502918"/>
                  </a:lnTo>
                  <a:lnTo>
                    <a:pt x="2103120" y="502918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E3D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62225" y="1168856"/>
              <a:ext cx="2554604" cy="5886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705088" y="1188719"/>
              <a:ext cx="2468880" cy="502920"/>
            </a:xfrm>
            <a:custGeom>
              <a:avLst/>
              <a:gdLst/>
              <a:ahLst/>
              <a:cxnLst/>
              <a:rect l="l" t="t" r="r" b="b"/>
              <a:pathLst>
                <a:path w="2468879" h="502919">
                  <a:moveTo>
                    <a:pt x="2468879" y="0"/>
                  </a:moveTo>
                  <a:lnTo>
                    <a:pt x="0" y="0"/>
                  </a:lnTo>
                  <a:lnTo>
                    <a:pt x="0" y="502918"/>
                  </a:lnTo>
                  <a:lnTo>
                    <a:pt x="2468879" y="502918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1E3D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79285" y="1183957"/>
          <a:ext cx="10789919" cy="5022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284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spc="-2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PAPER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  <a:solidFill>
                      <a:srgbClr val="1E3D64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sz="900" b="1" spc="-5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b="1" spc="-1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LINK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CORE</a:t>
                      </a:r>
                      <a:r>
                        <a:rPr sz="900" b="1" spc="-15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CONTRIBUTION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spc="-1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DRAWBACK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FUTURE</a:t>
                      </a:r>
                      <a:r>
                        <a:rPr sz="900" b="1" spc="-35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WORK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341185" y="1717497"/>
            <a:ext cx="10875645" cy="1548765"/>
            <a:chOff x="341185" y="1717497"/>
            <a:chExt cx="10875645" cy="154876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185" y="1717497"/>
              <a:ext cx="2097403" cy="15487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2865" y="1717497"/>
              <a:ext cx="1548764" cy="154876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95727" y="1737359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39" h="1463039">
                  <a:moveTo>
                    <a:pt x="1463039" y="0"/>
                  </a:moveTo>
                  <a:lnTo>
                    <a:pt x="0" y="0"/>
                  </a:lnTo>
                  <a:lnTo>
                    <a:pt x="0" y="1463039"/>
                  </a:lnTo>
                  <a:lnTo>
                    <a:pt x="1463039" y="1463039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5905" y="1717497"/>
              <a:ext cx="2828924" cy="15487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858768" y="1737359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3199" y="0"/>
                  </a:moveTo>
                  <a:lnTo>
                    <a:pt x="0" y="0"/>
                  </a:lnTo>
                  <a:lnTo>
                    <a:pt x="0" y="1463039"/>
                  </a:lnTo>
                  <a:lnTo>
                    <a:pt x="2743199" y="1463039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9105" y="1717497"/>
              <a:ext cx="2188845" cy="154876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601968" y="1737359"/>
              <a:ext cx="2103120" cy="1463040"/>
            </a:xfrm>
            <a:custGeom>
              <a:avLst/>
              <a:gdLst/>
              <a:ahLst/>
              <a:cxnLst/>
              <a:rect l="l" t="t" r="r" b="b"/>
              <a:pathLst>
                <a:path w="2103120" h="1463039">
                  <a:moveTo>
                    <a:pt x="2103120" y="0"/>
                  </a:moveTo>
                  <a:lnTo>
                    <a:pt x="0" y="0"/>
                  </a:lnTo>
                  <a:lnTo>
                    <a:pt x="0" y="1463039"/>
                  </a:lnTo>
                  <a:lnTo>
                    <a:pt x="2103120" y="1463039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62225" y="1717497"/>
              <a:ext cx="2554604" cy="1548764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8705088" y="1737360"/>
            <a:ext cx="2468880" cy="1463040"/>
          </a:xfrm>
          <a:custGeom>
            <a:avLst/>
            <a:gdLst/>
            <a:ahLst/>
            <a:cxnLst/>
            <a:rect l="l" t="t" r="r" b="b"/>
            <a:pathLst>
              <a:path w="2468879" h="1463039">
                <a:moveTo>
                  <a:pt x="2468879" y="0"/>
                </a:moveTo>
                <a:lnTo>
                  <a:pt x="0" y="0"/>
                </a:lnTo>
                <a:lnTo>
                  <a:pt x="0" y="1463039"/>
                </a:lnTo>
                <a:lnTo>
                  <a:pt x="2468879" y="1463039"/>
                </a:lnTo>
                <a:lnTo>
                  <a:pt x="2468879" y="0"/>
                </a:lnTo>
                <a:close/>
              </a:path>
            </a:pathLst>
          </a:custGeom>
          <a:solidFill>
            <a:srgbClr val="1222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79285" y="1732597"/>
          <a:ext cx="1078991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marL="154940" marR="279400">
                        <a:lnSpc>
                          <a:spcPct val="101899"/>
                        </a:lnSpc>
                        <a:spcBef>
                          <a:spcPts val="835"/>
                        </a:spcBef>
                      </a:pP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Deep</a:t>
                      </a:r>
                      <a:r>
                        <a:rPr sz="900" b="1" spc="4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Learning-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based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Computational</a:t>
                      </a:r>
                      <a:r>
                        <a:rPr sz="900" b="1" spc="-3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Job</a:t>
                      </a:r>
                      <a:r>
                        <a:rPr sz="900" b="1" spc="-3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Market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Analysis:</a:t>
                      </a:r>
                      <a:r>
                        <a:rPr sz="900" b="1" spc="-4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900" b="1" spc="-4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Survey</a:t>
                      </a:r>
                      <a:r>
                        <a:rPr sz="900" b="1" spc="-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Skill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Extraction</a:t>
                      </a:r>
                      <a:r>
                        <a:rPr sz="900" b="1" spc="-3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900" b="1" spc="-2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Classification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Job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Postings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  <a:solidFill>
                      <a:srgbClr val="122237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Survey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154940" marR="631190">
                        <a:lnSpc>
                          <a:spcPct val="104200"/>
                        </a:lnSpc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ACL</a:t>
                      </a:r>
                      <a:r>
                        <a:rPr sz="800" spc="-7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Anthology 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2024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4235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8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Survey</a:t>
                      </a:r>
                      <a:r>
                        <a:rPr sz="800" spc="-4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Paper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Open</a:t>
                      </a:r>
                      <a:r>
                        <a:rPr sz="800" b="1" u="sng" spc="-3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Paper</a:t>
                      </a:r>
                      <a:r>
                        <a:rPr sz="800" b="1" u="sng" spc="-2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u="sng" spc="14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↗</a:t>
                      </a:r>
                      <a:endParaRPr sz="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Reviews</a:t>
                      </a:r>
                      <a:r>
                        <a:rPr sz="1000" spc="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deep-learning</a:t>
                      </a:r>
                      <a:r>
                        <a:rPr sz="1000" spc="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methods,</a:t>
                      </a:r>
                      <a:r>
                        <a:rPr sz="1000" spc="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datasets, </a:t>
                      </a:r>
                      <a:r>
                        <a:rPr sz="1000" spc="5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13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terminology</a:t>
                      </a:r>
                      <a:r>
                        <a:rPr sz="1000" spc="14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000" spc="13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extracting</a:t>
                      </a:r>
                      <a:r>
                        <a:rPr sz="1000" spc="14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3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classifying</a:t>
                      </a:r>
                      <a:r>
                        <a:rPr sz="10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skills</a:t>
                      </a:r>
                      <a:r>
                        <a:rPr sz="1000" spc="-1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sz="1000" spc="-1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r>
                        <a:rPr sz="1000" spc="-1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postings.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spc="6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Reviews</a:t>
                      </a:r>
                      <a:r>
                        <a:rPr sz="1000" spc="13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existing</a:t>
                      </a:r>
                      <a:r>
                        <a:rPr sz="1000" spc="13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5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methods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rather</a:t>
                      </a:r>
                      <a:r>
                        <a:rPr sz="1000" spc="10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than</a:t>
                      </a:r>
                      <a:r>
                        <a:rPr sz="1000" spc="10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building</a:t>
                      </a:r>
                      <a:r>
                        <a:rPr sz="1000" spc="10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10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complete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end-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to-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end</a:t>
                      </a:r>
                      <a:r>
                        <a:rPr sz="1000" spc="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platform.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33985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spc="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Integrate</a:t>
                      </a:r>
                      <a:r>
                        <a:rPr sz="1000" spc="1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8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</a:t>
                      </a:r>
                      <a:r>
                        <a:rPr sz="1000" spc="1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extraction</a:t>
                      </a:r>
                      <a:r>
                        <a:rPr sz="1000" spc="15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6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000" spc="7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ingestion,</a:t>
                      </a:r>
                      <a:r>
                        <a:rPr sz="1000" spc="14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7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scalable</a:t>
                      </a:r>
                      <a:r>
                        <a:rPr sz="1000" spc="14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7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processing,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storage,</a:t>
                      </a:r>
                      <a:r>
                        <a:rPr sz="1000" spc="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1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analytics.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object 26"/>
          <p:cNvGrpSpPr/>
          <p:nvPr/>
        </p:nvGrpSpPr>
        <p:grpSpPr>
          <a:xfrm>
            <a:off x="341185" y="3290265"/>
            <a:ext cx="10875645" cy="1548765"/>
            <a:chOff x="341185" y="3290265"/>
            <a:chExt cx="10875645" cy="154876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185" y="3290265"/>
              <a:ext cx="2097403" cy="154876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2865" y="3290265"/>
              <a:ext cx="1548764" cy="154876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395727" y="3310127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39" h="1463039">
                  <a:moveTo>
                    <a:pt x="1463039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1463039" y="1463040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5905" y="3290265"/>
              <a:ext cx="2828924" cy="154876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858768" y="3310127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3199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2743199" y="1463040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9105" y="3290265"/>
              <a:ext cx="2188845" cy="154876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601968" y="3310127"/>
              <a:ext cx="2103120" cy="1463040"/>
            </a:xfrm>
            <a:custGeom>
              <a:avLst/>
              <a:gdLst/>
              <a:ahLst/>
              <a:cxnLst/>
              <a:rect l="l" t="t" r="r" b="b"/>
              <a:pathLst>
                <a:path w="2103120" h="1463039">
                  <a:moveTo>
                    <a:pt x="2103120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2103120" y="1463040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62225" y="3290265"/>
              <a:ext cx="2554604" cy="1548764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8705088" y="3310128"/>
            <a:ext cx="2468880" cy="1463040"/>
          </a:xfrm>
          <a:custGeom>
            <a:avLst/>
            <a:gdLst/>
            <a:ahLst/>
            <a:cxnLst/>
            <a:rect l="l" t="t" r="r" b="b"/>
            <a:pathLst>
              <a:path w="2468879" h="1463039">
                <a:moveTo>
                  <a:pt x="2468879" y="0"/>
                </a:moveTo>
                <a:lnTo>
                  <a:pt x="0" y="0"/>
                </a:lnTo>
                <a:lnTo>
                  <a:pt x="0" y="1463040"/>
                </a:lnTo>
                <a:lnTo>
                  <a:pt x="2468879" y="1463040"/>
                </a:lnTo>
                <a:lnTo>
                  <a:pt x="2468879" y="0"/>
                </a:lnTo>
                <a:close/>
              </a:path>
            </a:pathLst>
          </a:custGeom>
          <a:solidFill>
            <a:srgbClr val="1222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79285" y="3305365"/>
          <a:ext cx="10789919" cy="146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154940" marR="254000" algn="just">
                        <a:lnSpc>
                          <a:spcPct val="101899"/>
                        </a:lnSpc>
                        <a:spcBef>
                          <a:spcPts val="835"/>
                        </a:spcBef>
                      </a:pP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Rethinking</a:t>
                      </a:r>
                      <a:r>
                        <a:rPr sz="900" b="1" spc="-3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Skill</a:t>
                      </a:r>
                      <a:r>
                        <a:rPr sz="900" b="1" spc="-3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Extraction</a:t>
                      </a:r>
                      <a:r>
                        <a:rPr sz="900" b="1" spc="-2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in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Job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Domain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using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Large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Language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Models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solidFill>
                      <a:srgbClr val="12223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54940" marR="774700">
                        <a:lnSpc>
                          <a:spcPct val="104200"/>
                        </a:lnSpc>
                        <a:spcBef>
                          <a:spcPts val="840"/>
                        </a:spcBef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Conference NLP4HR 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2024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Conference</a:t>
                      </a:r>
                      <a:r>
                        <a:rPr sz="800" spc="3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Paper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Open</a:t>
                      </a:r>
                      <a:r>
                        <a:rPr sz="800" b="1" u="sng" spc="-3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Paper</a:t>
                      </a:r>
                      <a:r>
                        <a:rPr sz="800" b="1" u="sng" spc="-2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u="sng" spc="14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↗</a:t>
                      </a:r>
                      <a:endParaRPr sz="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Explores</a:t>
                      </a:r>
                      <a:r>
                        <a:rPr sz="1000" spc="14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few-shot</a:t>
                      </a:r>
                      <a:r>
                        <a:rPr sz="1000" spc="1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1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in-context</a:t>
                      </a:r>
                      <a:r>
                        <a:rPr sz="1000" spc="1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-2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LLM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approaches</a:t>
                      </a:r>
                      <a:r>
                        <a:rPr sz="1000" spc="47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000" spc="47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extracting</a:t>
                      </a:r>
                      <a:r>
                        <a:rPr sz="1000" spc="47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complex</a:t>
                      </a:r>
                      <a:r>
                        <a:rPr sz="1000" spc="47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 marR="147320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r>
                        <a:rPr sz="1000" spc="4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depends</a:t>
                      </a:r>
                      <a:r>
                        <a:rPr sz="1000" spc="40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1000" spc="40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prompting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strategy.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 marR="147320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Evaluate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practical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NLP/LLM</a:t>
                      </a:r>
                      <a:r>
                        <a:rPr sz="1000" spc="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extraction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within a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scalable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pipeline.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B w="9525">
                      <a:solidFill>
                        <a:srgbClr val="2B3F59"/>
                      </a:solidFill>
                      <a:prstDash val="solid"/>
                    </a:lnB>
                    <a:solidFill>
                      <a:srgbClr val="12223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68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ambiguous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mentions.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7" name="object 37"/>
          <p:cNvGrpSpPr/>
          <p:nvPr/>
        </p:nvGrpSpPr>
        <p:grpSpPr>
          <a:xfrm>
            <a:off x="341185" y="4863033"/>
            <a:ext cx="10875645" cy="1548765"/>
            <a:chOff x="341185" y="4863033"/>
            <a:chExt cx="10875645" cy="1548765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185" y="4863033"/>
              <a:ext cx="2097403" cy="15487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2865" y="4863033"/>
              <a:ext cx="1548764" cy="15487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395727" y="4882896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39" h="1463039">
                  <a:moveTo>
                    <a:pt x="1463039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1463039" y="1463040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5905" y="4863033"/>
              <a:ext cx="2828924" cy="154876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58768" y="4882896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3199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2743199" y="1463040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9105" y="4863033"/>
              <a:ext cx="2188845" cy="154876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601968" y="4882896"/>
              <a:ext cx="2103120" cy="1463040"/>
            </a:xfrm>
            <a:custGeom>
              <a:avLst/>
              <a:gdLst/>
              <a:ahLst/>
              <a:cxnLst/>
              <a:rect l="l" t="t" r="r" b="b"/>
              <a:pathLst>
                <a:path w="2103120" h="1463039">
                  <a:moveTo>
                    <a:pt x="2103120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2103120" y="1463040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62225" y="4863033"/>
              <a:ext cx="2554604" cy="1548764"/>
            </a:xfrm>
            <a:prstGeom prst="rect">
              <a:avLst/>
            </a:prstGeom>
          </p:spPr>
        </p:pic>
      </p:grpSp>
      <p:sp>
        <p:nvSpPr>
          <p:cNvPr id="46" name="object 46"/>
          <p:cNvSpPr/>
          <p:nvPr/>
        </p:nvSpPr>
        <p:spPr>
          <a:xfrm>
            <a:off x="8705088" y="4882896"/>
            <a:ext cx="2468880" cy="1463040"/>
          </a:xfrm>
          <a:custGeom>
            <a:avLst/>
            <a:gdLst/>
            <a:ahLst/>
            <a:cxnLst/>
            <a:rect l="l" t="t" r="r" b="b"/>
            <a:pathLst>
              <a:path w="2468879" h="1463039">
                <a:moveTo>
                  <a:pt x="2468879" y="0"/>
                </a:moveTo>
                <a:lnTo>
                  <a:pt x="0" y="0"/>
                </a:lnTo>
                <a:lnTo>
                  <a:pt x="0" y="1463040"/>
                </a:lnTo>
                <a:lnTo>
                  <a:pt x="2468879" y="1463040"/>
                </a:lnTo>
                <a:lnTo>
                  <a:pt x="2468879" y="0"/>
                </a:lnTo>
                <a:close/>
              </a:path>
            </a:pathLst>
          </a:custGeom>
          <a:solidFill>
            <a:srgbClr val="1222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379285" y="4878133"/>
          <a:ext cx="10789919" cy="1478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marL="154940" marR="147955">
                        <a:lnSpc>
                          <a:spcPct val="101899"/>
                        </a:lnSpc>
                        <a:spcBef>
                          <a:spcPts val="835"/>
                        </a:spcBef>
                      </a:pP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Skill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Requirements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Job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Advertisements:</a:t>
                      </a:r>
                      <a:r>
                        <a:rPr sz="900" b="1" spc="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900" b="1" spc="2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Comparison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3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Skill-Categorization</a:t>
                      </a:r>
                      <a:r>
                        <a:rPr sz="900" b="1" spc="50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Methods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Based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Wage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Regressions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  <a:solidFill>
                      <a:srgbClr val="122237"/>
                    </a:solidFill>
                  </a:tcPr>
                </a:tc>
                <a:tc>
                  <a:txBody>
                    <a:bodyPr/>
                    <a:lstStyle/>
                    <a:p>
                      <a:pPr marL="154940" marR="560070">
                        <a:lnSpc>
                          <a:spcPct val="104200"/>
                        </a:lnSpc>
                        <a:spcBef>
                          <a:spcPts val="840"/>
                        </a:spcBef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Research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Article </a:t>
                      </a:r>
                      <a:r>
                        <a:rPr sz="800" spc="-2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IPM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2023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3613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Research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Article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Open</a:t>
                      </a:r>
                      <a:r>
                        <a:rPr sz="800" b="1" u="sng" spc="-3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Paper</a:t>
                      </a:r>
                      <a:r>
                        <a:rPr sz="800" b="1" u="sng" spc="-2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u="sng" spc="14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↗</a:t>
                      </a:r>
                      <a:endParaRPr sz="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Compares</a:t>
                      </a:r>
                      <a:r>
                        <a:rPr sz="1000" spc="409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dictionary</a:t>
                      </a:r>
                      <a:r>
                        <a:rPr sz="1000" spc="409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409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topic-modeling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sz="1000" spc="5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r>
                        <a:rPr sz="1000" spc="5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l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l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sz="1000" spc="5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j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sz="1000" spc="-9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advertisements.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Some</a:t>
                      </a:r>
                      <a:r>
                        <a:rPr sz="1000" spc="2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topic-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sz="1000" spc="27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outputs</a:t>
                      </a:r>
                      <a:r>
                        <a:rPr sz="1000" spc="27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are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difficult</a:t>
                      </a:r>
                      <a:r>
                        <a:rPr sz="1000" spc="-1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interpret.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314960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Combine scalable extraction </a:t>
                      </a:r>
                      <a:r>
                        <a:rPr sz="10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normalization and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interpretable </a:t>
                      </a:r>
                      <a:r>
                        <a:rPr sz="10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intelligence.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13105">
                        <a:lnSpc>
                          <a:spcPts val="440"/>
                        </a:lnSpc>
                      </a:pPr>
                      <a:r>
                        <a:rPr sz="700" spc="170" dirty="0">
                          <a:solidFill>
                            <a:srgbClr val="97A9C1"/>
                          </a:solidFill>
                          <a:latin typeface="Lucida Sans Unicode"/>
                          <a:cs typeface="Lucida Sans Unicode"/>
                        </a:rPr>
                        <a:t>↗</a:t>
                      </a:r>
                      <a:r>
                        <a:rPr sz="700" spc="-35" dirty="0">
                          <a:solidFill>
                            <a:srgbClr val="97A9C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700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Click</a:t>
                      </a:r>
                      <a:r>
                        <a:rPr sz="700" spc="-5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“Open</a:t>
                      </a:r>
                      <a:r>
                        <a:rPr sz="700" spc="-5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Paper”</a:t>
                      </a:r>
                      <a:r>
                        <a:rPr sz="700" spc="-5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700" spc="-5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700" spc="-5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solidFill>
                            <a:srgbClr val="97A9C1"/>
                          </a:solidFill>
                          <a:latin typeface="Arial MT"/>
                          <a:cs typeface="Arial MT"/>
                        </a:rPr>
                        <a:t>source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LITERATURE</a:t>
            </a:r>
            <a:r>
              <a:rPr spc="-13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833884"/>
            <a:ext cx="31883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Labour-market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intelligence and</a:t>
            </a:r>
            <a:r>
              <a:rPr sz="1000" spc="-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advanced skill</a:t>
            </a:r>
            <a:r>
              <a:rPr sz="1000" spc="-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extraction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1185" y="1168856"/>
            <a:ext cx="10875645" cy="588645"/>
            <a:chOff x="341185" y="1168856"/>
            <a:chExt cx="10875645" cy="588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185" y="1168856"/>
              <a:ext cx="2097403" cy="5886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2865" y="1168856"/>
              <a:ext cx="1548764" cy="5886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95727" y="1188719"/>
              <a:ext cx="1463040" cy="502920"/>
            </a:xfrm>
            <a:custGeom>
              <a:avLst/>
              <a:gdLst/>
              <a:ahLst/>
              <a:cxnLst/>
              <a:rect l="l" t="t" r="r" b="b"/>
              <a:pathLst>
                <a:path w="1463039" h="502919">
                  <a:moveTo>
                    <a:pt x="1463039" y="0"/>
                  </a:moveTo>
                  <a:lnTo>
                    <a:pt x="0" y="0"/>
                  </a:lnTo>
                  <a:lnTo>
                    <a:pt x="0" y="502918"/>
                  </a:lnTo>
                  <a:lnTo>
                    <a:pt x="1463039" y="502918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1E3D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5905" y="1168856"/>
              <a:ext cx="2828924" cy="5886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58768" y="1188719"/>
              <a:ext cx="2743200" cy="502920"/>
            </a:xfrm>
            <a:custGeom>
              <a:avLst/>
              <a:gdLst/>
              <a:ahLst/>
              <a:cxnLst/>
              <a:rect l="l" t="t" r="r" b="b"/>
              <a:pathLst>
                <a:path w="2743200" h="502919">
                  <a:moveTo>
                    <a:pt x="2743199" y="0"/>
                  </a:moveTo>
                  <a:lnTo>
                    <a:pt x="0" y="0"/>
                  </a:lnTo>
                  <a:lnTo>
                    <a:pt x="0" y="502918"/>
                  </a:lnTo>
                  <a:lnTo>
                    <a:pt x="2743199" y="502918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E3D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9105" y="1168856"/>
              <a:ext cx="2188845" cy="58864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01968" y="1188719"/>
              <a:ext cx="2103120" cy="502920"/>
            </a:xfrm>
            <a:custGeom>
              <a:avLst/>
              <a:gdLst/>
              <a:ahLst/>
              <a:cxnLst/>
              <a:rect l="l" t="t" r="r" b="b"/>
              <a:pathLst>
                <a:path w="2103120" h="502919">
                  <a:moveTo>
                    <a:pt x="2103120" y="0"/>
                  </a:moveTo>
                  <a:lnTo>
                    <a:pt x="0" y="0"/>
                  </a:lnTo>
                  <a:lnTo>
                    <a:pt x="0" y="502918"/>
                  </a:lnTo>
                  <a:lnTo>
                    <a:pt x="2103120" y="502918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E3D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62225" y="1168856"/>
              <a:ext cx="2554604" cy="5886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705088" y="1188719"/>
              <a:ext cx="2468880" cy="502920"/>
            </a:xfrm>
            <a:custGeom>
              <a:avLst/>
              <a:gdLst/>
              <a:ahLst/>
              <a:cxnLst/>
              <a:rect l="l" t="t" r="r" b="b"/>
              <a:pathLst>
                <a:path w="2468879" h="502919">
                  <a:moveTo>
                    <a:pt x="2468879" y="0"/>
                  </a:moveTo>
                  <a:lnTo>
                    <a:pt x="0" y="0"/>
                  </a:lnTo>
                  <a:lnTo>
                    <a:pt x="0" y="502918"/>
                  </a:lnTo>
                  <a:lnTo>
                    <a:pt x="2468879" y="502918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1E3D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79285" y="1183957"/>
          <a:ext cx="10789919" cy="5022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284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spc="-2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PAPER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  <a:solidFill>
                      <a:srgbClr val="1E3D64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sz="900" b="1" spc="-5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b="1" spc="-1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LINK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CORE</a:t>
                      </a:r>
                      <a:r>
                        <a:rPr sz="900" b="1" spc="-15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CONTRIBUTION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spc="-1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DRAWBACK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900" b="1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FUTURE</a:t>
                      </a:r>
                      <a:r>
                        <a:rPr sz="900" b="1" spc="-35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2AC4D2"/>
                          </a:solidFill>
                          <a:latin typeface="Arial"/>
                          <a:cs typeface="Arial"/>
                        </a:rPr>
                        <a:t>WORK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9525">
                      <a:solidFill>
                        <a:srgbClr val="3A5372"/>
                      </a:solidFill>
                      <a:prstDash val="solid"/>
                    </a:lnL>
                    <a:lnR w="9525">
                      <a:solidFill>
                        <a:srgbClr val="3A5372"/>
                      </a:solidFill>
                      <a:prstDash val="solid"/>
                    </a:lnR>
                    <a:lnT w="9525">
                      <a:solidFill>
                        <a:srgbClr val="3A5372"/>
                      </a:solidFill>
                      <a:prstDash val="solid"/>
                    </a:lnT>
                    <a:lnB w="9525">
                      <a:solidFill>
                        <a:srgbClr val="3A537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341185" y="1717497"/>
            <a:ext cx="10875645" cy="1548765"/>
            <a:chOff x="341185" y="1717497"/>
            <a:chExt cx="10875645" cy="154876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185" y="1717497"/>
              <a:ext cx="2097403" cy="15487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2865" y="1717497"/>
              <a:ext cx="1548764" cy="154876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95727" y="1737359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39" h="1463039">
                  <a:moveTo>
                    <a:pt x="1463039" y="0"/>
                  </a:moveTo>
                  <a:lnTo>
                    <a:pt x="0" y="0"/>
                  </a:lnTo>
                  <a:lnTo>
                    <a:pt x="0" y="1463039"/>
                  </a:lnTo>
                  <a:lnTo>
                    <a:pt x="1463039" y="1463039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5905" y="1717497"/>
              <a:ext cx="2828924" cy="15487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858768" y="1737359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3199" y="0"/>
                  </a:moveTo>
                  <a:lnTo>
                    <a:pt x="0" y="0"/>
                  </a:lnTo>
                  <a:lnTo>
                    <a:pt x="0" y="1463039"/>
                  </a:lnTo>
                  <a:lnTo>
                    <a:pt x="2743199" y="1463039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9105" y="1717497"/>
              <a:ext cx="2188845" cy="154876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601968" y="1737359"/>
              <a:ext cx="2103120" cy="1463040"/>
            </a:xfrm>
            <a:custGeom>
              <a:avLst/>
              <a:gdLst/>
              <a:ahLst/>
              <a:cxnLst/>
              <a:rect l="l" t="t" r="r" b="b"/>
              <a:pathLst>
                <a:path w="2103120" h="1463039">
                  <a:moveTo>
                    <a:pt x="2103120" y="0"/>
                  </a:moveTo>
                  <a:lnTo>
                    <a:pt x="0" y="0"/>
                  </a:lnTo>
                  <a:lnTo>
                    <a:pt x="0" y="1463039"/>
                  </a:lnTo>
                  <a:lnTo>
                    <a:pt x="2103120" y="1463039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62225" y="1717497"/>
              <a:ext cx="2554604" cy="1548764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8705088" y="1737360"/>
            <a:ext cx="2468880" cy="1463040"/>
          </a:xfrm>
          <a:custGeom>
            <a:avLst/>
            <a:gdLst/>
            <a:ahLst/>
            <a:cxnLst/>
            <a:rect l="l" t="t" r="r" b="b"/>
            <a:pathLst>
              <a:path w="2468879" h="1463039">
                <a:moveTo>
                  <a:pt x="2468879" y="0"/>
                </a:moveTo>
                <a:lnTo>
                  <a:pt x="0" y="0"/>
                </a:lnTo>
                <a:lnTo>
                  <a:pt x="0" y="1463039"/>
                </a:lnTo>
                <a:lnTo>
                  <a:pt x="2468879" y="1463039"/>
                </a:lnTo>
                <a:lnTo>
                  <a:pt x="2468879" y="0"/>
                </a:lnTo>
                <a:close/>
              </a:path>
            </a:pathLst>
          </a:custGeom>
          <a:solidFill>
            <a:srgbClr val="1222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79285" y="1732597"/>
          <a:ext cx="1078991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marL="154940" marR="368935">
                        <a:lnSpc>
                          <a:spcPct val="101899"/>
                        </a:lnSpc>
                        <a:spcBef>
                          <a:spcPts val="835"/>
                        </a:spcBef>
                      </a:pP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Insight: Transforming</a:t>
                      </a:r>
                      <a:r>
                        <a:rPr sz="900" b="1" spc="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Online</a:t>
                      </a:r>
                      <a:r>
                        <a:rPr sz="900" b="1" spc="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Job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Postings into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Labor-Market Intelligence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  <a:solidFill>
                      <a:srgbClr val="122237"/>
                    </a:solidFill>
                  </a:tcPr>
                </a:tc>
                <a:tc>
                  <a:txBody>
                    <a:bodyPr/>
                    <a:lstStyle/>
                    <a:p>
                      <a:pPr marL="154940" marR="560070">
                        <a:lnSpc>
                          <a:spcPct val="104200"/>
                        </a:lnSpc>
                        <a:spcBef>
                          <a:spcPts val="840"/>
                        </a:spcBef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Research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Article Information</a:t>
                      </a:r>
                      <a:r>
                        <a:rPr sz="800" spc="5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2024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3613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Research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Article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Open</a:t>
                      </a:r>
                      <a:r>
                        <a:rPr sz="800" b="1" u="sng" spc="-3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Paper</a:t>
                      </a:r>
                      <a:r>
                        <a:rPr sz="800" b="1" u="sng" spc="-2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u="sng" spc="14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↗</a:t>
                      </a:r>
                      <a:endParaRPr sz="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Transforms online job postings into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labour-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market</a:t>
                      </a:r>
                      <a:r>
                        <a:rPr sz="1000" spc="229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intelligence</a:t>
                      </a:r>
                      <a:r>
                        <a:rPr sz="1000" spc="23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sz="1000" spc="23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NLP-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based</a:t>
                      </a:r>
                      <a:r>
                        <a:rPr sz="1000" spc="229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extraction.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Focuses</a:t>
                      </a:r>
                      <a:r>
                        <a:rPr sz="1000" spc="204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more</a:t>
                      </a:r>
                      <a:r>
                        <a:rPr sz="1000" spc="2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1000" spc="2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analysis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methodology</a:t>
                      </a:r>
                      <a:r>
                        <a:rPr sz="1000" spc="34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than</a:t>
                      </a:r>
                      <a:r>
                        <a:rPr sz="1000" spc="34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34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complete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automated</a:t>
                      </a:r>
                      <a:r>
                        <a:rPr sz="1000" spc="2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real-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time</a:t>
                      </a:r>
                      <a:r>
                        <a:rPr sz="1000" spc="3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platform.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4145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Extend</a:t>
                      </a:r>
                      <a:r>
                        <a:rPr sz="1000" spc="17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18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automated</a:t>
                      </a:r>
                      <a:r>
                        <a:rPr sz="1000" spc="1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ingestion,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scalable processing,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forecasting.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object 26"/>
          <p:cNvGrpSpPr/>
          <p:nvPr/>
        </p:nvGrpSpPr>
        <p:grpSpPr>
          <a:xfrm>
            <a:off x="341185" y="3290265"/>
            <a:ext cx="10875645" cy="1548765"/>
            <a:chOff x="341185" y="3290265"/>
            <a:chExt cx="10875645" cy="154876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185" y="3290265"/>
              <a:ext cx="2097403" cy="154876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2865" y="3290265"/>
              <a:ext cx="1548764" cy="154876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395727" y="3310127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39" h="1463039">
                  <a:moveTo>
                    <a:pt x="1463039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1463039" y="1463040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5905" y="3290265"/>
              <a:ext cx="2828924" cy="154876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858768" y="3310127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3199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2743199" y="1463040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9105" y="3290265"/>
              <a:ext cx="2188845" cy="154876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601968" y="3310127"/>
              <a:ext cx="2103120" cy="1463040"/>
            </a:xfrm>
            <a:custGeom>
              <a:avLst/>
              <a:gdLst/>
              <a:ahLst/>
              <a:cxnLst/>
              <a:rect l="l" t="t" r="r" b="b"/>
              <a:pathLst>
                <a:path w="2103120" h="1463039">
                  <a:moveTo>
                    <a:pt x="2103120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2103120" y="1463040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62225" y="3290265"/>
              <a:ext cx="2554604" cy="1548764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8705088" y="3310128"/>
            <a:ext cx="2468880" cy="1463040"/>
          </a:xfrm>
          <a:custGeom>
            <a:avLst/>
            <a:gdLst/>
            <a:ahLst/>
            <a:cxnLst/>
            <a:rect l="l" t="t" r="r" b="b"/>
            <a:pathLst>
              <a:path w="2468879" h="1463039">
                <a:moveTo>
                  <a:pt x="2468879" y="0"/>
                </a:moveTo>
                <a:lnTo>
                  <a:pt x="0" y="0"/>
                </a:lnTo>
                <a:lnTo>
                  <a:pt x="0" y="1463040"/>
                </a:lnTo>
                <a:lnTo>
                  <a:pt x="2468879" y="1463040"/>
                </a:lnTo>
                <a:lnTo>
                  <a:pt x="2468879" y="0"/>
                </a:lnTo>
                <a:close/>
              </a:path>
            </a:pathLst>
          </a:custGeom>
          <a:solidFill>
            <a:srgbClr val="1222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79285" y="3305365"/>
          <a:ext cx="1078991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marL="154940" marR="298450">
                        <a:lnSpc>
                          <a:spcPct val="101899"/>
                        </a:lnSpc>
                        <a:spcBef>
                          <a:spcPts val="835"/>
                        </a:spcBef>
                      </a:pP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SKORE:</a:t>
                      </a:r>
                      <a:r>
                        <a:rPr sz="900" b="1" spc="2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Skill-Oriented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Extraction</a:t>
                      </a:r>
                      <a:r>
                        <a:rPr sz="900" b="1" spc="-2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Engine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Job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Advertisements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Using</a:t>
                      </a:r>
                      <a:r>
                        <a:rPr sz="900" b="1" spc="-2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Large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Language</a:t>
                      </a:r>
                      <a:r>
                        <a:rPr sz="900" b="1" spc="-3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Models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  <a:solidFill>
                      <a:srgbClr val="122237"/>
                    </a:solidFill>
                  </a:tcPr>
                </a:tc>
                <a:tc>
                  <a:txBody>
                    <a:bodyPr/>
                    <a:lstStyle/>
                    <a:p>
                      <a:pPr marL="154940" marR="447040">
                        <a:lnSpc>
                          <a:spcPct val="104200"/>
                        </a:lnSpc>
                        <a:spcBef>
                          <a:spcPts val="840"/>
                        </a:spcBef>
                      </a:pPr>
                      <a:r>
                        <a:rPr sz="8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Methods</a:t>
                      </a:r>
                      <a:r>
                        <a:rPr sz="800" spc="-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Research 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2026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86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Methods</a:t>
                      </a:r>
                      <a:r>
                        <a:rPr sz="800" spc="-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Paper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Open</a:t>
                      </a:r>
                      <a:r>
                        <a:rPr sz="800" b="1" u="sng" spc="-3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Paper</a:t>
                      </a:r>
                      <a:r>
                        <a:rPr sz="800" b="1" u="sng" spc="-2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u="sng" spc="14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↗</a:t>
                      </a:r>
                      <a:endParaRPr sz="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Extracts,</a:t>
                      </a:r>
                      <a:r>
                        <a:rPr sz="1000" spc="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normalizes,</a:t>
                      </a:r>
                      <a:r>
                        <a:rPr sz="1000" spc="1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1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categorizes</a:t>
                      </a:r>
                      <a:r>
                        <a:rPr sz="1000" spc="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skills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from online job advertisements using </a:t>
                      </a:r>
                      <a:r>
                        <a:rPr sz="10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LLM-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oriented</a:t>
                      </a:r>
                      <a:r>
                        <a:rPr sz="1000" spc="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methods.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spc="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Primarily</a:t>
                      </a:r>
                      <a:r>
                        <a:rPr sz="1000" spc="14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7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focuses</a:t>
                      </a:r>
                      <a:r>
                        <a:rPr sz="1000" spc="1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1000" spc="15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4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extraction</a:t>
                      </a:r>
                      <a:r>
                        <a:rPr sz="1000" spc="3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rather</a:t>
                      </a:r>
                      <a:r>
                        <a:rPr sz="1000" spc="3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than</a:t>
                      </a:r>
                      <a:r>
                        <a:rPr sz="1000" spc="3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3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full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data-engineering</a:t>
                      </a:r>
                      <a:r>
                        <a:rPr sz="1000" spc="3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lifecycle.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0970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Connect</a:t>
                      </a:r>
                      <a:r>
                        <a:rPr sz="1000" spc="229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extraction</a:t>
                      </a:r>
                      <a:r>
                        <a:rPr sz="1000" spc="23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23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229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1000" spc="23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lake/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warehouse,</a:t>
                      </a:r>
                      <a:r>
                        <a:rPr sz="1000" spc="2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trend</a:t>
                      </a:r>
                      <a:r>
                        <a:rPr sz="1000" spc="2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detection,</a:t>
                      </a:r>
                      <a:r>
                        <a:rPr sz="1000" spc="2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2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demand</a:t>
                      </a:r>
                      <a:r>
                        <a:rPr sz="1000" spc="1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forecasting.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7" name="object 37"/>
          <p:cNvGrpSpPr/>
          <p:nvPr/>
        </p:nvGrpSpPr>
        <p:grpSpPr>
          <a:xfrm>
            <a:off x="341185" y="4863033"/>
            <a:ext cx="10875645" cy="1548765"/>
            <a:chOff x="341185" y="4863033"/>
            <a:chExt cx="10875645" cy="1548765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185" y="4863033"/>
              <a:ext cx="2097403" cy="15487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2865" y="4863033"/>
              <a:ext cx="1548764" cy="154876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395727" y="4882896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39" h="1463039">
                  <a:moveTo>
                    <a:pt x="1463039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1463039" y="1463040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5905" y="4863033"/>
              <a:ext cx="2828924" cy="154876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58768" y="4882896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3199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2743199" y="1463040"/>
                  </a:lnTo>
                  <a:lnTo>
                    <a:pt x="2743199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9105" y="4863033"/>
              <a:ext cx="2188845" cy="154876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601968" y="4882896"/>
              <a:ext cx="2103120" cy="1463040"/>
            </a:xfrm>
            <a:custGeom>
              <a:avLst/>
              <a:gdLst/>
              <a:ahLst/>
              <a:cxnLst/>
              <a:rect l="l" t="t" r="r" b="b"/>
              <a:pathLst>
                <a:path w="2103120" h="1463039">
                  <a:moveTo>
                    <a:pt x="2103120" y="0"/>
                  </a:moveTo>
                  <a:lnTo>
                    <a:pt x="0" y="0"/>
                  </a:lnTo>
                  <a:lnTo>
                    <a:pt x="0" y="1463040"/>
                  </a:lnTo>
                  <a:lnTo>
                    <a:pt x="2103120" y="1463040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122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62225" y="4863033"/>
              <a:ext cx="2554604" cy="1548764"/>
            </a:xfrm>
            <a:prstGeom prst="rect">
              <a:avLst/>
            </a:prstGeom>
          </p:spPr>
        </p:pic>
      </p:grpSp>
      <p:sp>
        <p:nvSpPr>
          <p:cNvPr id="46" name="object 46"/>
          <p:cNvSpPr/>
          <p:nvPr/>
        </p:nvSpPr>
        <p:spPr>
          <a:xfrm>
            <a:off x="8705088" y="4882896"/>
            <a:ext cx="2468880" cy="1463040"/>
          </a:xfrm>
          <a:custGeom>
            <a:avLst/>
            <a:gdLst/>
            <a:ahLst/>
            <a:cxnLst/>
            <a:rect l="l" t="t" r="r" b="b"/>
            <a:pathLst>
              <a:path w="2468879" h="1463039">
                <a:moveTo>
                  <a:pt x="2468879" y="0"/>
                </a:moveTo>
                <a:lnTo>
                  <a:pt x="0" y="0"/>
                </a:lnTo>
                <a:lnTo>
                  <a:pt x="0" y="1463040"/>
                </a:lnTo>
                <a:lnTo>
                  <a:pt x="2468879" y="1463040"/>
                </a:lnTo>
                <a:lnTo>
                  <a:pt x="2468879" y="0"/>
                </a:lnTo>
                <a:close/>
              </a:path>
            </a:pathLst>
          </a:custGeom>
          <a:solidFill>
            <a:srgbClr val="1222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379285" y="4878133"/>
          <a:ext cx="1078991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marL="154940" marR="150495">
                        <a:lnSpc>
                          <a:spcPct val="101899"/>
                        </a:lnSpc>
                        <a:spcBef>
                          <a:spcPts val="835"/>
                        </a:spcBef>
                      </a:pP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In-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demand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Skills:</a:t>
                      </a:r>
                      <a:r>
                        <a:rPr sz="900" b="1" spc="-3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900" b="1" spc="-3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Shield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Against</a:t>
                      </a:r>
                      <a:r>
                        <a:rPr sz="900" b="1" spc="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Automation—Evidence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Online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Job</a:t>
                      </a:r>
                      <a:r>
                        <a:rPr sz="900" b="1" spc="-15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5F8FC"/>
                          </a:solidFill>
                          <a:latin typeface="Arial"/>
                          <a:cs typeface="Arial"/>
                        </a:rPr>
                        <a:t>Vacancies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  <a:solidFill>
                      <a:srgbClr val="122237"/>
                    </a:solidFill>
                  </a:tcPr>
                </a:tc>
                <a:tc>
                  <a:txBody>
                    <a:bodyPr/>
                    <a:lstStyle/>
                    <a:p>
                      <a:pPr marL="154940" marR="560070">
                        <a:lnSpc>
                          <a:spcPct val="104200"/>
                        </a:lnSpc>
                        <a:spcBef>
                          <a:spcPts val="840"/>
                        </a:spcBef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Research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Article 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JLMR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2026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3613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Research</a:t>
                      </a:r>
                      <a:r>
                        <a:rPr sz="8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Article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Open</a:t>
                      </a:r>
                      <a:r>
                        <a:rPr sz="800" b="1" u="sng" spc="-3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Paper</a:t>
                      </a:r>
                      <a:r>
                        <a:rPr sz="800" b="1" u="sng" spc="-2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800" u="sng" spc="14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Lucida Sans Unicode"/>
                          <a:cs typeface="Lucida Sans Unicode"/>
                        </a:rPr>
                        <a:t>↗</a:t>
                      </a:r>
                      <a:endParaRPr sz="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Uses</a:t>
                      </a:r>
                      <a:r>
                        <a:rPr sz="1000" spc="2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online</a:t>
                      </a:r>
                      <a:r>
                        <a:rPr sz="1000" spc="2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vacancy</a:t>
                      </a:r>
                      <a:r>
                        <a:rPr sz="1000" spc="2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1000" spc="29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28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extracted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skills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analyze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in-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demand</a:t>
                      </a:r>
                      <a:r>
                        <a:rPr sz="1000" spc="-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patterns.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 algn="just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Focuses on a specific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labour-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market</a:t>
                      </a:r>
                      <a:r>
                        <a:rPr sz="1000" spc="16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study</a:t>
                      </a:r>
                      <a:r>
                        <a:rPr sz="1000" spc="16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rather</a:t>
                      </a:r>
                      <a:r>
                        <a:rPr sz="1000" spc="16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than</a:t>
                      </a:r>
                      <a:r>
                        <a:rPr sz="1000" spc="16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000" spc="-6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reusable intelligence</a:t>
                      </a:r>
                      <a:r>
                        <a:rPr sz="1000" spc="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platform.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47320">
                        <a:lnSpc>
                          <a:spcPct val="150000"/>
                        </a:lnSpc>
                        <a:spcBef>
                          <a:spcPts val="234"/>
                        </a:spcBef>
                      </a:pP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Develop</a:t>
                      </a:r>
                      <a:r>
                        <a:rPr sz="1000" spc="434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continuous</a:t>
                      </a:r>
                      <a:r>
                        <a:rPr sz="1000" spc="434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monitoring</a:t>
                      </a:r>
                      <a:r>
                        <a:rPr sz="1000" spc="434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predictive</a:t>
                      </a:r>
                      <a:r>
                        <a:rPr sz="10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skill</a:t>
                      </a:r>
                      <a:r>
                        <a:rPr sz="1000" spc="-2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D2DDEA"/>
                          </a:solidFill>
                          <a:latin typeface="Arial MT"/>
                          <a:cs typeface="Arial MT"/>
                        </a:rPr>
                        <a:t>intelligence.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2B3F59"/>
                      </a:solidFill>
                      <a:prstDash val="solid"/>
                    </a:lnL>
                    <a:lnR w="9525">
                      <a:solidFill>
                        <a:srgbClr val="2B3F59"/>
                      </a:solidFill>
                      <a:prstDash val="solid"/>
                    </a:lnR>
                    <a:lnT w="9525">
                      <a:solidFill>
                        <a:srgbClr val="2B3F59"/>
                      </a:solidFill>
                      <a:prstDash val="solid"/>
                    </a:lnT>
                    <a:lnB w="9525">
                      <a:solidFill>
                        <a:srgbClr val="2B3F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581659" y="6470923"/>
            <a:ext cx="10766425" cy="1625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RESEARCH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GAP</a:t>
            </a:r>
            <a:r>
              <a:rPr sz="900" b="1" spc="-3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→</a:t>
            </a:r>
            <a:r>
              <a:rPr sz="9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Existing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studies</a:t>
            </a:r>
            <a:r>
              <a:rPr sz="9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focus</a:t>
            </a:r>
            <a:r>
              <a:rPr sz="9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on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extraction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or</a:t>
            </a:r>
            <a:r>
              <a:rPr sz="9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analysis</a:t>
            </a:r>
            <a:r>
              <a:rPr sz="9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individually;</a:t>
            </a:r>
            <a:r>
              <a:rPr sz="9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SkillSync</a:t>
            </a:r>
            <a:r>
              <a:rPr sz="900" b="1" spc="-5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AI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unifies</a:t>
            </a:r>
            <a:r>
              <a:rPr sz="9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ingestion,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data</a:t>
            </a:r>
            <a:r>
              <a:rPr sz="9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97A9C1"/>
                </a:solidFill>
                <a:latin typeface="Arial"/>
                <a:cs typeface="Arial"/>
              </a:rPr>
              <a:t>quality,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scalable</a:t>
            </a:r>
            <a:r>
              <a:rPr sz="9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processing,</a:t>
            </a:r>
            <a:r>
              <a:rPr sz="900" b="1" spc="-4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AI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extraction,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forecasting,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and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97A9C1"/>
                </a:solidFill>
                <a:latin typeface="Arial"/>
                <a:cs typeface="Arial"/>
              </a:rPr>
              <a:t>decision</a:t>
            </a:r>
            <a:r>
              <a:rPr sz="9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97A9C1"/>
                </a:solidFill>
                <a:latin typeface="Arial"/>
                <a:cs typeface="Arial"/>
              </a:rPr>
              <a:t>intelligence.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8E8E9A9-F479-2525-26DB-127181C63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3099" y="310267"/>
            <a:ext cx="38360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3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833884"/>
            <a:ext cx="3429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End-to-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end</a:t>
            </a:r>
            <a:r>
              <a:rPr sz="1000" spc="1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architecture</a:t>
            </a:r>
            <a:r>
              <a:rPr sz="1000" spc="2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connecting</a:t>
            </a:r>
            <a:r>
              <a:rPr sz="1000" spc="1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Data</a:t>
            </a:r>
            <a:r>
              <a:rPr sz="1000" spc="2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Engineering</a:t>
            </a:r>
            <a:r>
              <a:rPr sz="1000" spc="1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with</a:t>
            </a:r>
            <a:r>
              <a:rPr sz="1000" spc="-4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97A9C1"/>
                </a:solidFill>
                <a:latin typeface="Arial MT"/>
                <a:cs typeface="Arial MT"/>
              </a:rPr>
              <a:t>AI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8657" y="1077417"/>
            <a:ext cx="5252085" cy="1045844"/>
            <a:chOff x="688657" y="1077417"/>
            <a:chExt cx="5252085" cy="104584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657" y="1077417"/>
              <a:ext cx="5252085" cy="10458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519" y="1097279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60" h="960119">
                  <a:moveTo>
                    <a:pt x="5006336" y="0"/>
                  </a:moveTo>
                  <a:lnTo>
                    <a:pt x="160023" y="0"/>
                  </a:lnTo>
                  <a:lnTo>
                    <a:pt x="109443" y="8158"/>
                  </a:lnTo>
                  <a:lnTo>
                    <a:pt x="65515" y="30875"/>
                  </a:lnTo>
                  <a:lnTo>
                    <a:pt x="30875" y="65515"/>
                  </a:lnTo>
                  <a:lnTo>
                    <a:pt x="8158" y="109443"/>
                  </a:lnTo>
                  <a:lnTo>
                    <a:pt x="0" y="160023"/>
                  </a:lnTo>
                  <a:lnTo>
                    <a:pt x="0" y="800096"/>
                  </a:lnTo>
                  <a:lnTo>
                    <a:pt x="8158" y="850676"/>
                  </a:lnTo>
                  <a:lnTo>
                    <a:pt x="30875" y="894604"/>
                  </a:lnTo>
                  <a:lnTo>
                    <a:pt x="65515" y="929244"/>
                  </a:lnTo>
                  <a:lnTo>
                    <a:pt x="109443" y="951961"/>
                  </a:lnTo>
                  <a:lnTo>
                    <a:pt x="160023" y="960120"/>
                  </a:lnTo>
                  <a:lnTo>
                    <a:pt x="5006336" y="960120"/>
                  </a:lnTo>
                  <a:lnTo>
                    <a:pt x="5056916" y="951961"/>
                  </a:lnTo>
                  <a:lnTo>
                    <a:pt x="5100844" y="929244"/>
                  </a:lnTo>
                  <a:lnTo>
                    <a:pt x="5135484" y="894604"/>
                  </a:lnTo>
                  <a:lnTo>
                    <a:pt x="5158201" y="850676"/>
                  </a:lnTo>
                  <a:lnTo>
                    <a:pt x="5166359" y="800096"/>
                  </a:lnTo>
                  <a:lnTo>
                    <a:pt x="5166359" y="160023"/>
                  </a:lnTo>
                  <a:lnTo>
                    <a:pt x="5158201" y="109443"/>
                  </a:lnTo>
                  <a:lnTo>
                    <a:pt x="5135484" y="65515"/>
                  </a:lnTo>
                  <a:lnTo>
                    <a:pt x="5100844" y="30875"/>
                  </a:lnTo>
                  <a:lnTo>
                    <a:pt x="5056916" y="8158"/>
                  </a:lnTo>
                  <a:lnTo>
                    <a:pt x="5006336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519" y="1097279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60" h="960119">
                  <a:moveTo>
                    <a:pt x="160023" y="0"/>
                  </a:moveTo>
                  <a:lnTo>
                    <a:pt x="5006336" y="0"/>
                  </a:lnTo>
                  <a:lnTo>
                    <a:pt x="5056916" y="8158"/>
                  </a:lnTo>
                  <a:lnTo>
                    <a:pt x="5100844" y="30875"/>
                  </a:lnTo>
                  <a:lnTo>
                    <a:pt x="5135484" y="65515"/>
                  </a:lnTo>
                  <a:lnTo>
                    <a:pt x="5158201" y="109443"/>
                  </a:lnTo>
                  <a:lnTo>
                    <a:pt x="5166360" y="160023"/>
                  </a:lnTo>
                  <a:lnTo>
                    <a:pt x="5166360" y="800096"/>
                  </a:lnTo>
                  <a:lnTo>
                    <a:pt x="5158201" y="850676"/>
                  </a:lnTo>
                  <a:lnTo>
                    <a:pt x="5135484" y="894604"/>
                  </a:lnTo>
                  <a:lnTo>
                    <a:pt x="5100844" y="929244"/>
                  </a:lnTo>
                  <a:lnTo>
                    <a:pt x="5056916" y="951961"/>
                  </a:lnTo>
                  <a:lnTo>
                    <a:pt x="5006336" y="960119"/>
                  </a:lnTo>
                  <a:lnTo>
                    <a:pt x="160023" y="960119"/>
                  </a:lnTo>
                  <a:lnTo>
                    <a:pt x="109443" y="951961"/>
                  </a:lnTo>
                  <a:lnTo>
                    <a:pt x="65515" y="929244"/>
                  </a:lnTo>
                  <a:lnTo>
                    <a:pt x="30875" y="894604"/>
                  </a:lnTo>
                  <a:lnTo>
                    <a:pt x="8158" y="850676"/>
                  </a:lnTo>
                  <a:lnTo>
                    <a:pt x="0" y="800096"/>
                  </a:lnTo>
                  <a:lnTo>
                    <a:pt x="0" y="160023"/>
                  </a:lnTo>
                  <a:lnTo>
                    <a:pt x="8158" y="109443"/>
                  </a:lnTo>
                  <a:lnTo>
                    <a:pt x="30875" y="65515"/>
                  </a:lnTo>
                  <a:lnTo>
                    <a:pt x="65515" y="30875"/>
                  </a:lnTo>
                  <a:lnTo>
                    <a:pt x="109443" y="8158"/>
                  </a:lnTo>
                  <a:lnTo>
                    <a:pt x="160023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19" y="1082179"/>
              <a:ext cx="140208" cy="103631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519" y="1097279"/>
              <a:ext cx="64135" cy="960119"/>
            </a:xfrm>
            <a:custGeom>
              <a:avLst/>
              <a:gdLst/>
              <a:ahLst/>
              <a:cxnLst/>
              <a:rect l="l" t="t" r="r" b="b"/>
              <a:pathLst>
                <a:path w="64134" h="960119">
                  <a:moveTo>
                    <a:pt x="64007" y="0"/>
                  </a:moveTo>
                  <a:lnTo>
                    <a:pt x="0" y="0"/>
                  </a:lnTo>
                  <a:lnTo>
                    <a:pt x="0" y="960120"/>
                  </a:lnTo>
                  <a:lnTo>
                    <a:pt x="64007" y="96012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E74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11427" y="1272796"/>
            <a:ext cx="18675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01</a:t>
            </a:r>
            <a:r>
              <a:rPr sz="1000" b="1" spc="29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5F8FC"/>
                </a:solidFill>
                <a:latin typeface="Arial"/>
                <a:cs typeface="Arial"/>
              </a:rPr>
              <a:t>MULTI-</a:t>
            </a: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SOURCE</a:t>
            </a:r>
            <a:r>
              <a:rPr sz="1000" b="1" spc="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JOB</a:t>
            </a:r>
            <a:r>
              <a:rPr sz="1000" b="1" spc="1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5F8FC"/>
                </a:solidFill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1427" y="1650621"/>
            <a:ext cx="25819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CSV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JSON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APIs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Historical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+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streaming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events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75057" y="1077417"/>
            <a:ext cx="5252085" cy="1045844"/>
            <a:chOff x="6175057" y="1077417"/>
            <a:chExt cx="5252085" cy="1045844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5057" y="1077417"/>
              <a:ext cx="5252085" cy="10458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17920" y="1097279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59" h="960119">
                  <a:moveTo>
                    <a:pt x="5006336" y="0"/>
                  </a:moveTo>
                  <a:lnTo>
                    <a:pt x="160023" y="0"/>
                  </a:lnTo>
                  <a:lnTo>
                    <a:pt x="109443" y="8158"/>
                  </a:lnTo>
                  <a:lnTo>
                    <a:pt x="65515" y="30875"/>
                  </a:lnTo>
                  <a:lnTo>
                    <a:pt x="30875" y="65515"/>
                  </a:lnTo>
                  <a:lnTo>
                    <a:pt x="8158" y="109443"/>
                  </a:lnTo>
                  <a:lnTo>
                    <a:pt x="0" y="160023"/>
                  </a:lnTo>
                  <a:lnTo>
                    <a:pt x="0" y="800096"/>
                  </a:lnTo>
                  <a:lnTo>
                    <a:pt x="8158" y="850676"/>
                  </a:lnTo>
                  <a:lnTo>
                    <a:pt x="30875" y="894604"/>
                  </a:lnTo>
                  <a:lnTo>
                    <a:pt x="65515" y="929244"/>
                  </a:lnTo>
                  <a:lnTo>
                    <a:pt x="109443" y="951961"/>
                  </a:lnTo>
                  <a:lnTo>
                    <a:pt x="160023" y="960120"/>
                  </a:lnTo>
                  <a:lnTo>
                    <a:pt x="5006336" y="960120"/>
                  </a:lnTo>
                  <a:lnTo>
                    <a:pt x="5056916" y="951961"/>
                  </a:lnTo>
                  <a:lnTo>
                    <a:pt x="5100844" y="929244"/>
                  </a:lnTo>
                  <a:lnTo>
                    <a:pt x="5135484" y="894604"/>
                  </a:lnTo>
                  <a:lnTo>
                    <a:pt x="5158201" y="850676"/>
                  </a:lnTo>
                  <a:lnTo>
                    <a:pt x="5166359" y="800096"/>
                  </a:lnTo>
                  <a:lnTo>
                    <a:pt x="5166359" y="160023"/>
                  </a:lnTo>
                  <a:lnTo>
                    <a:pt x="5158201" y="109443"/>
                  </a:lnTo>
                  <a:lnTo>
                    <a:pt x="5135484" y="65515"/>
                  </a:lnTo>
                  <a:lnTo>
                    <a:pt x="5100844" y="30875"/>
                  </a:lnTo>
                  <a:lnTo>
                    <a:pt x="5056916" y="8158"/>
                  </a:lnTo>
                  <a:lnTo>
                    <a:pt x="5006336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17920" y="1097279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59" h="960119">
                  <a:moveTo>
                    <a:pt x="160023" y="0"/>
                  </a:moveTo>
                  <a:lnTo>
                    <a:pt x="5006336" y="0"/>
                  </a:lnTo>
                  <a:lnTo>
                    <a:pt x="5056916" y="8158"/>
                  </a:lnTo>
                  <a:lnTo>
                    <a:pt x="5100844" y="30875"/>
                  </a:lnTo>
                  <a:lnTo>
                    <a:pt x="5135484" y="65515"/>
                  </a:lnTo>
                  <a:lnTo>
                    <a:pt x="5158201" y="109443"/>
                  </a:lnTo>
                  <a:lnTo>
                    <a:pt x="5166360" y="160023"/>
                  </a:lnTo>
                  <a:lnTo>
                    <a:pt x="5166360" y="800096"/>
                  </a:lnTo>
                  <a:lnTo>
                    <a:pt x="5158201" y="850676"/>
                  </a:lnTo>
                  <a:lnTo>
                    <a:pt x="5135484" y="894604"/>
                  </a:lnTo>
                  <a:lnTo>
                    <a:pt x="5100844" y="929244"/>
                  </a:lnTo>
                  <a:lnTo>
                    <a:pt x="5056916" y="951961"/>
                  </a:lnTo>
                  <a:lnTo>
                    <a:pt x="5006336" y="960119"/>
                  </a:lnTo>
                  <a:lnTo>
                    <a:pt x="160023" y="960119"/>
                  </a:lnTo>
                  <a:lnTo>
                    <a:pt x="109443" y="951961"/>
                  </a:lnTo>
                  <a:lnTo>
                    <a:pt x="65515" y="929244"/>
                  </a:lnTo>
                  <a:lnTo>
                    <a:pt x="30875" y="894604"/>
                  </a:lnTo>
                  <a:lnTo>
                    <a:pt x="8158" y="850676"/>
                  </a:lnTo>
                  <a:lnTo>
                    <a:pt x="0" y="800096"/>
                  </a:lnTo>
                  <a:lnTo>
                    <a:pt x="0" y="160023"/>
                  </a:lnTo>
                  <a:lnTo>
                    <a:pt x="8158" y="109443"/>
                  </a:lnTo>
                  <a:lnTo>
                    <a:pt x="30875" y="65515"/>
                  </a:lnTo>
                  <a:lnTo>
                    <a:pt x="65515" y="30875"/>
                  </a:lnTo>
                  <a:lnTo>
                    <a:pt x="109443" y="8158"/>
                  </a:lnTo>
                  <a:lnTo>
                    <a:pt x="160023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1082179"/>
              <a:ext cx="140208" cy="10363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17920" y="1097279"/>
              <a:ext cx="64135" cy="960119"/>
            </a:xfrm>
            <a:custGeom>
              <a:avLst/>
              <a:gdLst/>
              <a:ahLst/>
              <a:cxnLst/>
              <a:rect l="l" t="t" r="r" b="b"/>
              <a:pathLst>
                <a:path w="64135" h="960119">
                  <a:moveTo>
                    <a:pt x="64008" y="0"/>
                  </a:moveTo>
                  <a:lnTo>
                    <a:pt x="0" y="0"/>
                  </a:lnTo>
                  <a:lnTo>
                    <a:pt x="0" y="960120"/>
                  </a:lnTo>
                  <a:lnTo>
                    <a:pt x="64008" y="96012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97828" y="1272796"/>
            <a:ext cx="13004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02</a:t>
            </a:r>
            <a:r>
              <a:rPr sz="1000" b="1" spc="28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5F8FC"/>
                </a:solidFill>
                <a:latin typeface="Arial"/>
                <a:cs typeface="Arial"/>
              </a:rPr>
              <a:t>DATA</a:t>
            </a:r>
            <a:r>
              <a:rPr sz="1000" b="1" spc="-3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5F8FC"/>
                </a:solidFill>
                <a:latin typeface="Arial"/>
                <a:cs typeface="Arial"/>
              </a:rPr>
              <a:t>INGESTION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97828" y="1650621"/>
            <a:ext cx="22269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Batch ingestion +</a:t>
            </a:r>
            <a:r>
              <a:rPr sz="900" spc="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real-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time event 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streaming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8657" y="2284425"/>
            <a:ext cx="5252085" cy="1045844"/>
            <a:chOff x="688657" y="2284425"/>
            <a:chExt cx="5252085" cy="1045844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657" y="2284425"/>
              <a:ext cx="5252085" cy="104584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31519" y="2304288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60" h="960120">
                  <a:moveTo>
                    <a:pt x="5006336" y="0"/>
                  </a:moveTo>
                  <a:lnTo>
                    <a:pt x="160023" y="0"/>
                  </a:lnTo>
                  <a:lnTo>
                    <a:pt x="109443" y="8158"/>
                  </a:lnTo>
                  <a:lnTo>
                    <a:pt x="65515" y="30875"/>
                  </a:lnTo>
                  <a:lnTo>
                    <a:pt x="30875" y="65515"/>
                  </a:lnTo>
                  <a:lnTo>
                    <a:pt x="8158" y="109443"/>
                  </a:lnTo>
                  <a:lnTo>
                    <a:pt x="0" y="160023"/>
                  </a:lnTo>
                  <a:lnTo>
                    <a:pt x="0" y="800096"/>
                  </a:lnTo>
                  <a:lnTo>
                    <a:pt x="8158" y="850676"/>
                  </a:lnTo>
                  <a:lnTo>
                    <a:pt x="30875" y="894604"/>
                  </a:lnTo>
                  <a:lnTo>
                    <a:pt x="65515" y="929244"/>
                  </a:lnTo>
                  <a:lnTo>
                    <a:pt x="109443" y="951961"/>
                  </a:lnTo>
                  <a:lnTo>
                    <a:pt x="160023" y="960120"/>
                  </a:lnTo>
                  <a:lnTo>
                    <a:pt x="5006336" y="960120"/>
                  </a:lnTo>
                  <a:lnTo>
                    <a:pt x="5056916" y="951961"/>
                  </a:lnTo>
                  <a:lnTo>
                    <a:pt x="5100844" y="929244"/>
                  </a:lnTo>
                  <a:lnTo>
                    <a:pt x="5135484" y="894604"/>
                  </a:lnTo>
                  <a:lnTo>
                    <a:pt x="5158201" y="850676"/>
                  </a:lnTo>
                  <a:lnTo>
                    <a:pt x="5166359" y="800096"/>
                  </a:lnTo>
                  <a:lnTo>
                    <a:pt x="5166359" y="160023"/>
                  </a:lnTo>
                  <a:lnTo>
                    <a:pt x="5158201" y="109443"/>
                  </a:lnTo>
                  <a:lnTo>
                    <a:pt x="5135484" y="65515"/>
                  </a:lnTo>
                  <a:lnTo>
                    <a:pt x="5100844" y="30875"/>
                  </a:lnTo>
                  <a:lnTo>
                    <a:pt x="5056916" y="8158"/>
                  </a:lnTo>
                  <a:lnTo>
                    <a:pt x="5006336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19" y="2304288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60" h="960120">
                  <a:moveTo>
                    <a:pt x="160023" y="0"/>
                  </a:moveTo>
                  <a:lnTo>
                    <a:pt x="5006336" y="0"/>
                  </a:lnTo>
                  <a:lnTo>
                    <a:pt x="5056916" y="8158"/>
                  </a:lnTo>
                  <a:lnTo>
                    <a:pt x="5100844" y="30875"/>
                  </a:lnTo>
                  <a:lnTo>
                    <a:pt x="5135484" y="65515"/>
                  </a:lnTo>
                  <a:lnTo>
                    <a:pt x="5158201" y="109443"/>
                  </a:lnTo>
                  <a:lnTo>
                    <a:pt x="5166360" y="160023"/>
                  </a:lnTo>
                  <a:lnTo>
                    <a:pt x="5166360" y="800096"/>
                  </a:lnTo>
                  <a:lnTo>
                    <a:pt x="5158201" y="850676"/>
                  </a:lnTo>
                  <a:lnTo>
                    <a:pt x="5135484" y="894604"/>
                  </a:lnTo>
                  <a:lnTo>
                    <a:pt x="5100844" y="929244"/>
                  </a:lnTo>
                  <a:lnTo>
                    <a:pt x="5056916" y="951961"/>
                  </a:lnTo>
                  <a:lnTo>
                    <a:pt x="5006336" y="960119"/>
                  </a:lnTo>
                  <a:lnTo>
                    <a:pt x="160023" y="960119"/>
                  </a:lnTo>
                  <a:lnTo>
                    <a:pt x="109443" y="951961"/>
                  </a:lnTo>
                  <a:lnTo>
                    <a:pt x="65515" y="929244"/>
                  </a:lnTo>
                  <a:lnTo>
                    <a:pt x="30875" y="894604"/>
                  </a:lnTo>
                  <a:lnTo>
                    <a:pt x="8158" y="850676"/>
                  </a:lnTo>
                  <a:lnTo>
                    <a:pt x="0" y="800096"/>
                  </a:lnTo>
                  <a:lnTo>
                    <a:pt x="0" y="160023"/>
                  </a:lnTo>
                  <a:lnTo>
                    <a:pt x="8158" y="109443"/>
                  </a:lnTo>
                  <a:lnTo>
                    <a:pt x="30875" y="65515"/>
                  </a:lnTo>
                  <a:lnTo>
                    <a:pt x="65515" y="30875"/>
                  </a:lnTo>
                  <a:lnTo>
                    <a:pt x="109443" y="8158"/>
                  </a:lnTo>
                  <a:lnTo>
                    <a:pt x="160023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19" y="2289187"/>
              <a:ext cx="140208" cy="103632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31519" y="2304288"/>
              <a:ext cx="64135" cy="960119"/>
            </a:xfrm>
            <a:custGeom>
              <a:avLst/>
              <a:gdLst/>
              <a:ahLst/>
              <a:cxnLst/>
              <a:rect l="l" t="t" r="r" b="b"/>
              <a:pathLst>
                <a:path w="64134" h="960120">
                  <a:moveTo>
                    <a:pt x="64007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64007" y="960119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3AB5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11427" y="2479804"/>
            <a:ext cx="948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03</a:t>
            </a:r>
            <a:r>
              <a:rPr sz="1000" b="1" spc="28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5F8FC"/>
                </a:solidFill>
                <a:latin typeface="Arial"/>
                <a:cs typeface="Arial"/>
              </a:rPr>
              <a:t>DATA</a:t>
            </a:r>
            <a:r>
              <a:rPr sz="1000" b="1" spc="-3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5F8FC"/>
                </a:solidFill>
                <a:latin typeface="Arial"/>
                <a:cs typeface="Arial"/>
              </a:rPr>
              <a:t>LAKE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1427" y="2857629"/>
            <a:ext cx="2355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Raw</a:t>
            </a:r>
            <a:r>
              <a:rPr sz="900" spc="-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and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processed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datasets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stored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efficiently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75057" y="2284425"/>
            <a:ext cx="5252085" cy="1045844"/>
            <a:chOff x="6175057" y="2284425"/>
            <a:chExt cx="5252085" cy="1045844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5057" y="2284425"/>
              <a:ext cx="5252085" cy="104584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217920" y="2304288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59" h="960120">
                  <a:moveTo>
                    <a:pt x="5006336" y="0"/>
                  </a:moveTo>
                  <a:lnTo>
                    <a:pt x="160023" y="0"/>
                  </a:lnTo>
                  <a:lnTo>
                    <a:pt x="109443" y="8158"/>
                  </a:lnTo>
                  <a:lnTo>
                    <a:pt x="65515" y="30875"/>
                  </a:lnTo>
                  <a:lnTo>
                    <a:pt x="30875" y="65515"/>
                  </a:lnTo>
                  <a:lnTo>
                    <a:pt x="8158" y="109443"/>
                  </a:lnTo>
                  <a:lnTo>
                    <a:pt x="0" y="160023"/>
                  </a:lnTo>
                  <a:lnTo>
                    <a:pt x="0" y="800096"/>
                  </a:lnTo>
                  <a:lnTo>
                    <a:pt x="8158" y="850676"/>
                  </a:lnTo>
                  <a:lnTo>
                    <a:pt x="30875" y="894604"/>
                  </a:lnTo>
                  <a:lnTo>
                    <a:pt x="65515" y="929244"/>
                  </a:lnTo>
                  <a:lnTo>
                    <a:pt x="109443" y="951961"/>
                  </a:lnTo>
                  <a:lnTo>
                    <a:pt x="160023" y="960120"/>
                  </a:lnTo>
                  <a:lnTo>
                    <a:pt x="5006336" y="960120"/>
                  </a:lnTo>
                  <a:lnTo>
                    <a:pt x="5056916" y="951961"/>
                  </a:lnTo>
                  <a:lnTo>
                    <a:pt x="5100844" y="929244"/>
                  </a:lnTo>
                  <a:lnTo>
                    <a:pt x="5135484" y="894604"/>
                  </a:lnTo>
                  <a:lnTo>
                    <a:pt x="5158201" y="850676"/>
                  </a:lnTo>
                  <a:lnTo>
                    <a:pt x="5166359" y="800096"/>
                  </a:lnTo>
                  <a:lnTo>
                    <a:pt x="5166359" y="160023"/>
                  </a:lnTo>
                  <a:lnTo>
                    <a:pt x="5158201" y="109443"/>
                  </a:lnTo>
                  <a:lnTo>
                    <a:pt x="5135484" y="65515"/>
                  </a:lnTo>
                  <a:lnTo>
                    <a:pt x="5100844" y="30875"/>
                  </a:lnTo>
                  <a:lnTo>
                    <a:pt x="5056916" y="8158"/>
                  </a:lnTo>
                  <a:lnTo>
                    <a:pt x="5006336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17920" y="2304288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59" h="960120">
                  <a:moveTo>
                    <a:pt x="160023" y="0"/>
                  </a:moveTo>
                  <a:lnTo>
                    <a:pt x="5006336" y="0"/>
                  </a:lnTo>
                  <a:lnTo>
                    <a:pt x="5056916" y="8158"/>
                  </a:lnTo>
                  <a:lnTo>
                    <a:pt x="5100844" y="30875"/>
                  </a:lnTo>
                  <a:lnTo>
                    <a:pt x="5135484" y="65515"/>
                  </a:lnTo>
                  <a:lnTo>
                    <a:pt x="5158201" y="109443"/>
                  </a:lnTo>
                  <a:lnTo>
                    <a:pt x="5166360" y="160023"/>
                  </a:lnTo>
                  <a:lnTo>
                    <a:pt x="5166360" y="800096"/>
                  </a:lnTo>
                  <a:lnTo>
                    <a:pt x="5158201" y="850676"/>
                  </a:lnTo>
                  <a:lnTo>
                    <a:pt x="5135484" y="894604"/>
                  </a:lnTo>
                  <a:lnTo>
                    <a:pt x="5100844" y="929244"/>
                  </a:lnTo>
                  <a:lnTo>
                    <a:pt x="5056916" y="951961"/>
                  </a:lnTo>
                  <a:lnTo>
                    <a:pt x="5006336" y="960119"/>
                  </a:lnTo>
                  <a:lnTo>
                    <a:pt x="160023" y="960119"/>
                  </a:lnTo>
                  <a:lnTo>
                    <a:pt x="109443" y="951961"/>
                  </a:lnTo>
                  <a:lnTo>
                    <a:pt x="65515" y="929244"/>
                  </a:lnTo>
                  <a:lnTo>
                    <a:pt x="30875" y="894604"/>
                  </a:lnTo>
                  <a:lnTo>
                    <a:pt x="8158" y="850676"/>
                  </a:lnTo>
                  <a:lnTo>
                    <a:pt x="0" y="800096"/>
                  </a:lnTo>
                  <a:lnTo>
                    <a:pt x="0" y="160023"/>
                  </a:lnTo>
                  <a:lnTo>
                    <a:pt x="8158" y="109443"/>
                  </a:lnTo>
                  <a:lnTo>
                    <a:pt x="30875" y="65515"/>
                  </a:lnTo>
                  <a:lnTo>
                    <a:pt x="65515" y="30875"/>
                  </a:lnTo>
                  <a:lnTo>
                    <a:pt x="109443" y="8158"/>
                  </a:lnTo>
                  <a:lnTo>
                    <a:pt x="160023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2289187"/>
              <a:ext cx="140208" cy="103632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217920" y="2304288"/>
              <a:ext cx="64135" cy="960119"/>
            </a:xfrm>
            <a:custGeom>
              <a:avLst/>
              <a:gdLst/>
              <a:ahLst/>
              <a:cxnLst/>
              <a:rect l="l" t="t" r="r" b="b"/>
              <a:pathLst>
                <a:path w="64135" h="960120">
                  <a:moveTo>
                    <a:pt x="64008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64008" y="96011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0A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97828" y="2479804"/>
            <a:ext cx="2424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04</a:t>
            </a:r>
            <a:r>
              <a:rPr sz="1000" b="1" spc="254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QUALITY</a:t>
            </a:r>
            <a:r>
              <a:rPr sz="1000" b="1" spc="-3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+</a:t>
            </a:r>
            <a:r>
              <a:rPr sz="1000" b="1" spc="-10" dirty="0">
                <a:solidFill>
                  <a:srgbClr val="F5F8FC"/>
                </a:solidFill>
                <a:latin typeface="Arial"/>
                <a:cs typeface="Arial"/>
              </a:rPr>
              <a:t> PYSPARK PROCESSING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97828" y="2857629"/>
            <a:ext cx="19418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Validate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 clean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 transform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 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integrate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88657" y="3491433"/>
            <a:ext cx="5252085" cy="1045844"/>
            <a:chOff x="688657" y="3491433"/>
            <a:chExt cx="5252085" cy="1045844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657" y="3491433"/>
              <a:ext cx="5252085" cy="104584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31519" y="3511295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60" h="960120">
                  <a:moveTo>
                    <a:pt x="5006336" y="0"/>
                  </a:moveTo>
                  <a:lnTo>
                    <a:pt x="160023" y="0"/>
                  </a:lnTo>
                  <a:lnTo>
                    <a:pt x="109443" y="8158"/>
                  </a:lnTo>
                  <a:lnTo>
                    <a:pt x="65515" y="30875"/>
                  </a:lnTo>
                  <a:lnTo>
                    <a:pt x="30875" y="65515"/>
                  </a:lnTo>
                  <a:lnTo>
                    <a:pt x="8158" y="109443"/>
                  </a:lnTo>
                  <a:lnTo>
                    <a:pt x="0" y="160023"/>
                  </a:lnTo>
                  <a:lnTo>
                    <a:pt x="0" y="800097"/>
                  </a:lnTo>
                  <a:lnTo>
                    <a:pt x="8158" y="850676"/>
                  </a:lnTo>
                  <a:lnTo>
                    <a:pt x="30875" y="894604"/>
                  </a:lnTo>
                  <a:lnTo>
                    <a:pt x="65515" y="929244"/>
                  </a:lnTo>
                  <a:lnTo>
                    <a:pt x="109443" y="951961"/>
                  </a:lnTo>
                  <a:lnTo>
                    <a:pt x="160023" y="960119"/>
                  </a:lnTo>
                  <a:lnTo>
                    <a:pt x="5006336" y="960119"/>
                  </a:lnTo>
                  <a:lnTo>
                    <a:pt x="5056916" y="951961"/>
                  </a:lnTo>
                  <a:lnTo>
                    <a:pt x="5100844" y="929244"/>
                  </a:lnTo>
                  <a:lnTo>
                    <a:pt x="5135484" y="894604"/>
                  </a:lnTo>
                  <a:lnTo>
                    <a:pt x="5158201" y="850676"/>
                  </a:lnTo>
                  <a:lnTo>
                    <a:pt x="5166359" y="800097"/>
                  </a:lnTo>
                  <a:lnTo>
                    <a:pt x="5166359" y="160023"/>
                  </a:lnTo>
                  <a:lnTo>
                    <a:pt x="5158201" y="109443"/>
                  </a:lnTo>
                  <a:lnTo>
                    <a:pt x="5135484" y="65515"/>
                  </a:lnTo>
                  <a:lnTo>
                    <a:pt x="5100844" y="30875"/>
                  </a:lnTo>
                  <a:lnTo>
                    <a:pt x="5056916" y="8158"/>
                  </a:lnTo>
                  <a:lnTo>
                    <a:pt x="5006336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1519" y="3511295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60" h="960120">
                  <a:moveTo>
                    <a:pt x="160023" y="0"/>
                  </a:moveTo>
                  <a:lnTo>
                    <a:pt x="5006336" y="0"/>
                  </a:lnTo>
                  <a:lnTo>
                    <a:pt x="5056916" y="8158"/>
                  </a:lnTo>
                  <a:lnTo>
                    <a:pt x="5100844" y="30875"/>
                  </a:lnTo>
                  <a:lnTo>
                    <a:pt x="5135484" y="65515"/>
                  </a:lnTo>
                  <a:lnTo>
                    <a:pt x="5158201" y="109443"/>
                  </a:lnTo>
                  <a:lnTo>
                    <a:pt x="5166360" y="160023"/>
                  </a:lnTo>
                  <a:lnTo>
                    <a:pt x="5166360" y="800096"/>
                  </a:lnTo>
                  <a:lnTo>
                    <a:pt x="5158201" y="850676"/>
                  </a:lnTo>
                  <a:lnTo>
                    <a:pt x="5135484" y="894604"/>
                  </a:lnTo>
                  <a:lnTo>
                    <a:pt x="5100844" y="929244"/>
                  </a:lnTo>
                  <a:lnTo>
                    <a:pt x="5056916" y="951961"/>
                  </a:lnTo>
                  <a:lnTo>
                    <a:pt x="5006336" y="960119"/>
                  </a:lnTo>
                  <a:lnTo>
                    <a:pt x="160023" y="960119"/>
                  </a:lnTo>
                  <a:lnTo>
                    <a:pt x="109443" y="951961"/>
                  </a:lnTo>
                  <a:lnTo>
                    <a:pt x="65515" y="929244"/>
                  </a:lnTo>
                  <a:lnTo>
                    <a:pt x="30875" y="894604"/>
                  </a:lnTo>
                  <a:lnTo>
                    <a:pt x="8158" y="850676"/>
                  </a:lnTo>
                  <a:lnTo>
                    <a:pt x="0" y="800096"/>
                  </a:lnTo>
                  <a:lnTo>
                    <a:pt x="0" y="160023"/>
                  </a:lnTo>
                  <a:lnTo>
                    <a:pt x="8158" y="109443"/>
                  </a:lnTo>
                  <a:lnTo>
                    <a:pt x="30875" y="65515"/>
                  </a:lnTo>
                  <a:lnTo>
                    <a:pt x="65515" y="30875"/>
                  </a:lnTo>
                  <a:lnTo>
                    <a:pt x="109443" y="8158"/>
                  </a:lnTo>
                  <a:lnTo>
                    <a:pt x="160023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19" y="3496195"/>
              <a:ext cx="140208" cy="103631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31519" y="3511295"/>
              <a:ext cx="64135" cy="960119"/>
            </a:xfrm>
            <a:custGeom>
              <a:avLst/>
              <a:gdLst/>
              <a:ahLst/>
              <a:cxnLst/>
              <a:rect l="l" t="t" r="r" b="b"/>
              <a:pathLst>
                <a:path w="64134" h="960120">
                  <a:moveTo>
                    <a:pt x="64007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64007" y="960119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E74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011427" y="3686812"/>
            <a:ext cx="16090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05</a:t>
            </a:r>
            <a:r>
              <a:rPr sz="1000" b="1" spc="21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5F8FC"/>
                </a:solidFill>
                <a:latin typeface="Arial"/>
                <a:cs typeface="Arial"/>
              </a:rPr>
              <a:t>ANALYTICS STORAGE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11427" y="4064637"/>
            <a:ext cx="22237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Structured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warehouse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for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analytical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queries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175057" y="3491433"/>
            <a:ext cx="5252085" cy="1045844"/>
            <a:chOff x="6175057" y="3491433"/>
            <a:chExt cx="5252085" cy="1045844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5057" y="3491433"/>
              <a:ext cx="5252085" cy="104584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217920" y="3511295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59" h="960120">
                  <a:moveTo>
                    <a:pt x="5006336" y="0"/>
                  </a:moveTo>
                  <a:lnTo>
                    <a:pt x="160023" y="0"/>
                  </a:lnTo>
                  <a:lnTo>
                    <a:pt x="109443" y="8158"/>
                  </a:lnTo>
                  <a:lnTo>
                    <a:pt x="65515" y="30875"/>
                  </a:lnTo>
                  <a:lnTo>
                    <a:pt x="30875" y="65515"/>
                  </a:lnTo>
                  <a:lnTo>
                    <a:pt x="8158" y="109443"/>
                  </a:lnTo>
                  <a:lnTo>
                    <a:pt x="0" y="160023"/>
                  </a:lnTo>
                  <a:lnTo>
                    <a:pt x="0" y="800097"/>
                  </a:lnTo>
                  <a:lnTo>
                    <a:pt x="8158" y="850676"/>
                  </a:lnTo>
                  <a:lnTo>
                    <a:pt x="30875" y="894604"/>
                  </a:lnTo>
                  <a:lnTo>
                    <a:pt x="65515" y="929244"/>
                  </a:lnTo>
                  <a:lnTo>
                    <a:pt x="109443" y="951961"/>
                  </a:lnTo>
                  <a:lnTo>
                    <a:pt x="160023" y="960119"/>
                  </a:lnTo>
                  <a:lnTo>
                    <a:pt x="5006336" y="960119"/>
                  </a:lnTo>
                  <a:lnTo>
                    <a:pt x="5056916" y="951961"/>
                  </a:lnTo>
                  <a:lnTo>
                    <a:pt x="5100844" y="929244"/>
                  </a:lnTo>
                  <a:lnTo>
                    <a:pt x="5135484" y="894604"/>
                  </a:lnTo>
                  <a:lnTo>
                    <a:pt x="5158201" y="850676"/>
                  </a:lnTo>
                  <a:lnTo>
                    <a:pt x="5166359" y="800097"/>
                  </a:lnTo>
                  <a:lnTo>
                    <a:pt x="5166359" y="160023"/>
                  </a:lnTo>
                  <a:lnTo>
                    <a:pt x="5158201" y="109443"/>
                  </a:lnTo>
                  <a:lnTo>
                    <a:pt x="5135484" y="65515"/>
                  </a:lnTo>
                  <a:lnTo>
                    <a:pt x="5100844" y="30875"/>
                  </a:lnTo>
                  <a:lnTo>
                    <a:pt x="5056916" y="8158"/>
                  </a:lnTo>
                  <a:lnTo>
                    <a:pt x="5006336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17920" y="3511295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59" h="960120">
                  <a:moveTo>
                    <a:pt x="160023" y="0"/>
                  </a:moveTo>
                  <a:lnTo>
                    <a:pt x="5006336" y="0"/>
                  </a:lnTo>
                  <a:lnTo>
                    <a:pt x="5056916" y="8158"/>
                  </a:lnTo>
                  <a:lnTo>
                    <a:pt x="5100844" y="30875"/>
                  </a:lnTo>
                  <a:lnTo>
                    <a:pt x="5135484" y="65515"/>
                  </a:lnTo>
                  <a:lnTo>
                    <a:pt x="5158201" y="109443"/>
                  </a:lnTo>
                  <a:lnTo>
                    <a:pt x="5166360" y="160023"/>
                  </a:lnTo>
                  <a:lnTo>
                    <a:pt x="5166360" y="800096"/>
                  </a:lnTo>
                  <a:lnTo>
                    <a:pt x="5158201" y="850676"/>
                  </a:lnTo>
                  <a:lnTo>
                    <a:pt x="5135484" y="894604"/>
                  </a:lnTo>
                  <a:lnTo>
                    <a:pt x="5100844" y="929244"/>
                  </a:lnTo>
                  <a:lnTo>
                    <a:pt x="5056916" y="951961"/>
                  </a:lnTo>
                  <a:lnTo>
                    <a:pt x="5006336" y="960119"/>
                  </a:lnTo>
                  <a:lnTo>
                    <a:pt x="160023" y="960119"/>
                  </a:lnTo>
                  <a:lnTo>
                    <a:pt x="109443" y="951961"/>
                  </a:lnTo>
                  <a:lnTo>
                    <a:pt x="65515" y="929244"/>
                  </a:lnTo>
                  <a:lnTo>
                    <a:pt x="30875" y="894604"/>
                  </a:lnTo>
                  <a:lnTo>
                    <a:pt x="8158" y="850676"/>
                  </a:lnTo>
                  <a:lnTo>
                    <a:pt x="0" y="800096"/>
                  </a:lnTo>
                  <a:lnTo>
                    <a:pt x="0" y="160023"/>
                  </a:lnTo>
                  <a:lnTo>
                    <a:pt x="8158" y="109443"/>
                  </a:lnTo>
                  <a:lnTo>
                    <a:pt x="30875" y="65515"/>
                  </a:lnTo>
                  <a:lnTo>
                    <a:pt x="65515" y="30875"/>
                  </a:lnTo>
                  <a:lnTo>
                    <a:pt x="109443" y="8158"/>
                  </a:lnTo>
                  <a:lnTo>
                    <a:pt x="160023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3496195"/>
              <a:ext cx="140208" cy="103631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217920" y="3511295"/>
              <a:ext cx="64135" cy="960119"/>
            </a:xfrm>
            <a:custGeom>
              <a:avLst/>
              <a:gdLst/>
              <a:ahLst/>
              <a:cxnLst/>
              <a:rect l="l" t="t" r="r" b="b"/>
              <a:pathLst>
                <a:path w="64135" h="960120">
                  <a:moveTo>
                    <a:pt x="64008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64008" y="96011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497828" y="3686812"/>
            <a:ext cx="172656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06</a:t>
            </a:r>
            <a:r>
              <a:rPr sz="1000" b="1" spc="229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AI</a:t>
            </a:r>
            <a:r>
              <a:rPr sz="1000" b="1" spc="-1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SKILL</a:t>
            </a:r>
            <a:r>
              <a:rPr sz="1000" b="1" spc="-2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5F8FC"/>
                </a:solidFill>
                <a:latin typeface="Arial"/>
                <a:cs typeface="Arial"/>
              </a:rPr>
              <a:t>INTELLIGENCE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97828" y="4064637"/>
            <a:ext cx="27927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Extract</a:t>
            </a:r>
            <a:r>
              <a:rPr sz="900" spc="-2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normalize</a:t>
            </a:r>
            <a:r>
              <a:rPr sz="900" spc="-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categorize</a:t>
            </a:r>
            <a:r>
              <a:rPr sz="900" spc="-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skills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from</a:t>
            </a:r>
            <a:r>
              <a:rPr sz="900" spc="-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descriptions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88657" y="4698441"/>
            <a:ext cx="5252085" cy="1045844"/>
            <a:chOff x="688657" y="4698441"/>
            <a:chExt cx="5252085" cy="1045844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657" y="4698441"/>
              <a:ext cx="5252085" cy="104584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31519" y="4718304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60" h="960120">
                  <a:moveTo>
                    <a:pt x="5006336" y="0"/>
                  </a:moveTo>
                  <a:lnTo>
                    <a:pt x="160023" y="0"/>
                  </a:lnTo>
                  <a:lnTo>
                    <a:pt x="109443" y="8158"/>
                  </a:lnTo>
                  <a:lnTo>
                    <a:pt x="65515" y="30875"/>
                  </a:lnTo>
                  <a:lnTo>
                    <a:pt x="30875" y="65515"/>
                  </a:lnTo>
                  <a:lnTo>
                    <a:pt x="8158" y="109443"/>
                  </a:lnTo>
                  <a:lnTo>
                    <a:pt x="0" y="160022"/>
                  </a:lnTo>
                  <a:lnTo>
                    <a:pt x="0" y="800096"/>
                  </a:lnTo>
                  <a:lnTo>
                    <a:pt x="8158" y="850676"/>
                  </a:lnTo>
                  <a:lnTo>
                    <a:pt x="30875" y="894604"/>
                  </a:lnTo>
                  <a:lnTo>
                    <a:pt x="65515" y="929244"/>
                  </a:lnTo>
                  <a:lnTo>
                    <a:pt x="109443" y="951961"/>
                  </a:lnTo>
                  <a:lnTo>
                    <a:pt x="160023" y="960119"/>
                  </a:lnTo>
                  <a:lnTo>
                    <a:pt x="5006336" y="960119"/>
                  </a:lnTo>
                  <a:lnTo>
                    <a:pt x="5056916" y="951961"/>
                  </a:lnTo>
                  <a:lnTo>
                    <a:pt x="5100844" y="929244"/>
                  </a:lnTo>
                  <a:lnTo>
                    <a:pt x="5135484" y="894604"/>
                  </a:lnTo>
                  <a:lnTo>
                    <a:pt x="5158201" y="850676"/>
                  </a:lnTo>
                  <a:lnTo>
                    <a:pt x="5166359" y="800096"/>
                  </a:lnTo>
                  <a:lnTo>
                    <a:pt x="5166359" y="160022"/>
                  </a:lnTo>
                  <a:lnTo>
                    <a:pt x="5158201" y="109443"/>
                  </a:lnTo>
                  <a:lnTo>
                    <a:pt x="5135484" y="65515"/>
                  </a:lnTo>
                  <a:lnTo>
                    <a:pt x="5100844" y="30875"/>
                  </a:lnTo>
                  <a:lnTo>
                    <a:pt x="5056916" y="8158"/>
                  </a:lnTo>
                  <a:lnTo>
                    <a:pt x="5006336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31519" y="4718304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60" h="960120">
                  <a:moveTo>
                    <a:pt x="160023" y="0"/>
                  </a:moveTo>
                  <a:lnTo>
                    <a:pt x="5006336" y="0"/>
                  </a:lnTo>
                  <a:lnTo>
                    <a:pt x="5056916" y="8158"/>
                  </a:lnTo>
                  <a:lnTo>
                    <a:pt x="5100844" y="30875"/>
                  </a:lnTo>
                  <a:lnTo>
                    <a:pt x="5135484" y="65515"/>
                  </a:lnTo>
                  <a:lnTo>
                    <a:pt x="5158201" y="109443"/>
                  </a:lnTo>
                  <a:lnTo>
                    <a:pt x="5166360" y="160023"/>
                  </a:lnTo>
                  <a:lnTo>
                    <a:pt x="5166360" y="800096"/>
                  </a:lnTo>
                  <a:lnTo>
                    <a:pt x="5158201" y="850676"/>
                  </a:lnTo>
                  <a:lnTo>
                    <a:pt x="5135484" y="894604"/>
                  </a:lnTo>
                  <a:lnTo>
                    <a:pt x="5100844" y="929244"/>
                  </a:lnTo>
                  <a:lnTo>
                    <a:pt x="5056916" y="951961"/>
                  </a:lnTo>
                  <a:lnTo>
                    <a:pt x="5006336" y="960119"/>
                  </a:lnTo>
                  <a:lnTo>
                    <a:pt x="160023" y="960119"/>
                  </a:lnTo>
                  <a:lnTo>
                    <a:pt x="109443" y="951961"/>
                  </a:lnTo>
                  <a:lnTo>
                    <a:pt x="65515" y="929244"/>
                  </a:lnTo>
                  <a:lnTo>
                    <a:pt x="30875" y="894604"/>
                  </a:lnTo>
                  <a:lnTo>
                    <a:pt x="8158" y="850676"/>
                  </a:lnTo>
                  <a:lnTo>
                    <a:pt x="0" y="800096"/>
                  </a:lnTo>
                  <a:lnTo>
                    <a:pt x="0" y="160023"/>
                  </a:lnTo>
                  <a:lnTo>
                    <a:pt x="8158" y="109443"/>
                  </a:lnTo>
                  <a:lnTo>
                    <a:pt x="30875" y="65515"/>
                  </a:lnTo>
                  <a:lnTo>
                    <a:pt x="65515" y="30875"/>
                  </a:lnTo>
                  <a:lnTo>
                    <a:pt x="109443" y="8158"/>
                  </a:lnTo>
                  <a:lnTo>
                    <a:pt x="160023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19" y="4703204"/>
              <a:ext cx="140208" cy="103632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31519" y="4718304"/>
              <a:ext cx="64135" cy="960119"/>
            </a:xfrm>
            <a:custGeom>
              <a:avLst/>
              <a:gdLst/>
              <a:ahLst/>
              <a:cxnLst/>
              <a:rect l="l" t="t" r="r" b="b"/>
              <a:pathLst>
                <a:path w="64134" h="960120">
                  <a:moveTo>
                    <a:pt x="64007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64007" y="960119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3AB5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011427" y="4893820"/>
            <a:ext cx="1691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07</a:t>
            </a:r>
            <a:r>
              <a:rPr sz="1000" b="1" spc="26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INTELLIGENCE</a:t>
            </a:r>
            <a:r>
              <a:rPr sz="1000" b="1" spc="-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5F8FC"/>
                </a:solidFill>
                <a:latin typeface="Arial"/>
                <a:cs typeface="Arial"/>
              </a:rPr>
              <a:t>ENGINE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11427" y="5271645"/>
            <a:ext cx="24752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Emerging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skills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skill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gaps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demand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forecasting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175057" y="4698441"/>
            <a:ext cx="5252085" cy="1045844"/>
            <a:chOff x="6175057" y="4698441"/>
            <a:chExt cx="5252085" cy="1045844"/>
          </a:xfrm>
        </p:grpSpPr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5057" y="4698441"/>
              <a:ext cx="5252085" cy="104584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217920" y="4718304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59" h="960120">
                  <a:moveTo>
                    <a:pt x="5006336" y="0"/>
                  </a:moveTo>
                  <a:lnTo>
                    <a:pt x="160023" y="0"/>
                  </a:lnTo>
                  <a:lnTo>
                    <a:pt x="109443" y="8158"/>
                  </a:lnTo>
                  <a:lnTo>
                    <a:pt x="65515" y="30875"/>
                  </a:lnTo>
                  <a:lnTo>
                    <a:pt x="30875" y="65515"/>
                  </a:lnTo>
                  <a:lnTo>
                    <a:pt x="8158" y="109443"/>
                  </a:lnTo>
                  <a:lnTo>
                    <a:pt x="0" y="160022"/>
                  </a:lnTo>
                  <a:lnTo>
                    <a:pt x="0" y="800096"/>
                  </a:lnTo>
                  <a:lnTo>
                    <a:pt x="8158" y="850676"/>
                  </a:lnTo>
                  <a:lnTo>
                    <a:pt x="30875" y="894604"/>
                  </a:lnTo>
                  <a:lnTo>
                    <a:pt x="65515" y="929244"/>
                  </a:lnTo>
                  <a:lnTo>
                    <a:pt x="109443" y="951961"/>
                  </a:lnTo>
                  <a:lnTo>
                    <a:pt x="160023" y="960119"/>
                  </a:lnTo>
                  <a:lnTo>
                    <a:pt x="5006336" y="960119"/>
                  </a:lnTo>
                  <a:lnTo>
                    <a:pt x="5056916" y="951961"/>
                  </a:lnTo>
                  <a:lnTo>
                    <a:pt x="5100844" y="929244"/>
                  </a:lnTo>
                  <a:lnTo>
                    <a:pt x="5135484" y="894604"/>
                  </a:lnTo>
                  <a:lnTo>
                    <a:pt x="5158201" y="850676"/>
                  </a:lnTo>
                  <a:lnTo>
                    <a:pt x="5166359" y="800096"/>
                  </a:lnTo>
                  <a:lnTo>
                    <a:pt x="5166359" y="160022"/>
                  </a:lnTo>
                  <a:lnTo>
                    <a:pt x="5158201" y="109443"/>
                  </a:lnTo>
                  <a:lnTo>
                    <a:pt x="5135484" y="65515"/>
                  </a:lnTo>
                  <a:lnTo>
                    <a:pt x="5100844" y="30875"/>
                  </a:lnTo>
                  <a:lnTo>
                    <a:pt x="5056916" y="8158"/>
                  </a:lnTo>
                  <a:lnTo>
                    <a:pt x="5006336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217920" y="4718304"/>
              <a:ext cx="5166360" cy="960119"/>
            </a:xfrm>
            <a:custGeom>
              <a:avLst/>
              <a:gdLst/>
              <a:ahLst/>
              <a:cxnLst/>
              <a:rect l="l" t="t" r="r" b="b"/>
              <a:pathLst>
                <a:path w="5166359" h="960120">
                  <a:moveTo>
                    <a:pt x="160023" y="0"/>
                  </a:moveTo>
                  <a:lnTo>
                    <a:pt x="5006336" y="0"/>
                  </a:lnTo>
                  <a:lnTo>
                    <a:pt x="5056916" y="8158"/>
                  </a:lnTo>
                  <a:lnTo>
                    <a:pt x="5100844" y="30875"/>
                  </a:lnTo>
                  <a:lnTo>
                    <a:pt x="5135484" y="65515"/>
                  </a:lnTo>
                  <a:lnTo>
                    <a:pt x="5158201" y="109443"/>
                  </a:lnTo>
                  <a:lnTo>
                    <a:pt x="5166360" y="160023"/>
                  </a:lnTo>
                  <a:lnTo>
                    <a:pt x="5166360" y="800096"/>
                  </a:lnTo>
                  <a:lnTo>
                    <a:pt x="5158201" y="850676"/>
                  </a:lnTo>
                  <a:lnTo>
                    <a:pt x="5135484" y="894604"/>
                  </a:lnTo>
                  <a:lnTo>
                    <a:pt x="5100844" y="929244"/>
                  </a:lnTo>
                  <a:lnTo>
                    <a:pt x="5056916" y="951961"/>
                  </a:lnTo>
                  <a:lnTo>
                    <a:pt x="5006336" y="960119"/>
                  </a:lnTo>
                  <a:lnTo>
                    <a:pt x="160023" y="960119"/>
                  </a:lnTo>
                  <a:lnTo>
                    <a:pt x="109443" y="951961"/>
                  </a:lnTo>
                  <a:lnTo>
                    <a:pt x="65515" y="929244"/>
                  </a:lnTo>
                  <a:lnTo>
                    <a:pt x="30875" y="894604"/>
                  </a:lnTo>
                  <a:lnTo>
                    <a:pt x="8158" y="850676"/>
                  </a:lnTo>
                  <a:lnTo>
                    <a:pt x="0" y="800096"/>
                  </a:lnTo>
                  <a:lnTo>
                    <a:pt x="0" y="160023"/>
                  </a:lnTo>
                  <a:lnTo>
                    <a:pt x="8158" y="109443"/>
                  </a:lnTo>
                  <a:lnTo>
                    <a:pt x="30875" y="65515"/>
                  </a:lnTo>
                  <a:lnTo>
                    <a:pt x="65515" y="30875"/>
                  </a:lnTo>
                  <a:lnTo>
                    <a:pt x="109443" y="8158"/>
                  </a:lnTo>
                  <a:lnTo>
                    <a:pt x="160023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4703204"/>
              <a:ext cx="140208" cy="103632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6217920" y="4718304"/>
              <a:ext cx="64135" cy="960119"/>
            </a:xfrm>
            <a:custGeom>
              <a:avLst/>
              <a:gdLst/>
              <a:ahLst/>
              <a:cxnLst/>
              <a:rect l="l" t="t" r="r" b="b"/>
              <a:pathLst>
                <a:path w="64135" h="960120">
                  <a:moveTo>
                    <a:pt x="64008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64008" y="96011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0A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497828" y="4893820"/>
            <a:ext cx="13055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08</a:t>
            </a:r>
            <a:r>
              <a:rPr sz="1000" b="1" spc="27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5F8FC"/>
                </a:solidFill>
                <a:latin typeface="Arial"/>
                <a:cs typeface="Arial"/>
              </a:rPr>
              <a:t>DECISION</a:t>
            </a:r>
            <a:r>
              <a:rPr sz="1000" b="1" spc="-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5F8FC"/>
                </a:solidFill>
                <a:latin typeface="Arial"/>
                <a:cs typeface="Arial"/>
              </a:rPr>
              <a:t>LAYER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67" name="object 67"/>
          <p:cNvSpPr txBox="1"/>
          <p:nvPr/>
        </p:nvSpPr>
        <p:spPr>
          <a:xfrm>
            <a:off x="6497828" y="5271645"/>
            <a:ext cx="269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Interactive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dashboard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trends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predictions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9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D2DDEA"/>
                </a:solidFill>
                <a:latin typeface="Arial MT"/>
                <a:cs typeface="Arial MT"/>
              </a:rPr>
              <a:t>insights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spc="-155" dirty="0"/>
              <a:t> </a:t>
            </a:r>
            <a:r>
              <a:rPr spc="-10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833884"/>
            <a:ext cx="20637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Scalable,</a:t>
            </a:r>
            <a:r>
              <a:rPr sz="1000" spc="-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AI-ready,</a:t>
            </a:r>
            <a:r>
              <a:rPr sz="1000" dirty="0">
                <a:solidFill>
                  <a:srgbClr val="97A9C1"/>
                </a:solidFill>
                <a:latin typeface="Arial MT"/>
                <a:cs typeface="Arial MT"/>
              </a:rPr>
              <a:t> and</a:t>
            </a:r>
            <a:r>
              <a:rPr sz="1000" spc="1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7A9C1"/>
                </a:solidFill>
                <a:latin typeface="Arial MT"/>
                <a:cs typeface="Arial MT"/>
              </a:rPr>
              <a:t>reproducible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2937" y="1095705"/>
            <a:ext cx="5252085" cy="744220"/>
            <a:chOff x="642937" y="1095705"/>
            <a:chExt cx="5252085" cy="7442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095705"/>
              <a:ext cx="5252085" cy="74409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111556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4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8"/>
                  </a:lnTo>
                  <a:lnTo>
                    <a:pt x="5056629" y="658368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60" y="548637"/>
                  </a:lnTo>
                  <a:lnTo>
                    <a:pt x="5166360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111556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4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100467"/>
              <a:ext cx="140208" cy="7345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800" y="1115568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4" h="658494">
                  <a:moveTo>
                    <a:pt x="64007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64007" y="658367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E74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5707" y="1288163"/>
            <a:ext cx="9340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5F8FC"/>
                </a:solidFill>
                <a:latin typeface="Arial"/>
                <a:cs typeface="Arial"/>
              </a:rPr>
              <a:t>Programming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852" y="1571659"/>
            <a:ext cx="421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Python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75057" y="1095705"/>
            <a:ext cx="5252085" cy="744220"/>
            <a:chOff x="6175057" y="1095705"/>
            <a:chExt cx="5252085" cy="74422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5057" y="1095705"/>
              <a:ext cx="5252085" cy="74409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17920" y="111556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4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8"/>
                  </a:lnTo>
                  <a:lnTo>
                    <a:pt x="5056629" y="658368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59" y="548637"/>
                  </a:lnTo>
                  <a:lnTo>
                    <a:pt x="5166359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17920" y="111556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4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1100467"/>
              <a:ext cx="140208" cy="7345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17920" y="1115568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5" h="658494">
                  <a:moveTo>
                    <a:pt x="64008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64008" y="658367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97828" y="1288163"/>
            <a:ext cx="15081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5F8FC"/>
                </a:solidFill>
                <a:latin typeface="Arial"/>
                <a:cs typeface="Arial"/>
              </a:rPr>
              <a:t>Ingestion</a:t>
            </a:r>
            <a:r>
              <a:rPr sz="1100" b="1" spc="-25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5F8FC"/>
                </a:solidFill>
                <a:latin typeface="Arial"/>
                <a:cs typeface="Arial"/>
              </a:rPr>
              <a:t>&amp;</a:t>
            </a:r>
            <a:r>
              <a:rPr sz="1100" b="1" spc="-2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5F8FC"/>
                </a:solidFill>
                <a:latin typeface="Arial"/>
                <a:cs typeface="Arial"/>
              </a:rPr>
              <a:t>Streaming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97828" y="1567246"/>
            <a:ext cx="201548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CSV</a:t>
            </a:r>
            <a:r>
              <a:rPr sz="10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• JSON</a:t>
            </a:r>
            <a:r>
              <a:rPr sz="10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10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APIs •</a:t>
            </a:r>
            <a:r>
              <a:rPr sz="1000" spc="-6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Apache </a:t>
            </a:r>
            <a:r>
              <a:rPr sz="1000" spc="-20" dirty="0">
                <a:solidFill>
                  <a:srgbClr val="D2DDEA"/>
                </a:solidFill>
                <a:latin typeface="Arial MT"/>
                <a:cs typeface="Arial MT"/>
              </a:rPr>
              <a:t>Kafka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2937" y="1918665"/>
            <a:ext cx="5252085" cy="744220"/>
            <a:chOff x="642937" y="1918665"/>
            <a:chExt cx="5252085" cy="74422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918665"/>
              <a:ext cx="5252085" cy="74409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5800" y="193852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4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8"/>
                  </a:lnTo>
                  <a:lnTo>
                    <a:pt x="5056629" y="658368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60" y="548637"/>
                  </a:lnTo>
                  <a:lnTo>
                    <a:pt x="5166360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5800" y="193852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4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923427"/>
              <a:ext cx="140208" cy="73456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85800" y="1938528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4" h="658494">
                  <a:moveTo>
                    <a:pt x="64007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64007" y="658368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3AB5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65707" y="2111123"/>
            <a:ext cx="6858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5F8FC"/>
                </a:solidFill>
                <a:latin typeface="Arial"/>
                <a:cs typeface="Arial"/>
              </a:rPr>
              <a:t>Data</a:t>
            </a:r>
            <a:r>
              <a:rPr sz="1100" b="1" spc="-20" dirty="0">
                <a:solidFill>
                  <a:srgbClr val="F5F8FC"/>
                </a:solidFill>
                <a:latin typeface="Arial"/>
                <a:cs typeface="Arial"/>
              </a:rPr>
              <a:t> Lake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65708" y="2397000"/>
            <a:ext cx="1383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MinIO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10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Apache</a:t>
            </a:r>
            <a:r>
              <a:rPr sz="10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Parquet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75057" y="1918665"/>
            <a:ext cx="5252085" cy="744220"/>
            <a:chOff x="6175057" y="1918665"/>
            <a:chExt cx="5252085" cy="74422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5057" y="1918665"/>
              <a:ext cx="5252085" cy="74409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217920" y="193852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4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8"/>
                  </a:lnTo>
                  <a:lnTo>
                    <a:pt x="5056629" y="658368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59" y="548637"/>
                  </a:lnTo>
                  <a:lnTo>
                    <a:pt x="5166359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17920" y="193852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4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1923427"/>
              <a:ext cx="140208" cy="73456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217920" y="1938528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5" h="658494">
                  <a:moveTo>
                    <a:pt x="64008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64008" y="658368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0A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97828" y="2111123"/>
            <a:ext cx="779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5F8FC"/>
                </a:solidFill>
                <a:latin typeface="Arial"/>
                <a:cs typeface="Arial"/>
              </a:rPr>
              <a:t>Processing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97828" y="2378156"/>
            <a:ext cx="14185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Apache</a:t>
            </a:r>
            <a:r>
              <a:rPr sz="10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Spark •</a:t>
            </a:r>
            <a:r>
              <a:rPr sz="10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PySpark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42937" y="2741625"/>
            <a:ext cx="5252085" cy="744220"/>
            <a:chOff x="642937" y="2741625"/>
            <a:chExt cx="5252085" cy="74422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2741625"/>
              <a:ext cx="5252085" cy="74409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85800" y="276148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5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7"/>
                  </a:lnTo>
                  <a:lnTo>
                    <a:pt x="5056629" y="658367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60" y="548637"/>
                  </a:lnTo>
                  <a:lnTo>
                    <a:pt x="5166360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5800" y="276148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5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2746387"/>
              <a:ext cx="140208" cy="73456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85800" y="2761488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4" h="658495">
                  <a:moveTo>
                    <a:pt x="64007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64007" y="658368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E74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65707" y="2842859"/>
            <a:ext cx="1105535" cy="52006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100" b="1" dirty="0">
                <a:solidFill>
                  <a:srgbClr val="F5F8FC"/>
                </a:solidFill>
                <a:latin typeface="Arial"/>
                <a:cs typeface="Arial"/>
              </a:rPr>
              <a:t>Data</a:t>
            </a:r>
            <a:r>
              <a:rPr sz="1100" b="1" spc="-2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5F8FC"/>
                </a:solidFill>
                <a:latin typeface="Arial"/>
                <a:cs typeface="Arial"/>
              </a:rPr>
              <a:t>Quality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Great</a:t>
            </a:r>
            <a:r>
              <a:rPr sz="1000" spc="-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Expectations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175057" y="2741625"/>
            <a:ext cx="5252085" cy="744220"/>
            <a:chOff x="6175057" y="2741625"/>
            <a:chExt cx="5252085" cy="744220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5057" y="2741625"/>
              <a:ext cx="5252085" cy="74409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217920" y="276148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5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7"/>
                  </a:lnTo>
                  <a:lnTo>
                    <a:pt x="5056629" y="658367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59" y="548637"/>
                  </a:lnTo>
                  <a:lnTo>
                    <a:pt x="5166359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17920" y="276148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5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2746387"/>
              <a:ext cx="140208" cy="73456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217920" y="2761488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5" h="658495">
                  <a:moveTo>
                    <a:pt x="64008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64008" y="658368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497828" y="2934083"/>
            <a:ext cx="773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5F8FC"/>
                </a:solidFill>
                <a:latin typeface="Arial"/>
                <a:cs typeface="Arial"/>
              </a:rPr>
              <a:t>Warehouse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497828" y="3213610"/>
            <a:ext cx="192658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PostgreSQL</a:t>
            </a:r>
            <a:r>
              <a:rPr sz="10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• SQL</a:t>
            </a:r>
            <a:r>
              <a:rPr sz="10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• Star</a:t>
            </a:r>
            <a:r>
              <a:rPr sz="1000" spc="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Schema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42937" y="3564585"/>
            <a:ext cx="5252085" cy="744220"/>
            <a:chOff x="642937" y="3564585"/>
            <a:chExt cx="5252085" cy="744220"/>
          </a:xfrm>
        </p:grpSpPr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3564585"/>
              <a:ext cx="5252085" cy="74409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85800" y="3584447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5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8"/>
                  </a:lnTo>
                  <a:lnTo>
                    <a:pt x="5056629" y="658368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60" y="548637"/>
                  </a:lnTo>
                  <a:lnTo>
                    <a:pt x="5166360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5800" y="3584447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5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3569347"/>
              <a:ext cx="140208" cy="73456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85800" y="3584447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4" h="658495">
                  <a:moveTo>
                    <a:pt x="64007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64007" y="658368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3AB5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965707" y="3757043"/>
            <a:ext cx="5537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5F8FC"/>
                </a:solidFill>
                <a:latin typeface="Arial"/>
                <a:cs typeface="Arial"/>
              </a:rPr>
              <a:t>NLP</a:t>
            </a:r>
            <a:r>
              <a:rPr sz="1100" b="1" spc="-3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5F8FC"/>
                </a:solidFill>
                <a:latin typeface="Arial"/>
                <a:cs typeface="Arial"/>
              </a:rPr>
              <a:t>/</a:t>
            </a:r>
            <a:r>
              <a:rPr sz="1100" b="1" spc="-5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5F8FC"/>
                </a:solidFill>
                <a:latin typeface="Arial"/>
                <a:cs typeface="Arial"/>
              </a:rPr>
              <a:t>AI</a:t>
            </a:r>
            <a:endParaRPr sz="1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47419" y="4040888"/>
            <a:ext cx="25126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spaCy</a:t>
            </a:r>
            <a:r>
              <a:rPr sz="1000" spc="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 Transformer</a:t>
            </a:r>
            <a:r>
              <a:rPr sz="1000" spc="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/</a:t>
            </a:r>
            <a:r>
              <a:rPr sz="1000" spc="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LLM-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based</a:t>
            </a:r>
            <a:r>
              <a:rPr sz="1000" spc="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extraction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175057" y="3564585"/>
            <a:ext cx="5252085" cy="744220"/>
            <a:chOff x="6175057" y="3564585"/>
            <a:chExt cx="5252085" cy="744220"/>
          </a:xfrm>
        </p:grpSpPr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5057" y="3564585"/>
              <a:ext cx="5252085" cy="74409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217920" y="3584447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5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8"/>
                  </a:lnTo>
                  <a:lnTo>
                    <a:pt x="5056629" y="658368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59" y="548637"/>
                  </a:lnTo>
                  <a:lnTo>
                    <a:pt x="5166359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217920" y="3584447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5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3569347"/>
              <a:ext cx="140208" cy="734568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217920" y="3584447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5" h="658495">
                  <a:moveTo>
                    <a:pt x="64008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64008" y="658368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0A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6497828" y="3757043"/>
            <a:ext cx="12134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5F8FC"/>
                </a:solidFill>
                <a:latin typeface="Arial"/>
                <a:cs typeface="Arial"/>
              </a:rPr>
              <a:t>Machine</a:t>
            </a:r>
            <a:r>
              <a:rPr sz="1100" b="1" spc="-30" dirty="0">
                <a:solidFill>
                  <a:srgbClr val="F5F8F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5F8FC"/>
                </a:solidFill>
                <a:latin typeface="Arial"/>
                <a:cs typeface="Arial"/>
              </a:rPr>
              <a:t>Learning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497828" y="4033744"/>
            <a:ext cx="18770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Scikit-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learn</a:t>
            </a:r>
            <a:r>
              <a:rPr sz="1000" spc="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•</a:t>
            </a:r>
            <a:r>
              <a:rPr sz="1000" spc="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Forecasting</a:t>
            </a:r>
            <a:r>
              <a:rPr sz="1000" spc="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models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42937" y="4387545"/>
            <a:ext cx="5252085" cy="744220"/>
            <a:chOff x="642937" y="4387545"/>
            <a:chExt cx="5252085" cy="744220"/>
          </a:xfrm>
        </p:grpSpPr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4387545"/>
              <a:ext cx="5252085" cy="744093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85800" y="440740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5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8"/>
                  </a:lnTo>
                  <a:lnTo>
                    <a:pt x="5056629" y="658368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60" y="548637"/>
                  </a:lnTo>
                  <a:lnTo>
                    <a:pt x="5166360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85800" y="440740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5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4392307"/>
              <a:ext cx="140208" cy="73456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85800" y="4407408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4" h="658495">
                  <a:moveTo>
                    <a:pt x="64007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64007" y="658368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E74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965707" y="4580003"/>
            <a:ext cx="9417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5F8FC"/>
                </a:solidFill>
                <a:latin typeface="Arial"/>
                <a:cs typeface="Arial"/>
              </a:rPr>
              <a:t>Orchestration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65707" y="4855910"/>
            <a:ext cx="8661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Apache</a:t>
            </a:r>
            <a:r>
              <a:rPr sz="10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Airflow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175057" y="4387545"/>
            <a:ext cx="5252085" cy="744220"/>
            <a:chOff x="6175057" y="4387545"/>
            <a:chExt cx="5252085" cy="744220"/>
          </a:xfrm>
        </p:grpSpPr>
        <p:pic>
          <p:nvPicPr>
            <p:cNvPr id="76" name="object 7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5057" y="4387545"/>
              <a:ext cx="5252085" cy="74409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217920" y="440740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5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8"/>
                  </a:lnTo>
                  <a:lnTo>
                    <a:pt x="5056629" y="658368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59" y="548637"/>
                  </a:lnTo>
                  <a:lnTo>
                    <a:pt x="5166359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217920" y="440740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59" h="658495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820" y="4392307"/>
              <a:ext cx="140208" cy="734568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6217920" y="4407408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5" h="658495">
                  <a:moveTo>
                    <a:pt x="64008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64008" y="658368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6497828" y="4580003"/>
            <a:ext cx="8769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5F8FC"/>
                </a:solidFill>
                <a:latin typeface="Arial"/>
                <a:cs typeface="Arial"/>
              </a:rPr>
              <a:t>Visualization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497828" y="4841337"/>
            <a:ext cx="11480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Streamlit</a:t>
            </a:r>
            <a:r>
              <a:rPr sz="1000" spc="-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/</a:t>
            </a:r>
            <a:r>
              <a:rPr sz="1000" spc="-1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D2DDEA"/>
                </a:solidFill>
                <a:latin typeface="Arial MT"/>
                <a:cs typeface="Arial MT"/>
              </a:rPr>
              <a:t>Power</a:t>
            </a: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D2DDEA"/>
                </a:solidFill>
                <a:latin typeface="Arial MT"/>
                <a:cs typeface="Arial MT"/>
              </a:rPr>
              <a:t>BI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42937" y="5210505"/>
            <a:ext cx="5252085" cy="744220"/>
            <a:chOff x="642937" y="5210505"/>
            <a:chExt cx="5252085" cy="744220"/>
          </a:xfrm>
        </p:grpSpPr>
        <p:pic>
          <p:nvPicPr>
            <p:cNvPr id="84" name="object 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5210505"/>
              <a:ext cx="5252085" cy="744092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685800" y="523036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5">
                  <a:moveTo>
                    <a:pt x="5056629" y="0"/>
                  </a:moveTo>
                  <a:lnTo>
                    <a:pt x="109730" y="0"/>
                  </a:lnTo>
                  <a:lnTo>
                    <a:pt x="67018" y="8623"/>
                  </a:lnTo>
                  <a:lnTo>
                    <a:pt x="32139" y="32139"/>
                  </a:lnTo>
                  <a:lnTo>
                    <a:pt x="8623" y="67018"/>
                  </a:lnTo>
                  <a:lnTo>
                    <a:pt x="0" y="109730"/>
                  </a:lnTo>
                  <a:lnTo>
                    <a:pt x="0" y="548637"/>
                  </a:lnTo>
                  <a:lnTo>
                    <a:pt x="8623" y="591349"/>
                  </a:lnTo>
                  <a:lnTo>
                    <a:pt x="32139" y="626228"/>
                  </a:lnTo>
                  <a:lnTo>
                    <a:pt x="67018" y="649744"/>
                  </a:lnTo>
                  <a:lnTo>
                    <a:pt x="109730" y="658367"/>
                  </a:lnTo>
                  <a:lnTo>
                    <a:pt x="5056629" y="658367"/>
                  </a:lnTo>
                  <a:lnTo>
                    <a:pt x="5099341" y="649744"/>
                  </a:lnTo>
                  <a:lnTo>
                    <a:pt x="5134220" y="626228"/>
                  </a:lnTo>
                  <a:lnTo>
                    <a:pt x="5157736" y="591349"/>
                  </a:lnTo>
                  <a:lnTo>
                    <a:pt x="5166360" y="548637"/>
                  </a:lnTo>
                  <a:lnTo>
                    <a:pt x="5166360" y="109730"/>
                  </a:lnTo>
                  <a:lnTo>
                    <a:pt x="5157736" y="67018"/>
                  </a:lnTo>
                  <a:lnTo>
                    <a:pt x="5134220" y="32139"/>
                  </a:lnTo>
                  <a:lnTo>
                    <a:pt x="5099341" y="8623"/>
                  </a:lnTo>
                  <a:lnTo>
                    <a:pt x="5056629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85800" y="5230368"/>
              <a:ext cx="5166360" cy="658495"/>
            </a:xfrm>
            <a:custGeom>
              <a:avLst/>
              <a:gdLst/>
              <a:ahLst/>
              <a:cxnLst/>
              <a:rect l="l" t="t" r="r" b="b"/>
              <a:pathLst>
                <a:path w="5166360" h="658495">
                  <a:moveTo>
                    <a:pt x="109730" y="0"/>
                  </a:moveTo>
                  <a:lnTo>
                    <a:pt x="5056629" y="0"/>
                  </a:lnTo>
                  <a:lnTo>
                    <a:pt x="5099341" y="8623"/>
                  </a:lnTo>
                  <a:lnTo>
                    <a:pt x="5134220" y="32139"/>
                  </a:lnTo>
                  <a:lnTo>
                    <a:pt x="5157736" y="67018"/>
                  </a:lnTo>
                  <a:lnTo>
                    <a:pt x="5166360" y="109730"/>
                  </a:lnTo>
                  <a:lnTo>
                    <a:pt x="5166360" y="548637"/>
                  </a:lnTo>
                  <a:lnTo>
                    <a:pt x="5157736" y="591349"/>
                  </a:lnTo>
                  <a:lnTo>
                    <a:pt x="5134220" y="626228"/>
                  </a:lnTo>
                  <a:lnTo>
                    <a:pt x="5099341" y="649744"/>
                  </a:lnTo>
                  <a:lnTo>
                    <a:pt x="5056629" y="658368"/>
                  </a:lnTo>
                  <a:lnTo>
                    <a:pt x="109730" y="658368"/>
                  </a:lnTo>
                  <a:lnTo>
                    <a:pt x="67018" y="649744"/>
                  </a:lnTo>
                  <a:lnTo>
                    <a:pt x="32139" y="626228"/>
                  </a:lnTo>
                  <a:lnTo>
                    <a:pt x="8623" y="591349"/>
                  </a:lnTo>
                  <a:lnTo>
                    <a:pt x="0" y="548637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5215268"/>
              <a:ext cx="140208" cy="73456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685800" y="5230368"/>
              <a:ext cx="64135" cy="658495"/>
            </a:xfrm>
            <a:custGeom>
              <a:avLst/>
              <a:gdLst/>
              <a:ahLst/>
              <a:cxnLst/>
              <a:rect l="l" t="t" r="r" b="b"/>
              <a:pathLst>
                <a:path w="64134" h="658495">
                  <a:moveTo>
                    <a:pt x="64007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64007" y="658367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3AB5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965707" y="5402963"/>
            <a:ext cx="825500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5F8FC"/>
                </a:solidFill>
                <a:latin typeface="Arial"/>
                <a:cs typeface="Arial"/>
              </a:rPr>
              <a:t>Deployment</a:t>
            </a:r>
            <a:endParaRPr sz="11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830"/>
              </a:spcBef>
            </a:pPr>
            <a:r>
              <a:rPr sz="1000" spc="-10" dirty="0">
                <a:solidFill>
                  <a:srgbClr val="D2DDEA"/>
                </a:solidFill>
                <a:latin typeface="Arial MT"/>
                <a:cs typeface="Arial MT"/>
              </a:rPr>
              <a:t>Docker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THANK</a:t>
            </a:r>
            <a:r>
              <a:rPr sz="3800" spc="-210" dirty="0"/>
              <a:t> </a:t>
            </a:r>
            <a:r>
              <a:rPr sz="3800" spc="-25" dirty="0"/>
              <a:t>YOU</a:t>
            </a:r>
            <a:endParaRPr sz="3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4853940" y="3020707"/>
            <a:ext cx="2499360" cy="140335"/>
            <a:chOff x="4853940" y="3020707"/>
            <a:chExt cx="2499360" cy="140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3940" y="3020707"/>
              <a:ext cx="2499360" cy="1402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92040" y="3035807"/>
              <a:ext cx="2423160" cy="64135"/>
            </a:xfrm>
            <a:custGeom>
              <a:avLst/>
              <a:gdLst/>
              <a:ahLst/>
              <a:cxnLst/>
              <a:rect l="l" t="t" r="r" b="b"/>
              <a:pathLst>
                <a:path w="2423159" h="64135">
                  <a:moveTo>
                    <a:pt x="242316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2423160" y="64008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10659" y="5930013"/>
            <a:ext cx="28549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7A9C1"/>
                </a:solidFill>
                <a:latin typeface="Arial MT"/>
                <a:cs typeface="Arial MT"/>
              </a:rPr>
              <a:t>SkillSync</a:t>
            </a:r>
            <a:r>
              <a:rPr sz="900" spc="-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AI</a:t>
            </a:r>
            <a:r>
              <a:rPr sz="900" spc="2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•</a:t>
            </a:r>
            <a:r>
              <a:rPr sz="900" spc="254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Fundamentals</a:t>
            </a:r>
            <a:r>
              <a:rPr sz="9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of</a:t>
            </a:r>
            <a:r>
              <a:rPr sz="900" spc="-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Data</a:t>
            </a:r>
            <a:r>
              <a:rPr sz="9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Engineering</a:t>
            </a:r>
            <a:r>
              <a:rPr sz="9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for</a:t>
            </a:r>
            <a:r>
              <a:rPr sz="900" spc="-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97A9C1"/>
                </a:solidFill>
                <a:latin typeface="Arial MT"/>
                <a:cs typeface="Arial MT"/>
              </a:rPr>
              <a:t>AI</a:t>
            </a:r>
            <a:endParaRPr sz="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1001</Words>
  <Application>Microsoft Office PowerPoint</Application>
  <PresentationFormat>Custom</PresentationFormat>
  <Paragraphs>166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MT</vt:lpstr>
      <vt:lpstr>Calibri</vt:lpstr>
      <vt:lpstr>Lucida Sans Unicode</vt:lpstr>
      <vt:lpstr>Microsoft Sans Serif</vt:lpstr>
      <vt:lpstr>Times New Roman</vt:lpstr>
      <vt:lpstr>Office Theme</vt:lpstr>
      <vt:lpstr>SKILLSYNC AI</vt:lpstr>
      <vt:lpstr>ABSTRACT</vt:lpstr>
      <vt:lpstr>INTRODUCTION</vt:lpstr>
      <vt:lpstr>OBJECTIVES</vt:lpstr>
      <vt:lpstr>LITERATURE SURVEY</vt:lpstr>
      <vt:lpstr>LITERATURE SURVEY</vt:lpstr>
      <vt:lpstr>PowerPoint Presentation</vt:lpstr>
      <vt:lpstr>PROPOSED SOLUTION</vt:lpstr>
      <vt:lpstr>TECHNOLOGY STACK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SkillSync_AI_Final_Review_PPT</dc:title>
  <cp:lastModifiedBy>akshaya vizzapu</cp:lastModifiedBy>
  <cp:revision>2</cp:revision>
  <dcterms:created xsi:type="dcterms:W3CDTF">2026-09-05T04:52:14Z</dcterms:created>
  <dcterms:modified xsi:type="dcterms:W3CDTF">2026-09-05T05:10:22Z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2026-08-26T00:00:00Z</vt:filetime>
  </property>
  <property fmtid="{D5CDD505-2E9C-101B-9397-08002B2CF9AE}" pid="4" name="Creator">
    <vt:lpwstr>Keynote</vt:lpwstr>
  </property>
  <property fmtid="{D5CDD505-2E9C-101B-9397-08002B2CF9AE}" pid="5" name="LastSaved">
    <vt:filetime>2026-09-05T00:00:00Z</vt:filetime>
  </property>
  <property fmtid="{D5CDD505-2E9C-101B-9397-08002B2CF9AE}" pid="6" name="Producer">
    <vt:lpwstr>macOS Version 26.5.2 (Build 25F84) Quartz PDFContext</vt:lpwstr>
  </property>
</Properties>
</file>