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6" r:id="rId4"/>
    <p:sldId id="265" r:id="rId5"/>
    <p:sldId id="268" r:id="rId6"/>
    <p:sldId id="267" r:id="rId7"/>
    <p:sldId id="269" r:id="rId8"/>
    <p:sldId id="270" r:id="rId9"/>
    <p:sldId id="271" r:id="rId10"/>
    <p:sldId id="272" r:id="rId11"/>
    <p:sldId id="264" r:id="rId12"/>
  </p:sldIdLst>
  <p:sldSz cx="12179300" cy="6858000"/>
  <p:notesSz cx="121793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858000"/>
          </a:xfrm>
          <a:custGeom>
            <a:avLst/>
            <a:gdLst/>
            <a:ahLst/>
            <a:cxnLst/>
            <a:rect l="l" t="t" r="r" b="b"/>
            <a:pathLst>
              <a:path w="12179300" h="6858000">
                <a:moveTo>
                  <a:pt x="12179300" y="0"/>
                </a:moveTo>
                <a:lnTo>
                  <a:pt x="0" y="0"/>
                </a:lnTo>
                <a:lnTo>
                  <a:pt x="0" y="6858000"/>
                </a:lnTo>
                <a:lnTo>
                  <a:pt x="12179300" y="6858000"/>
                </a:lnTo>
                <a:lnTo>
                  <a:pt x="12179300" y="0"/>
                </a:lnTo>
                <a:close/>
              </a:path>
            </a:pathLst>
          </a:custGeom>
          <a:solidFill>
            <a:srgbClr val="0A14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79300" cy="13425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79300" cy="73660"/>
          </a:xfrm>
          <a:custGeom>
            <a:avLst/>
            <a:gdLst/>
            <a:ahLst/>
            <a:cxnLst/>
            <a:rect l="l" t="t" r="r" b="b"/>
            <a:pathLst>
              <a:path w="12179300" h="73660">
                <a:moveTo>
                  <a:pt x="0" y="73151"/>
                </a:moveTo>
                <a:lnTo>
                  <a:pt x="12179300" y="73151"/>
                </a:lnTo>
                <a:lnTo>
                  <a:pt x="12179300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2AC4D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82139" y="1265059"/>
            <a:ext cx="204215" cy="20421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0239" y="1280159"/>
            <a:ext cx="128016" cy="12801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05100" y="1996579"/>
            <a:ext cx="167639" cy="16763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43199" y="2011679"/>
            <a:ext cx="91440" cy="9144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71659" y="1356499"/>
            <a:ext cx="240792" cy="24079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09759" y="1371600"/>
            <a:ext cx="164592" cy="164591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477500" y="2179459"/>
            <a:ext cx="185927" cy="185927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515599" y="2194559"/>
            <a:ext cx="109728" cy="109728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23019" y="4465459"/>
            <a:ext cx="176783" cy="176783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61119" y="4480559"/>
            <a:ext cx="100583" cy="100583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796539" y="4648339"/>
            <a:ext cx="195072" cy="19507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34639" y="4663440"/>
            <a:ext cx="118871" cy="11887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139" y="2172470"/>
            <a:ext cx="2886075" cy="6045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06388" y="1831596"/>
            <a:ext cx="4872355" cy="3623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D2DDE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79300" cy="6858000"/>
          </a:xfrm>
          <a:custGeom>
            <a:avLst/>
            <a:gdLst/>
            <a:ahLst/>
            <a:cxnLst/>
            <a:rect l="l" t="t" r="r" b="b"/>
            <a:pathLst>
              <a:path w="12179300" h="6858000">
                <a:moveTo>
                  <a:pt x="12179300" y="0"/>
                </a:moveTo>
                <a:lnTo>
                  <a:pt x="0" y="0"/>
                </a:lnTo>
                <a:lnTo>
                  <a:pt x="0" y="6858000"/>
                </a:lnTo>
                <a:lnTo>
                  <a:pt x="12179300" y="6858000"/>
                </a:lnTo>
                <a:lnTo>
                  <a:pt x="12179300" y="0"/>
                </a:lnTo>
                <a:close/>
              </a:path>
            </a:pathLst>
          </a:custGeom>
          <a:solidFill>
            <a:srgbClr val="0A14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79300" cy="13425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79300" cy="73660"/>
          </a:xfrm>
          <a:custGeom>
            <a:avLst/>
            <a:gdLst/>
            <a:ahLst/>
            <a:cxnLst/>
            <a:rect l="l" t="t" r="r" b="b"/>
            <a:pathLst>
              <a:path w="12179300" h="73660">
                <a:moveTo>
                  <a:pt x="0" y="73151"/>
                </a:moveTo>
                <a:lnTo>
                  <a:pt x="12179300" y="73151"/>
                </a:lnTo>
                <a:lnTo>
                  <a:pt x="12179300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2AC4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099" y="310267"/>
            <a:ext cx="368998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5F8F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1185" y="1732597"/>
            <a:ext cx="10875645" cy="1463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0962" y="6377940"/>
            <a:ext cx="389737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25408" y="6479713"/>
            <a:ext cx="14732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7A9C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45980" y="1127899"/>
            <a:ext cx="277495" cy="277495"/>
            <a:chOff x="9745980" y="1127899"/>
            <a:chExt cx="277495" cy="2774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45980" y="1127899"/>
              <a:ext cx="277368" cy="27736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4080" y="1143000"/>
              <a:ext cx="201168" cy="201167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0706100" y="1722259"/>
            <a:ext cx="204470" cy="204470"/>
            <a:chOff x="10706100" y="1722259"/>
            <a:chExt cx="204470" cy="20447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06100" y="1722259"/>
              <a:ext cx="204216" cy="2042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44199" y="1737359"/>
              <a:ext cx="128016" cy="128016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9288780" y="2362339"/>
            <a:ext cx="186055" cy="186055"/>
            <a:chOff x="9288780" y="2362339"/>
            <a:chExt cx="186055" cy="18605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88780" y="2362339"/>
              <a:ext cx="185927" cy="1859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26880" y="2377439"/>
              <a:ext cx="109727" cy="10972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934700" y="2728099"/>
            <a:ext cx="241300" cy="241300"/>
            <a:chOff x="10934700" y="2728099"/>
            <a:chExt cx="241300" cy="24130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34700" y="2728099"/>
              <a:ext cx="240792" cy="2407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72800" y="2743200"/>
              <a:ext cx="164591" cy="164591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10066019" y="3551059"/>
            <a:ext cx="195580" cy="195580"/>
            <a:chOff x="10066019" y="3551059"/>
            <a:chExt cx="195580" cy="195580"/>
          </a:xfrm>
        </p:grpSpPr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66019" y="3551059"/>
              <a:ext cx="195072" cy="1950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04119" y="3566159"/>
              <a:ext cx="118871" cy="118871"/>
            </a:xfrm>
            <a:prstGeom prst="rect">
              <a:avLst/>
            </a:prstGeom>
          </p:spPr>
        </p:pic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855980" y="1251212"/>
            <a:ext cx="31838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SKILLSYNC</a:t>
            </a:r>
            <a:r>
              <a:rPr sz="3600" spc="-245" dirty="0"/>
              <a:t> </a:t>
            </a:r>
            <a:r>
              <a:rPr sz="3600" spc="-25" dirty="0"/>
              <a:t>AI</a:t>
            </a:r>
            <a:endParaRPr sz="3600"/>
          </a:p>
        </p:txBody>
      </p:sp>
      <p:sp>
        <p:nvSpPr>
          <p:cNvPr id="18" name="object 18"/>
          <p:cNvSpPr txBox="1"/>
          <p:nvPr/>
        </p:nvSpPr>
        <p:spPr>
          <a:xfrm>
            <a:off x="883411" y="1946662"/>
            <a:ext cx="7439025" cy="75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An</a:t>
            </a:r>
            <a:r>
              <a:rPr sz="2400" b="1" spc="-6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Intelligent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Data</a:t>
            </a:r>
            <a:r>
              <a:rPr sz="2400" b="1" spc="-5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Engineering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Platform</a:t>
            </a:r>
            <a:r>
              <a:rPr sz="2400" b="1" spc="-5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D2DDEA"/>
                </a:solidFill>
                <a:latin typeface="Arial"/>
                <a:cs typeface="Arial"/>
              </a:rPr>
              <a:t>for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b="1" spc="-10" dirty="0">
                <a:solidFill>
                  <a:srgbClr val="D2DDEA"/>
                </a:solidFill>
                <a:latin typeface="Arial"/>
                <a:cs typeface="Arial"/>
              </a:rPr>
              <a:t>Real-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Time</a:t>
            </a:r>
            <a:r>
              <a:rPr sz="2400" b="1" spc="-5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Job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Market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&amp;</a:t>
            </a:r>
            <a:r>
              <a:rPr sz="2400" b="1" spc="-55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Emerging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2DDEA"/>
                </a:solidFill>
                <a:latin typeface="Arial"/>
                <a:cs typeface="Arial"/>
              </a:rPr>
              <a:t>Skill</a:t>
            </a:r>
            <a:r>
              <a:rPr sz="2400" b="1" spc="-60" dirty="0">
                <a:solidFill>
                  <a:srgbClr val="D2DDEA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D2DDEA"/>
                </a:solidFill>
                <a:latin typeface="Arial"/>
                <a:cs typeface="Arial"/>
              </a:rPr>
              <a:t>Intelligence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66572" y="3258451"/>
            <a:ext cx="2270760" cy="140335"/>
            <a:chOff x="766572" y="3258451"/>
            <a:chExt cx="2270760" cy="140335"/>
          </a:xfrm>
        </p:grpSpPr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66572" y="3258451"/>
              <a:ext cx="2270760" cy="14020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04672" y="3273552"/>
              <a:ext cx="2194560" cy="64135"/>
            </a:xfrm>
            <a:custGeom>
              <a:avLst/>
              <a:gdLst/>
              <a:ahLst/>
              <a:cxnLst/>
              <a:rect l="l" t="t" r="r" b="b"/>
              <a:pathLst>
                <a:path w="2194560" h="64135">
                  <a:moveTo>
                    <a:pt x="219456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2194560" y="64008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83411" y="3699257"/>
            <a:ext cx="3637915" cy="164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97A9C1"/>
                </a:solidFill>
                <a:latin typeface="Arial"/>
                <a:cs typeface="Arial"/>
              </a:rPr>
              <a:t>FUNDAMENTALS</a:t>
            </a:r>
            <a:r>
              <a:rPr sz="12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7A9C1"/>
                </a:solidFill>
                <a:latin typeface="Arial"/>
                <a:cs typeface="Arial"/>
              </a:rPr>
              <a:t>OF</a:t>
            </a:r>
            <a:r>
              <a:rPr sz="1200" b="1" spc="-20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spc="-55" dirty="0">
                <a:solidFill>
                  <a:srgbClr val="97A9C1"/>
                </a:solidFill>
                <a:latin typeface="Arial"/>
                <a:cs typeface="Arial"/>
              </a:rPr>
              <a:t>DATA</a:t>
            </a:r>
            <a:r>
              <a:rPr sz="1200" b="1" spc="-4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7A9C1"/>
                </a:solidFill>
                <a:latin typeface="Arial"/>
                <a:cs typeface="Arial"/>
              </a:rPr>
              <a:t>ENGINEERING</a:t>
            </a:r>
            <a:r>
              <a:rPr sz="1200" b="1" spc="-1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97A9C1"/>
                </a:solidFill>
                <a:latin typeface="Arial"/>
                <a:cs typeface="Arial"/>
              </a:rPr>
              <a:t>FOR</a:t>
            </a:r>
            <a:r>
              <a:rPr sz="1200" b="1" spc="-55" dirty="0">
                <a:solidFill>
                  <a:srgbClr val="97A9C1"/>
                </a:solidFill>
                <a:latin typeface="Arial"/>
                <a:cs typeface="Arial"/>
              </a:rPr>
              <a:t> </a:t>
            </a:r>
            <a:r>
              <a:rPr sz="1200" b="1" spc="-25" dirty="0">
                <a:solidFill>
                  <a:srgbClr val="97A9C1"/>
                </a:solidFill>
                <a:latin typeface="Arial"/>
                <a:cs typeface="Arial"/>
              </a:rPr>
              <a:t>AI</a:t>
            </a: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200" dirty="0">
              <a:latin typeface="Arial"/>
              <a:cs typeface="Arial"/>
            </a:endParaRPr>
          </a:p>
          <a:p>
            <a:pPr marL="24130" marR="1190625">
              <a:lnSpc>
                <a:spcPct val="100000"/>
              </a:lnSpc>
              <a:spcBef>
                <a:spcPts val="5"/>
              </a:spcBef>
            </a:pPr>
            <a:r>
              <a:rPr sz="1700" spc="-40" dirty="0">
                <a:solidFill>
                  <a:srgbClr val="D2DDEA"/>
                </a:solidFill>
                <a:latin typeface="Arial MT"/>
                <a:cs typeface="Arial MT"/>
              </a:rPr>
              <a:t>Team</a:t>
            </a:r>
            <a:r>
              <a:rPr sz="17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D2DDEA"/>
                </a:solidFill>
                <a:latin typeface="Arial MT"/>
                <a:cs typeface="Arial MT"/>
              </a:rPr>
              <a:t>Members:</a:t>
            </a:r>
            <a:endParaRPr lang="en-US" sz="1700" spc="-10" dirty="0">
              <a:solidFill>
                <a:srgbClr val="D2DDEA"/>
              </a:solidFill>
              <a:latin typeface="Arial MT"/>
              <a:cs typeface="Arial MT"/>
            </a:endParaRPr>
          </a:p>
          <a:p>
            <a:pPr marL="24130" marR="1190625">
              <a:lnSpc>
                <a:spcPct val="100000"/>
              </a:lnSpc>
              <a:spcBef>
                <a:spcPts val="5"/>
              </a:spcBef>
            </a:pPr>
            <a:r>
              <a:rPr lang="en-IN" sz="1600" dirty="0">
                <a:solidFill>
                  <a:srgbClr val="D2DDEA"/>
                </a:solidFill>
                <a:latin typeface="Arial MT"/>
                <a:cs typeface="Arial MT"/>
              </a:rPr>
              <a:t>2420090087</a:t>
            </a:r>
            <a:r>
              <a:rPr lang="en-IN" sz="16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lang="en-IN" sz="1600" dirty="0">
                <a:solidFill>
                  <a:srgbClr val="D2DDEA"/>
                </a:solidFill>
                <a:latin typeface="Arial MT"/>
                <a:cs typeface="Arial MT"/>
              </a:rPr>
              <a:t>–</a:t>
            </a:r>
            <a:r>
              <a:rPr lang="en-IN" sz="16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lang="en-IN" sz="1600" dirty="0">
                <a:solidFill>
                  <a:srgbClr val="D2DDEA"/>
                </a:solidFill>
                <a:latin typeface="Arial MT"/>
                <a:cs typeface="Arial MT"/>
              </a:rPr>
              <a:t>V</a:t>
            </a:r>
            <a:r>
              <a:rPr lang="en-IN" sz="1600" spc="-10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lang="en-IN" sz="1600" spc="-10" dirty="0">
                <a:solidFill>
                  <a:srgbClr val="D2DDEA"/>
                </a:solidFill>
                <a:latin typeface="Arial MT"/>
                <a:cs typeface="Arial MT"/>
              </a:rPr>
              <a:t>Akshaya</a:t>
            </a:r>
            <a:r>
              <a:rPr sz="1600" spc="-1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2420030753</a:t>
            </a:r>
            <a:r>
              <a:rPr sz="1500" spc="-5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-</a:t>
            </a:r>
            <a:r>
              <a:rPr sz="1500" spc="-4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Sudhamsha</a:t>
            </a:r>
            <a:r>
              <a:rPr sz="1500" spc="-9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D2DDEA"/>
                </a:solidFill>
                <a:latin typeface="Arial MT"/>
                <a:cs typeface="Arial MT"/>
              </a:rPr>
              <a:t>A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2420030619</a:t>
            </a:r>
            <a:r>
              <a:rPr sz="1500" spc="-5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-</a:t>
            </a:r>
            <a:r>
              <a:rPr sz="1500" spc="-7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Tanishka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4912" y="5745862"/>
            <a:ext cx="17621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Guide:</a:t>
            </a:r>
            <a:r>
              <a:rPr sz="1500" spc="-35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Dr.N.Shirisha </a:t>
            </a:r>
            <a:r>
              <a:rPr sz="1500" dirty="0">
                <a:solidFill>
                  <a:srgbClr val="D2DDEA"/>
                </a:solidFill>
                <a:latin typeface="Arial MT"/>
                <a:cs typeface="Arial MT"/>
              </a:rPr>
              <a:t>Associate</a:t>
            </a:r>
            <a:r>
              <a:rPr sz="1500" spc="-80" dirty="0">
                <a:solidFill>
                  <a:srgbClr val="D2DDEA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D2DDEA"/>
                </a:solidFill>
                <a:latin typeface="Arial MT"/>
                <a:cs typeface="Arial MT"/>
              </a:rPr>
              <a:t>Professor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54259" y="6018532"/>
            <a:ext cx="8655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2AC4D2"/>
                </a:solidFill>
                <a:latin typeface="Arial"/>
                <a:cs typeface="Arial"/>
              </a:rPr>
              <a:t>REVIEW</a:t>
            </a:r>
            <a:r>
              <a:rPr sz="1000" b="1" spc="-15" dirty="0">
                <a:solidFill>
                  <a:srgbClr val="2AC4D2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AC4D2"/>
                </a:solidFill>
                <a:latin typeface="Arial"/>
                <a:cs typeface="Arial"/>
              </a:rPr>
              <a:t>1</a:t>
            </a:r>
            <a:r>
              <a:rPr sz="1000" b="1" spc="-10" dirty="0">
                <a:solidFill>
                  <a:srgbClr val="2AC4D2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AC4D2"/>
                </a:solidFill>
                <a:latin typeface="Arial"/>
                <a:cs typeface="Arial"/>
              </a:rPr>
              <a:t>&amp;</a:t>
            </a:r>
            <a:r>
              <a:rPr sz="1000" b="1" spc="-10" dirty="0">
                <a:solidFill>
                  <a:srgbClr val="2AC4D2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2AC4D2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PROJECT OVERVIEW</a:t>
            </a:r>
            <a:endParaRPr spc="-10" dirty="0"/>
          </a:p>
        </p:txBody>
      </p:sp>
      <p:grpSp>
        <p:nvGrpSpPr>
          <p:cNvPr id="4" name="object 4"/>
          <p:cNvGrpSpPr/>
          <p:nvPr/>
        </p:nvGrpSpPr>
        <p:grpSpPr>
          <a:xfrm>
            <a:off x="642937" y="1260297"/>
            <a:ext cx="10921365" cy="4612005"/>
            <a:chOff x="642937" y="1260297"/>
            <a:chExt cx="10921365" cy="46120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65707" y="1453771"/>
            <a:ext cx="10153143" cy="4116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 err="1">
                <a:solidFill>
                  <a:schemeClr val="bg1"/>
                </a:solidFill>
              </a:rPr>
              <a:t>SkillSync</a:t>
            </a:r>
            <a:r>
              <a:rPr lang="en-IN" dirty="0">
                <a:solidFill>
                  <a:schemeClr val="bg1"/>
                </a:solidFill>
              </a:rPr>
              <a:t> AI is an intelligent data engineering platform designed to transform continuously evolving job-market data into actionable skill intelligence. The platform integrates heterogeneous job data from multiple sources using batch and real-time streaming ingestion, followed by automated data-quality validation, deduplication, standardization, and scalable processing using </a:t>
            </a:r>
            <a:r>
              <a:rPr lang="en-IN" dirty="0" err="1">
                <a:solidFill>
                  <a:schemeClr val="bg1"/>
                </a:solidFill>
              </a:rPr>
              <a:t>PySpark</a:t>
            </a:r>
            <a:r>
              <a:rPr lang="en-IN" dirty="0">
                <a:solidFill>
                  <a:schemeClr val="bg1"/>
                </a:solidFill>
              </a:rPr>
              <a:t>. Natural Language Processing (NLP) techniques are applied to unstructured job descriptions to extract, normalize, and categorize relevant skills. The processed data enables job-market analytics, emerging-skill detection, role-based skill-gap analysis, and machine-learning-based demand forecasting. By combining Data Engineering, NLP, Machine Learning, and analytics, </a:t>
            </a:r>
            <a:r>
              <a:rPr lang="en-IN" dirty="0" err="1">
                <a:solidFill>
                  <a:schemeClr val="bg1"/>
                </a:solidFill>
              </a:rPr>
              <a:t>SkillSync</a:t>
            </a:r>
            <a:r>
              <a:rPr lang="en-IN" dirty="0">
                <a:solidFill>
                  <a:schemeClr val="bg1"/>
                </a:solidFill>
              </a:rPr>
              <a:t> AI provides a scalable end-to-end solution for converting raw job-market data into reliable insights and decision-ready intelligence.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B2766-9A5B-A06B-108D-DFD1228D7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C612679-D41D-32AD-068A-4BCF3FEA2C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METHODOLOGY</a:t>
            </a:r>
            <a:endParaRPr spc="-1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DFD62E0-56EB-7B50-C2D6-BC64FCB36C9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9F1A308-1514-3C6F-7341-CCF272653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120099"/>
              </p:ext>
            </p:extLst>
          </p:nvPr>
        </p:nvGraphicFramePr>
        <p:xfrm>
          <a:off x="1969770" y="777144"/>
          <a:ext cx="8958580" cy="588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9290">
                  <a:extLst>
                    <a:ext uri="{9D8B030D-6E8A-4147-A177-3AD203B41FA5}">
                      <a16:colId xmlns:a16="http://schemas.microsoft.com/office/drawing/2014/main" val="2719908868"/>
                    </a:ext>
                  </a:extLst>
                </a:gridCol>
                <a:gridCol w="4479290">
                  <a:extLst>
                    <a:ext uri="{9D8B030D-6E8A-4147-A177-3AD203B41FA5}">
                      <a16:colId xmlns:a16="http://schemas.microsoft.com/office/drawing/2014/main" val="3312845584"/>
                    </a:ext>
                  </a:extLst>
                </a:gridCol>
              </a:tblGrid>
              <a:tr h="613110"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386059"/>
                  </a:ext>
                </a:extLst>
              </a:tr>
              <a:tr h="613110">
                <a:tc>
                  <a:txBody>
                    <a:bodyPr/>
                    <a:lstStyle/>
                    <a:p>
                      <a:r>
                        <a:rPr lang="en-IN" dirty="0"/>
                        <a:t>Data Collection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Collect job-market data from multiple sources             </a:t>
                      </a:r>
                    </a:p>
                    <a:p>
                      <a:r>
                        <a:rPr lang="en-US" dirty="0"/>
                        <a:t>CSV / JSON / API-based data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304083"/>
                  </a:ext>
                </a:extLst>
              </a:tr>
              <a:tr h="613110">
                <a:tc>
                  <a:txBody>
                    <a:bodyPr/>
                    <a:lstStyle/>
                    <a:p>
                      <a:r>
                        <a:rPr lang="en-IN" dirty="0"/>
                        <a:t>Data Ingestion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Batch and streaming ingestion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024219"/>
                  </a:ext>
                </a:extLst>
              </a:tr>
              <a:tr h="1099344">
                <a:tc>
                  <a:txBody>
                    <a:bodyPr/>
                    <a:lstStyle/>
                    <a:p>
                      <a:r>
                        <a:rPr lang="en-IN" dirty="0"/>
                        <a:t>Data Preprocessing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validation </a:t>
                      </a:r>
                    </a:p>
                    <a:p>
                      <a:r>
                        <a:rPr lang="en-US" dirty="0"/>
                        <a:t>Cleaning </a:t>
                      </a:r>
                    </a:p>
                    <a:p>
                      <a:r>
                        <a:rPr lang="en-US" dirty="0"/>
                        <a:t>Deduplication </a:t>
                      </a:r>
                    </a:p>
                    <a:p>
                      <a:r>
                        <a:rPr lang="en-US" dirty="0"/>
                        <a:t>Standardization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687743"/>
                  </a:ext>
                </a:extLst>
              </a:tr>
              <a:tr h="613110">
                <a:tc>
                  <a:txBody>
                    <a:bodyPr/>
                    <a:lstStyle/>
                    <a:p>
                      <a:r>
                        <a:rPr lang="en-IN" dirty="0"/>
                        <a:t>Skill Extraction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NLP-based extraction from job descriptions </a:t>
                      </a:r>
                    </a:p>
                    <a:p>
                      <a:r>
                        <a:rPr lang="en-US" dirty="0"/>
                        <a:t>Skill normalization and categorization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70623"/>
                  </a:ext>
                </a:extLst>
              </a:tr>
              <a:tr h="845649">
                <a:tc>
                  <a:txBody>
                    <a:bodyPr/>
                    <a:lstStyle/>
                    <a:p>
                      <a:r>
                        <a:rPr lang="en-IN" dirty="0"/>
                        <a:t>Data Analytics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Skill frequency </a:t>
                      </a:r>
                    </a:p>
                    <a:p>
                      <a:r>
                        <a:rPr lang="en-US" dirty="0"/>
                        <a:t>Role-wise skill analysis </a:t>
                      </a:r>
                    </a:p>
                    <a:p>
                      <a:r>
                        <a:rPr lang="en-US" dirty="0"/>
                        <a:t>Emerging skill detection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066250"/>
                  </a:ext>
                </a:extLst>
              </a:tr>
              <a:tr h="613110">
                <a:tc>
                  <a:txBody>
                    <a:bodyPr/>
                    <a:lstStyle/>
                    <a:p>
                      <a:r>
                        <a:rPr lang="en-IN" dirty="0"/>
                        <a:t>Prediction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Analyze historical trends </a:t>
                      </a:r>
                    </a:p>
                    <a:p>
                      <a:r>
                        <a:rPr lang="en-US" dirty="0"/>
                        <a:t>Forecast future skill demand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260078"/>
                  </a:ext>
                </a:extLst>
              </a:tr>
              <a:tr h="613110">
                <a:tc>
                  <a:txBody>
                    <a:bodyPr/>
                    <a:lstStyle/>
                    <a:p>
                      <a:r>
                        <a:rPr lang="en-IN" dirty="0"/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Dashboard-based decision support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405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723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9858-D449-9997-FF24-FB84DD334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99" y="310267"/>
            <a:ext cx="4502151" cy="830997"/>
          </a:xfrm>
        </p:spPr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87533-5D2A-84A8-128C-43930FB9D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99" y="1066800"/>
            <a:ext cx="10803138" cy="541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38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D91D2-84D8-86FA-8005-59554D8D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6CC328F-0DBC-F7DB-11E0-9AFCE9BFE7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T</a:t>
            </a:r>
            <a:r>
              <a:rPr lang="en-IN" spc="-10" dirty="0"/>
              <a:t>ECHNOLOGY STACK</a:t>
            </a:r>
            <a:endParaRPr spc="-1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44917D8-D103-53E2-D16A-7A80320AEE1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30CC7A9-868B-8D60-8159-23CC3A9AB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534917"/>
              </p:ext>
            </p:extLst>
          </p:nvPr>
        </p:nvGraphicFramePr>
        <p:xfrm>
          <a:off x="1060450" y="1143000"/>
          <a:ext cx="10180842" cy="524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0421">
                  <a:extLst>
                    <a:ext uri="{9D8B030D-6E8A-4147-A177-3AD203B41FA5}">
                      <a16:colId xmlns:a16="http://schemas.microsoft.com/office/drawing/2014/main" val="4092137885"/>
                    </a:ext>
                  </a:extLst>
                </a:gridCol>
                <a:gridCol w="5090421">
                  <a:extLst>
                    <a:ext uri="{9D8B030D-6E8A-4147-A177-3AD203B41FA5}">
                      <a16:colId xmlns:a16="http://schemas.microsoft.com/office/drawing/2014/main" val="428229424"/>
                    </a:ext>
                  </a:extLst>
                </a:gridCol>
              </a:tblGrid>
              <a:tr h="524781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 STACK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434797"/>
                  </a:ext>
                </a:extLst>
              </a:tr>
              <a:tr h="524781">
                <a:tc>
                  <a:txBody>
                    <a:bodyPr/>
                    <a:lstStyle/>
                    <a:p>
                      <a:r>
                        <a:rPr lang="en-IN" dirty="0"/>
                        <a:t>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639935"/>
                  </a:ext>
                </a:extLst>
              </a:tr>
              <a:tr h="524781">
                <a:tc>
                  <a:txBody>
                    <a:bodyPr/>
                    <a:lstStyle/>
                    <a:p>
                      <a:r>
                        <a:rPr lang="en-IN" dirty="0"/>
                        <a:t>Data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Apache Spark ,PySpark ,Apache Kafka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215427"/>
                  </a:ext>
                </a:extLst>
              </a:tr>
              <a:tr h="524781">
                <a:tc>
                  <a:txBody>
                    <a:bodyPr/>
                    <a:lstStyle/>
                    <a:p>
                      <a:r>
                        <a:rPr lang="en-IN" dirty="0"/>
                        <a:t>Data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MinIO</a:t>
                      </a:r>
                      <a:r>
                        <a:rPr lang="en-IN" dirty="0"/>
                        <a:t>, Apache Parquet, PostgreSQL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006995"/>
                  </a:ext>
                </a:extLst>
              </a:tr>
              <a:tr h="524781">
                <a:tc>
                  <a:txBody>
                    <a:bodyPr/>
                    <a:lstStyle/>
                    <a:p>
                      <a:r>
                        <a:rPr lang="en-IN" dirty="0"/>
                        <a:t>Data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Great Expectations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235648"/>
                  </a:ext>
                </a:extLst>
              </a:tr>
              <a:tr h="524781">
                <a:tc>
                  <a:txBody>
                    <a:bodyPr/>
                    <a:lstStyle/>
                    <a:p>
                      <a:r>
                        <a:rPr lang="en-IN" dirty="0"/>
                        <a:t>AI / NLP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spaCy</a:t>
                      </a:r>
                      <a:r>
                        <a:rPr lang="en-IN" dirty="0"/>
                        <a:t>, Transformers / LLM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454071"/>
                  </a:ext>
                </a:extLst>
              </a:tr>
              <a:tr h="524781">
                <a:tc>
                  <a:txBody>
                    <a:bodyPr/>
                    <a:lstStyle/>
                    <a:p>
                      <a:r>
                        <a:rPr lang="en-IN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Scikit-learn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386462"/>
                  </a:ext>
                </a:extLst>
              </a:tr>
              <a:tr h="524781">
                <a:tc>
                  <a:txBody>
                    <a:bodyPr/>
                    <a:lstStyle/>
                    <a:p>
                      <a:r>
                        <a:rPr lang="en-IN" dirty="0"/>
                        <a:t>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Apache Airflow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123808"/>
                  </a:ext>
                </a:extLst>
              </a:tr>
              <a:tr h="524781">
                <a:tc>
                  <a:txBody>
                    <a:bodyPr/>
                    <a:lstStyle/>
                    <a:p>
                      <a:r>
                        <a:rPr lang="en-IN" dirty="0"/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Streamlit</a:t>
                      </a:r>
                      <a:r>
                        <a:rPr lang="en-IN" dirty="0"/>
                        <a:t>, Power 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630344"/>
                  </a:ext>
                </a:extLst>
              </a:tr>
              <a:tr h="524781">
                <a:tc>
                  <a:txBody>
                    <a:bodyPr/>
                    <a:lstStyle/>
                    <a:p>
                      <a:r>
                        <a:rPr lang="en-IN" dirty="0"/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614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507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BF6A0-509B-E898-DDF0-9857354D2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93F5591-6472-82D9-6F0E-EDE1C2149C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3681" y="329670"/>
            <a:ext cx="5895569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DATA ENGINEERING PIPELINE</a:t>
            </a:r>
            <a:endParaRPr spc="-1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F534BADF-D792-AB7A-5E5A-B30F50DE43DF}"/>
              </a:ext>
            </a:extLst>
          </p:cNvPr>
          <p:cNvGrpSpPr/>
          <p:nvPr/>
        </p:nvGrpSpPr>
        <p:grpSpPr>
          <a:xfrm>
            <a:off x="527051" y="1260297"/>
            <a:ext cx="5105399" cy="5064303"/>
            <a:chOff x="642937" y="1260297"/>
            <a:chExt cx="10921365" cy="461200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7DF2CCB-4D8D-2AF2-788D-DA9AD11EFAB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D15F4A5-24B7-F071-81C4-716ADCF0AC52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0BC3DF6-F70D-9827-5553-88299275B335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7698064D-1DDD-A488-A384-75CBCC13ABE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9936BB43-A9F4-EF5E-91B2-0DC72A2DF9FD}"/>
                </a:ext>
              </a:extLst>
            </p:cNvPr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F1B8D82E-A943-AD56-3ACC-0D8F9C556396}"/>
              </a:ext>
            </a:extLst>
          </p:cNvPr>
          <p:cNvSpPr txBox="1"/>
          <p:nvPr/>
        </p:nvSpPr>
        <p:spPr>
          <a:xfrm>
            <a:off x="965707" y="1453771"/>
            <a:ext cx="3904743" cy="4820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Source Data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Ingestion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Validation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Cleaning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Deduplication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Transformation</a:t>
            </a:r>
          </a:p>
          <a:p>
            <a:pPr algn="l"/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Parquet / Data Lake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     ↓</a:t>
            </a:r>
          </a:p>
          <a:p>
            <a:pPr algn="l">
              <a:lnSpc>
                <a:spcPct val="150000"/>
              </a:lnSpc>
            </a:pPr>
            <a:r>
              <a:rPr lang="en-IN" sz="1400" dirty="0">
                <a:solidFill>
                  <a:schemeClr val="bg1"/>
                </a:solidFill>
              </a:rPr>
              <a:t>PostgreSQL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2DBD47D-B37B-ABE3-697C-39443405613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grpSp>
        <p:nvGrpSpPr>
          <p:cNvPr id="23" name="object 4">
            <a:extLst>
              <a:ext uri="{FF2B5EF4-FFF2-40B4-BE49-F238E27FC236}">
                <a16:creationId xmlns:a16="http://schemas.microsoft.com/office/drawing/2014/main" id="{35DD9461-F696-1336-0E24-6DB16C1F7456}"/>
              </a:ext>
            </a:extLst>
          </p:cNvPr>
          <p:cNvGrpSpPr/>
          <p:nvPr/>
        </p:nvGrpSpPr>
        <p:grpSpPr>
          <a:xfrm>
            <a:off x="6320009" y="1255067"/>
            <a:ext cx="5105399" cy="5064303"/>
            <a:chOff x="642937" y="1260297"/>
            <a:chExt cx="10921365" cy="4612005"/>
          </a:xfrm>
        </p:grpSpPr>
        <p:pic>
          <p:nvPicPr>
            <p:cNvPr id="24" name="object 5">
              <a:extLst>
                <a:ext uri="{FF2B5EF4-FFF2-40B4-BE49-F238E27FC236}">
                  <a16:creationId xmlns:a16="http://schemas.microsoft.com/office/drawing/2014/main" id="{858AC131-7B3E-E98C-B974-7F5BAB5E3D0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25" name="object 6">
              <a:extLst>
                <a:ext uri="{FF2B5EF4-FFF2-40B4-BE49-F238E27FC236}">
                  <a16:creationId xmlns:a16="http://schemas.microsoft.com/office/drawing/2014/main" id="{268968E1-07D7-48B7-E5BB-CBEA799CF3FC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7">
              <a:extLst>
                <a:ext uri="{FF2B5EF4-FFF2-40B4-BE49-F238E27FC236}">
                  <a16:creationId xmlns:a16="http://schemas.microsoft.com/office/drawing/2014/main" id="{67F0CF15-D7F9-E601-A201-909102F5BE37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8">
              <a:extLst>
                <a:ext uri="{FF2B5EF4-FFF2-40B4-BE49-F238E27FC236}">
                  <a16:creationId xmlns:a16="http://schemas.microsoft.com/office/drawing/2014/main" id="{6412E7D9-23F4-03BB-7216-652E7AF344D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28" name="object 9">
              <a:extLst>
                <a:ext uri="{FF2B5EF4-FFF2-40B4-BE49-F238E27FC236}">
                  <a16:creationId xmlns:a16="http://schemas.microsoft.com/office/drawing/2014/main" id="{31F5F491-477F-9C2F-3FB6-B4C18B7FD89F}"/>
                </a:ext>
              </a:extLst>
            </p:cNvPr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10">
            <a:extLst>
              <a:ext uri="{FF2B5EF4-FFF2-40B4-BE49-F238E27FC236}">
                <a16:creationId xmlns:a16="http://schemas.microsoft.com/office/drawing/2014/main" id="{C65605FB-6575-4D73-8C5D-34A30F26D87E}"/>
              </a:ext>
            </a:extLst>
          </p:cNvPr>
          <p:cNvSpPr txBox="1"/>
          <p:nvPr/>
        </p:nvSpPr>
        <p:spPr>
          <a:xfrm>
            <a:off x="6546850" y="1377038"/>
            <a:ext cx="4320513" cy="29736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Key implementation features:</a:t>
            </a:r>
          </a:p>
          <a:p>
            <a:pPr algn="l">
              <a:lnSpc>
                <a:spcPct val="150000"/>
              </a:lnSpc>
            </a:pPr>
            <a:endParaRPr lang="en-US" sz="1400" dirty="0">
              <a:solidFill>
                <a:schemeClr val="bg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Automated data cleaning 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Schema standardization 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Duplicate detection 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Missing-value handling </a:t>
            </a:r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Scalable processing using </a:t>
            </a:r>
            <a:r>
              <a:rPr lang="en-US" sz="1400" dirty="0" err="1">
                <a:solidFill>
                  <a:schemeClr val="bg1"/>
                </a:solidFill>
              </a:rPr>
              <a:t>PySpark</a:t>
            </a:r>
            <a:endParaRPr lang="en-US" sz="1400" dirty="0">
              <a:solidFill>
                <a:schemeClr val="bg1"/>
              </a:solidFill>
            </a:endParaRPr>
          </a:p>
          <a:p>
            <a:pPr algn="l">
              <a:lnSpc>
                <a:spcPct val="150000"/>
              </a:lnSpc>
            </a:pPr>
            <a:endParaRPr lang="en-US" sz="1400" dirty="0">
              <a:solidFill>
                <a:schemeClr val="bg1"/>
              </a:solidFill>
            </a:endParaRPr>
          </a:p>
          <a:p>
            <a:pPr algn="l">
              <a:lnSpc>
                <a:spcPct val="150000"/>
              </a:lnSpc>
            </a:pPr>
            <a:endParaRPr lang="en-I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460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A0F3D-03AC-E586-F447-7DD743B7E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72A428A-5939-13BA-D030-390851C4F1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IMPLEMENTATION</a:t>
            </a:r>
            <a:endParaRPr spc="-1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7E9592BE-FC2E-C2A5-8ECE-F31265F4E269}"/>
              </a:ext>
            </a:extLst>
          </p:cNvPr>
          <p:cNvGrpSpPr/>
          <p:nvPr/>
        </p:nvGrpSpPr>
        <p:grpSpPr>
          <a:xfrm>
            <a:off x="673099" y="990599"/>
            <a:ext cx="10891203" cy="5791201"/>
            <a:chOff x="642937" y="1260297"/>
            <a:chExt cx="10921365" cy="461200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98063CF-2BC9-4F3A-A06C-287152F9BB8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0230BBE-D114-9036-863A-4A1CD5BC2419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9927049-A070-1AF6-5075-46C1D9D0ADC6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ACB6614D-DDCA-23CF-5195-B9A3257DDCA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857A2E2-2F75-E131-BFA0-457E918E7F83}"/>
                </a:ext>
              </a:extLst>
            </p:cNvPr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49880D63-EC77-046F-52F4-0A5E43DBDF07}"/>
              </a:ext>
            </a:extLst>
          </p:cNvPr>
          <p:cNvSpPr txBox="1"/>
          <p:nvPr/>
        </p:nvSpPr>
        <p:spPr>
          <a:xfrm>
            <a:off x="1060450" y="1143001"/>
            <a:ext cx="10058400" cy="4998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01 Data Processing</a:t>
            </a:r>
          </a:p>
          <a:p>
            <a:r>
              <a:rPr lang="en-IN" dirty="0">
                <a:solidFill>
                  <a:schemeClr val="bg1"/>
                </a:solidFill>
              </a:rPr>
              <a:t>Python + </a:t>
            </a:r>
            <a:r>
              <a:rPr lang="en-IN" dirty="0" err="1">
                <a:solidFill>
                  <a:schemeClr val="bg1"/>
                </a:solidFill>
              </a:rPr>
              <a:t>PySpark</a:t>
            </a:r>
            <a:r>
              <a:rPr lang="en-IN" dirty="0">
                <a:solidFill>
                  <a:schemeClr val="bg1"/>
                </a:solidFill>
              </a:rPr>
              <a:t> used for data transformation.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02 Skill Extraction</a:t>
            </a:r>
          </a:p>
          <a:p>
            <a:r>
              <a:rPr lang="en-IN" dirty="0">
                <a:solidFill>
                  <a:schemeClr val="bg1"/>
                </a:solidFill>
              </a:rPr>
              <a:t>NLP processes job descriptions and identifies relevant skills.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03 Skill Normalization</a:t>
            </a:r>
          </a:p>
          <a:p>
            <a:r>
              <a:rPr lang="en-IN" dirty="0">
                <a:solidFill>
                  <a:schemeClr val="bg1"/>
                </a:solidFill>
              </a:rPr>
              <a:t>Different representations of the same skill are standardized.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04 Analytics</a:t>
            </a:r>
          </a:p>
          <a:p>
            <a:r>
              <a:rPr lang="en-IN" dirty="0">
                <a:solidFill>
                  <a:schemeClr val="bg1"/>
                </a:solidFill>
              </a:rPr>
              <a:t>Processed data is used to identify skill-demand patterns.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05 Forecasting</a:t>
            </a:r>
          </a:p>
          <a:p>
            <a:r>
              <a:rPr lang="en-IN" dirty="0">
                <a:solidFill>
                  <a:schemeClr val="bg1"/>
                </a:solidFill>
              </a:rPr>
              <a:t>Historical trends are used to estimate future demand.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06 Dashboard</a:t>
            </a:r>
          </a:p>
          <a:p>
            <a:r>
              <a:rPr lang="en-IN" dirty="0">
                <a:solidFill>
                  <a:schemeClr val="bg1"/>
                </a:solidFill>
              </a:rPr>
              <a:t>Insights are presented through an interactive interface.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E9A7BDC-C7BB-6CCD-30FC-D12A3DF6B1B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575896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BB2C6-2BE4-6EF8-191A-23932452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A7ADA079-D8E7-8025-F476-E6912A3A69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CODING QUALITY</a:t>
            </a:r>
            <a:endParaRPr spc="-1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FAF92C73-4CEF-B7A7-21C5-D05E5D5C0936}"/>
              </a:ext>
            </a:extLst>
          </p:cNvPr>
          <p:cNvGrpSpPr/>
          <p:nvPr/>
        </p:nvGrpSpPr>
        <p:grpSpPr>
          <a:xfrm>
            <a:off x="673099" y="990599"/>
            <a:ext cx="10891203" cy="5791201"/>
            <a:chOff x="642937" y="1260297"/>
            <a:chExt cx="10921365" cy="461200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F4874CE9-E1D1-D064-0138-C64A84E03C9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3198AC7-A370-7F3F-5D3B-30E23F6F082C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DDFCB96-83EA-0650-7801-A155635370C6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526145CF-E94F-EDE0-DF02-483D2FF87AC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63B7D102-5032-ED68-7B39-AA4345C0C89F}"/>
                </a:ext>
              </a:extLst>
            </p:cNvPr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A7221DE3-A34E-1373-7CA5-D8D4D9A5A9A7}"/>
              </a:ext>
            </a:extLst>
          </p:cNvPr>
          <p:cNvSpPr txBox="1"/>
          <p:nvPr/>
        </p:nvSpPr>
        <p:spPr>
          <a:xfrm>
            <a:off x="1060450" y="1143001"/>
            <a:ext cx="10058400" cy="42550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CODING QUALITY &amp; BEST PRACTICES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Modular code structure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Reusable functions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Meaningful variable and function names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Proper exception handling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Input validation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Separation of data-processing and application logic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Consistent coding standards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Comments for important processing steps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Version control using Git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1B24279-9C9C-6F30-CFC6-414BB9512BB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339488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7EE68-DEA6-FF5D-F126-DD636E2C8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D2EAFCB-850E-8E1E-FD6E-C3C42A7A1D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FUNCTIONALITIES</a:t>
            </a:r>
            <a:endParaRPr spc="-10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8C78ABA-13CE-0B29-6E7B-3C6A4A4BE83B}"/>
              </a:ext>
            </a:extLst>
          </p:cNvPr>
          <p:cNvGrpSpPr/>
          <p:nvPr/>
        </p:nvGrpSpPr>
        <p:grpSpPr>
          <a:xfrm>
            <a:off x="673099" y="990599"/>
            <a:ext cx="10891203" cy="5791201"/>
            <a:chOff x="642937" y="1260297"/>
            <a:chExt cx="10921365" cy="461200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245608A-761E-D709-4018-B0EB97B11D6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2937" y="1260297"/>
              <a:ext cx="10921365" cy="4612005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A2E53CB-899A-A3E0-6EBA-F2DB4A94F821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10081244" y="0"/>
                  </a:moveTo>
                  <a:lnTo>
                    <a:pt x="754395" y="0"/>
                  </a:lnTo>
                  <a:lnTo>
                    <a:pt x="706686" y="1484"/>
                  </a:lnTo>
                  <a:lnTo>
                    <a:pt x="659765" y="5877"/>
                  </a:lnTo>
                  <a:lnTo>
                    <a:pt x="613721" y="13092"/>
                  </a:lnTo>
                  <a:lnTo>
                    <a:pt x="568643" y="23039"/>
                  </a:lnTo>
                  <a:lnTo>
                    <a:pt x="524618" y="35631"/>
                  </a:lnTo>
                  <a:lnTo>
                    <a:pt x="481736" y="50779"/>
                  </a:lnTo>
                  <a:lnTo>
                    <a:pt x="440083" y="68394"/>
                  </a:lnTo>
                  <a:lnTo>
                    <a:pt x="399750" y="88389"/>
                  </a:lnTo>
                  <a:lnTo>
                    <a:pt x="360823" y="110674"/>
                  </a:lnTo>
                  <a:lnTo>
                    <a:pt x="323392" y="135162"/>
                  </a:lnTo>
                  <a:lnTo>
                    <a:pt x="287546" y="161764"/>
                  </a:lnTo>
                  <a:lnTo>
                    <a:pt x="253371" y="190392"/>
                  </a:lnTo>
                  <a:lnTo>
                    <a:pt x="220957" y="220957"/>
                  </a:lnTo>
                  <a:lnTo>
                    <a:pt x="190392" y="253371"/>
                  </a:lnTo>
                  <a:lnTo>
                    <a:pt x="161764" y="287545"/>
                  </a:lnTo>
                  <a:lnTo>
                    <a:pt x="135162" y="323392"/>
                  </a:lnTo>
                  <a:lnTo>
                    <a:pt x="110674" y="360823"/>
                  </a:lnTo>
                  <a:lnTo>
                    <a:pt x="88389" y="399750"/>
                  </a:lnTo>
                  <a:lnTo>
                    <a:pt x="68394" y="440083"/>
                  </a:lnTo>
                  <a:lnTo>
                    <a:pt x="50779" y="481735"/>
                  </a:lnTo>
                  <a:lnTo>
                    <a:pt x="35631" y="524618"/>
                  </a:lnTo>
                  <a:lnTo>
                    <a:pt x="23039" y="568643"/>
                  </a:lnTo>
                  <a:lnTo>
                    <a:pt x="13092" y="613721"/>
                  </a:lnTo>
                  <a:lnTo>
                    <a:pt x="5877" y="659765"/>
                  </a:lnTo>
                  <a:lnTo>
                    <a:pt x="1484" y="706686"/>
                  </a:lnTo>
                  <a:lnTo>
                    <a:pt x="0" y="754395"/>
                  </a:lnTo>
                  <a:lnTo>
                    <a:pt x="0" y="3771884"/>
                  </a:lnTo>
                  <a:lnTo>
                    <a:pt x="1484" y="3819593"/>
                  </a:lnTo>
                  <a:lnTo>
                    <a:pt x="5877" y="3866514"/>
                  </a:lnTo>
                  <a:lnTo>
                    <a:pt x="13092" y="3912558"/>
                  </a:lnTo>
                  <a:lnTo>
                    <a:pt x="23039" y="3957636"/>
                  </a:lnTo>
                  <a:lnTo>
                    <a:pt x="35631" y="4001661"/>
                  </a:lnTo>
                  <a:lnTo>
                    <a:pt x="50779" y="4044544"/>
                  </a:lnTo>
                  <a:lnTo>
                    <a:pt x="68394" y="4086196"/>
                  </a:lnTo>
                  <a:lnTo>
                    <a:pt x="88389" y="4126529"/>
                  </a:lnTo>
                  <a:lnTo>
                    <a:pt x="110674" y="4165456"/>
                  </a:lnTo>
                  <a:lnTo>
                    <a:pt x="135162" y="4202887"/>
                  </a:lnTo>
                  <a:lnTo>
                    <a:pt x="161764" y="4238734"/>
                  </a:lnTo>
                  <a:lnTo>
                    <a:pt x="190392" y="4272908"/>
                  </a:lnTo>
                  <a:lnTo>
                    <a:pt x="220957" y="4305322"/>
                  </a:lnTo>
                  <a:lnTo>
                    <a:pt x="253371" y="4335887"/>
                  </a:lnTo>
                  <a:lnTo>
                    <a:pt x="287546" y="4364515"/>
                  </a:lnTo>
                  <a:lnTo>
                    <a:pt x="323392" y="4391117"/>
                  </a:lnTo>
                  <a:lnTo>
                    <a:pt x="360823" y="4415605"/>
                  </a:lnTo>
                  <a:lnTo>
                    <a:pt x="399750" y="4437890"/>
                  </a:lnTo>
                  <a:lnTo>
                    <a:pt x="440083" y="4457885"/>
                  </a:lnTo>
                  <a:lnTo>
                    <a:pt x="481736" y="4475500"/>
                  </a:lnTo>
                  <a:lnTo>
                    <a:pt x="524618" y="4490648"/>
                  </a:lnTo>
                  <a:lnTo>
                    <a:pt x="568643" y="4503240"/>
                  </a:lnTo>
                  <a:lnTo>
                    <a:pt x="613721" y="4513187"/>
                  </a:lnTo>
                  <a:lnTo>
                    <a:pt x="659765" y="4520402"/>
                  </a:lnTo>
                  <a:lnTo>
                    <a:pt x="706686" y="4524795"/>
                  </a:lnTo>
                  <a:lnTo>
                    <a:pt x="754395" y="4526280"/>
                  </a:lnTo>
                  <a:lnTo>
                    <a:pt x="10081244" y="4526280"/>
                  </a:lnTo>
                  <a:lnTo>
                    <a:pt x="10128953" y="4524795"/>
                  </a:lnTo>
                  <a:lnTo>
                    <a:pt x="10175874" y="4520402"/>
                  </a:lnTo>
                  <a:lnTo>
                    <a:pt x="10221918" y="4513187"/>
                  </a:lnTo>
                  <a:lnTo>
                    <a:pt x="10266996" y="4503240"/>
                  </a:lnTo>
                  <a:lnTo>
                    <a:pt x="10311021" y="4490648"/>
                  </a:lnTo>
                  <a:lnTo>
                    <a:pt x="10353904" y="4475500"/>
                  </a:lnTo>
                  <a:lnTo>
                    <a:pt x="10395556" y="4457885"/>
                  </a:lnTo>
                  <a:lnTo>
                    <a:pt x="10435889" y="4437890"/>
                  </a:lnTo>
                  <a:lnTo>
                    <a:pt x="10474816" y="4415605"/>
                  </a:lnTo>
                  <a:lnTo>
                    <a:pt x="10512247" y="4391117"/>
                  </a:lnTo>
                  <a:lnTo>
                    <a:pt x="10548094" y="4364515"/>
                  </a:lnTo>
                  <a:lnTo>
                    <a:pt x="10582268" y="4335887"/>
                  </a:lnTo>
                  <a:lnTo>
                    <a:pt x="10614682" y="4305322"/>
                  </a:lnTo>
                  <a:lnTo>
                    <a:pt x="10645247" y="4272908"/>
                  </a:lnTo>
                  <a:lnTo>
                    <a:pt x="10673875" y="4238734"/>
                  </a:lnTo>
                  <a:lnTo>
                    <a:pt x="10700477" y="4202887"/>
                  </a:lnTo>
                  <a:lnTo>
                    <a:pt x="10724965" y="4165456"/>
                  </a:lnTo>
                  <a:lnTo>
                    <a:pt x="10747250" y="4126529"/>
                  </a:lnTo>
                  <a:lnTo>
                    <a:pt x="10767245" y="4086196"/>
                  </a:lnTo>
                  <a:lnTo>
                    <a:pt x="10784860" y="4044544"/>
                  </a:lnTo>
                  <a:lnTo>
                    <a:pt x="10800008" y="4001661"/>
                  </a:lnTo>
                  <a:lnTo>
                    <a:pt x="10812600" y="3957636"/>
                  </a:lnTo>
                  <a:lnTo>
                    <a:pt x="10822547" y="3912558"/>
                  </a:lnTo>
                  <a:lnTo>
                    <a:pt x="10829762" y="3866514"/>
                  </a:lnTo>
                  <a:lnTo>
                    <a:pt x="10834155" y="3819593"/>
                  </a:lnTo>
                  <a:lnTo>
                    <a:pt x="10835640" y="3771884"/>
                  </a:lnTo>
                  <a:lnTo>
                    <a:pt x="10835640" y="754395"/>
                  </a:lnTo>
                  <a:lnTo>
                    <a:pt x="10834155" y="706686"/>
                  </a:lnTo>
                  <a:lnTo>
                    <a:pt x="10829762" y="659765"/>
                  </a:lnTo>
                  <a:lnTo>
                    <a:pt x="10822547" y="613721"/>
                  </a:lnTo>
                  <a:lnTo>
                    <a:pt x="10812600" y="568643"/>
                  </a:lnTo>
                  <a:lnTo>
                    <a:pt x="10800008" y="524618"/>
                  </a:lnTo>
                  <a:lnTo>
                    <a:pt x="10784860" y="481735"/>
                  </a:lnTo>
                  <a:lnTo>
                    <a:pt x="10767245" y="440083"/>
                  </a:lnTo>
                  <a:lnTo>
                    <a:pt x="10747250" y="399750"/>
                  </a:lnTo>
                  <a:lnTo>
                    <a:pt x="10724965" y="360823"/>
                  </a:lnTo>
                  <a:lnTo>
                    <a:pt x="10700477" y="323392"/>
                  </a:lnTo>
                  <a:lnTo>
                    <a:pt x="10673875" y="287545"/>
                  </a:lnTo>
                  <a:lnTo>
                    <a:pt x="10645247" y="253371"/>
                  </a:lnTo>
                  <a:lnTo>
                    <a:pt x="10614682" y="220957"/>
                  </a:lnTo>
                  <a:lnTo>
                    <a:pt x="10582268" y="190392"/>
                  </a:lnTo>
                  <a:lnTo>
                    <a:pt x="10548094" y="161764"/>
                  </a:lnTo>
                  <a:lnTo>
                    <a:pt x="10512247" y="135162"/>
                  </a:lnTo>
                  <a:lnTo>
                    <a:pt x="10474816" y="110674"/>
                  </a:lnTo>
                  <a:lnTo>
                    <a:pt x="10435889" y="88389"/>
                  </a:lnTo>
                  <a:lnTo>
                    <a:pt x="10395556" y="68394"/>
                  </a:lnTo>
                  <a:lnTo>
                    <a:pt x="10353904" y="50779"/>
                  </a:lnTo>
                  <a:lnTo>
                    <a:pt x="10311021" y="35631"/>
                  </a:lnTo>
                  <a:lnTo>
                    <a:pt x="10266996" y="23039"/>
                  </a:lnTo>
                  <a:lnTo>
                    <a:pt x="10221918" y="13092"/>
                  </a:lnTo>
                  <a:lnTo>
                    <a:pt x="10175874" y="5877"/>
                  </a:lnTo>
                  <a:lnTo>
                    <a:pt x="10128953" y="1484"/>
                  </a:lnTo>
                  <a:lnTo>
                    <a:pt x="10081244" y="0"/>
                  </a:lnTo>
                  <a:close/>
                </a:path>
              </a:pathLst>
            </a:custGeom>
            <a:solidFill>
              <a:srgbClr val="1424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04EE165-A3D6-1B8C-F4AC-470106CC2F2F}"/>
                </a:ext>
              </a:extLst>
            </p:cNvPr>
            <p:cNvSpPr/>
            <p:nvPr/>
          </p:nvSpPr>
          <p:spPr>
            <a:xfrm>
              <a:off x="685800" y="1280160"/>
              <a:ext cx="10835640" cy="4526280"/>
            </a:xfrm>
            <a:custGeom>
              <a:avLst/>
              <a:gdLst/>
              <a:ahLst/>
              <a:cxnLst/>
              <a:rect l="l" t="t" r="r" b="b"/>
              <a:pathLst>
                <a:path w="10835640" h="4526280">
                  <a:moveTo>
                    <a:pt x="754394" y="0"/>
                  </a:moveTo>
                  <a:lnTo>
                    <a:pt x="10081244" y="0"/>
                  </a:lnTo>
                  <a:lnTo>
                    <a:pt x="10128953" y="1484"/>
                  </a:lnTo>
                  <a:lnTo>
                    <a:pt x="10175874" y="5877"/>
                  </a:lnTo>
                  <a:lnTo>
                    <a:pt x="10221918" y="13092"/>
                  </a:lnTo>
                  <a:lnTo>
                    <a:pt x="10266996" y="23039"/>
                  </a:lnTo>
                  <a:lnTo>
                    <a:pt x="10311021" y="35631"/>
                  </a:lnTo>
                  <a:lnTo>
                    <a:pt x="10353904" y="50779"/>
                  </a:lnTo>
                  <a:lnTo>
                    <a:pt x="10395556" y="68394"/>
                  </a:lnTo>
                  <a:lnTo>
                    <a:pt x="10435889" y="88389"/>
                  </a:lnTo>
                  <a:lnTo>
                    <a:pt x="10474816" y="110674"/>
                  </a:lnTo>
                  <a:lnTo>
                    <a:pt x="10512247" y="135162"/>
                  </a:lnTo>
                  <a:lnTo>
                    <a:pt x="10548094" y="161764"/>
                  </a:lnTo>
                  <a:lnTo>
                    <a:pt x="10582268" y="190392"/>
                  </a:lnTo>
                  <a:lnTo>
                    <a:pt x="10614682" y="220957"/>
                  </a:lnTo>
                  <a:lnTo>
                    <a:pt x="10645247" y="253371"/>
                  </a:lnTo>
                  <a:lnTo>
                    <a:pt x="10673875" y="287545"/>
                  </a:lnTo>
                  <a:lnTo>
                    <a:pt x="10700477" y="323392"/>
                  </a:lnTo>
                  <a:lnTo>
                    <a:pt x="10724965" y="360823"/>
                  </a:lnTo>
                  <a:lnTo>
                    <a:pt x="10747250" y="399750"/>
                  </a:lnTo>
                  <a:lnTo>
                    <a:pt x="10767245" y="440083"/>
                  </a:lnTo>
                  <a:lnTo>
                    <a:pt x="10784860" y="481735"/>
                  </a:lnTo>
                  <a:lnTo>
                    <a:pt x="10800008" y="524618"/>
                  </a:lnTo>
                  <a:lnTo>
                    <a:pt x="10812600" y="568643"/>
                  </a:lnTo>
                  <a:lnTo>
                    <a:pt x="10822547" y="613721"/>
                  </a:lnTo>
                  <a:lnTo>
                    <a:pt x="10829762" y="659765"/>
                  </a:lnTo>
                  <a:lnTo>
                    <a:pt x="10834155" y="706685"/>
                  </a:lnTo>
                  <a:lnTo>
                    <a:pt x="10835640" y="754394"/>
                  </a:lnTo>
                  <a:lnTo>
                    <a:pt x="10835640" y="3771884"/>
                  </a:lnTo>
                  <a:lnTo>
                    <a:pt x="10834155" y="3819593"/>
                  </a:lnTo>
                  <a:lnTo>
                    <a:pt x="10829762" y="3866514"/>
                  </a:lnTo>
                  <a:lnTo>
                    <a:pt x="10822547" y="3912558"/>
                  </a:lnTo>
                  <a:lnTo>
                    <a:pt x="10812600" y="3957636"/>
                  </a:lnTo>
                  <a:lnTo>
                    <a:pt x="10800008" y="4001661"/>
                  </a:lnTo>
                  <a:lnTo>
                    <a:pt x="10784860" y="4044544"/>
                  </a:lnTo>
                  <a:lnTo>
                    <a:pt x="10767245" y="4086196"/>
                  </a:lnTo>
                  <a:lnTo>
                    <a:pt x="10747250" y="4126529"/>
                  </a:lnTo>
                  <a:lnTo>
                    <a:pt x="10724965" y="4165456"/>
                  </a:lnTo>
                  <a:lnTo>
                    <a:pt x="10700477" y="4202887"/>
                  </a:lnTo>
                  <a:lnTo>
                    <a:pt x="10673875" y="4238734"/>
                  </a:lnTo>
                  <a:lnTo>
                    <a:pt x="10645247" y="4272908"/>
                  </a:lnTo>
                  <a:lnTo>
                    <a:pt x="10614682" y="4305322"/>
                  </a:lnTo>
                  <a:lnTo>
                    <a:pt x="10582268" y="4335887"/>
                  </a:lnTo>
                  <a:lnTo>
                    <a:pt x="10548094" y="4364515"/>
                  </a:lnTo>
                  <a:lnTo>
                    <a:pt x="10512247" y="4391117"/>
                  </a:lnTo>
                  <a:lnTo>
                    <a:pt x="10474816" y="4415605"/>
                  </a:lnTo>
                  <a:lnTo>
                    <a:pt x="10435889" y="4437890"/>
                  </a:lnTo>
                  <a:lnTo>
                    <a:pt x="10395556" y="4457885"/>
                  </a:lnTo>
                  <a:lnTo>
                    <a:pt x="10353904" y="4475500"/>
                  </a:lnTo>
                  <a:lnTo>
                    <a:pt x="10311021" y="4490648"/>
                  </a:lnTo>
                  <a:lnTo>
                    <a:pt x="10266996" y="4503240"/>
                  </a:lnTo>
                  <a:lnTo>
                    <a:pt x="10221918" y="4513187"/>
                  </a:lnTo>
                  <a:lnTo>
                    <a:pt x="10175874" y="4520402"/>
                  </a:lnTo>
                  <a:lnTo>
                    <a:pt x="10128953" y="4524795"/>
                  </a:lnTo>
                  <a:lnTo>
                    <a:pt x="10081244" y="4526280"/>
                  </a:lnTo>
                  <a:lnTo>
                    <a:pt x="754394" y="4526280"/>
                  </a:lnTo>
                  <a:lnTo>
                    <a:pt x="706685" y="4524795"/>
                  </a:lnTo>
                  <a:lnTo>
                    <a:pt x="659765" y="4520402"/>
                  </a:lnTo>
                  <a:lnTo>
                    <a:pt x="613721" y="4513187"/>
                  </a:lnTo>
                  <a:lnTo>
                    <a:pt x="568643" y="4503240"/>
                  </a:lnTo>
                  <a:lnTo>
                    <a:pt x="524618" y="4490648"/>
                  </a:lnTo>
                  <a:lnTo>
                    <a:pt x="481735" y="4475500"/>
                  </a:lnTo>
                  <a:lnTo>
                    <a:pt x="440083" y="4457885"/>
                  </a:lnTo>
                  <a:lnTo>
                    <a:pt x="399750" y="4437890"/>
                  </a:lnTo>
                  <a:lnTo>
                    <a:pt x="360823" y="4415605"/>
                  </a:lnTo>
                  <a:lnTo>
                    <a:pt x="323392" y="4391117"/>
                  </a:lnTo>
                  <a:lnTo>
                    <a:pt x="287545" y="4364515"/>
                  </a:lnTo>
                  <a:lnTo>
                    <a:pt x="253371" y="4335887"/>
                  </a:lnTo>
                  <a:lnTo>
                    <a:pt x="220957" y="4305322"/>
                  </a:lnTo>
                  <a:lnTo>
                    <a:pt x="190392" y="4272908"/>
                  </a:lnTo>
                  <a:lnTo>
                    <a:pt x="161764" y="4238734"/>
                  </a:lnTo>
                  <a:lnTo>
                    <a:pt x="135162" y="4202887"/>
                  </a:lnTo>
                  <a:lnTo>
                    <a:pt x="110674" y="4165456"/>
                  </a:lnTo>
                  <a:lnTo>
                    <a:pt x="88389" y="4126529"/>
                  </a:lnTo>
                  <a:lnTo>
                    <a:pt x="68394" y="4086196"/>
                  </a:lnTo>
                  <a:lnTo>
                    <a:pt x="50779" y="4044544"/>
                  </a:lnTo>
                  <a:lnTo>
                    <a:pt x="35631" y="4001661"/>
                  </a:lnTo>
                  <a:lnTo>
                    <a:pt x="23039" y="3957636"/>
                  </a:lnTo>
                  <a:lnTo>
                    <a:pt x="13092" y="3912558"/>
                  </a:lnTo>
                  <a:lnTo>
                    <a:pt x="5877" y="3866514"/>
                  </a:lnTo>
                  <a:lnTo>
                    <a:pt x="1484" y="3819593"/>
                  </a:lnTo>
                  <a:lnTo>
                    <a:pt x="0" y="3771884"/>
                  </a:lnTo>
                  <a:lnTo>
                    <a:pt x="0" y="754394"/>
                  </a:lnTo>
                  <a:lnTo>
                    <a:pt x="1484" y="706685"/>
                  </a:lnTo>
                  <a:lnTo>
                    <a:pt x="5877" y="659765"/>
                  </a:lnTo>
                  <a:lnTo>
                    <a:pt x="13092" y="613721"/>
                  </a:lnTo>
                  <a:lnTo>
                    <a:pt x="23039" y="568643"/>
                  </a:lnTo>
                  <a:lnTo>
                    <a:pt x="35631" y="524618"/>
                  </a:lnTo>
                  <a:lnTo>
                    <a:pt x="50779" y="481735"/>
                  </a:lnTo>
                  <a:lnTo>
                    <a:pt x="68394" y="440083"/>
                  </a:lnTo>
                  <a:lnTo>
                    <a:pt x="88389" y="399750"/>
                  </a:lnTo>
                  <a:lnTo>
                    <a:pt x="110674" y="360823"/>
                  </a:lnTo>
                  <a:lnTo>
                    <a:pt x="135162" y="323392"/>
                  </a:lnTo>
                  <a:lnTo>
                    <a:pt x="161764" y="287545"/>
                  </a:lnTo>
                  <a:lnTo>
                    <a:pt x="190392" y="253371"/>
                  </a:lnTo>
                  <a:lnTo>
                    <a:pt x="220957" y="220957"/>
                  </a:lnTo>
                  <a:lnTo>
                    <a:pt x="253371" y="190392"/>
                  </a:lnTo>
                  <a:lnTo>
                    <a:pt x="287545" y="161764"/>
                  </a:lnTo>
                  <a:lnTo>
                    <a:pt x="323392" y="135162"/>
                  </a:lnTo>
                  <a:lnTo>
                    <a:pt x="360823" y="110674"/>
                  </a:lnTo>
                  <a:lnTo>
                    <a:pt x="399750" y="88389"/>
                  </a:lnTo>
                  <a:lnTo>
                    <a:pt x="440083" y="68394"/>
                  </a:lnTo>
                  <a:lnTo>
                    <a:pt x="481735" y="50779"/>
                  </a:lnTo>
                  <a:lnTo>
                    <a:pt x="524618" y="35631"/>
                  </a:lnTo>
                  <a:lnTo>
                    <a:pt x="568643" y="23039"/>
                  </a:lnTo>
                  <a:lnTo>
                    <a:pt x="613721" y="13092"/>
                  </a:lnTo>
                  <a:lnTo>
                    <a:pt x="659765" y="5877"/>
                  </a:lnTo>
                  <a:lnTo>
                    <a:pt x="706685" y="1484"/>
                  </a:lnTo>
                  <a:lnTo>
                    <a:pt x="754394" y="0"/>
                  </a:lnTo>
                  <a:close/>
                </a:path>
              </a:pathLst>
            </a:custGeom>
            <a:ln w="9525">
              <a:solidFill>
                <a:srgbClr val="3045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93FEBA4C-D2C2-AF24-5B28-2495F12BD81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265059"/>
              <a:ext cx="140208" cy="4602480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D8AF77D-8689-0B7C-37CE-540B9BD02B4E}"/>
                </a:ext>
              </a:extLst>
            </p:cNvPr>
            <p:cNvSpPr/>
            <p:nvPr/>
          </p:nvSpPr>
          <p:spPr>
            <a:xfrm>
              <a:off x="685800" y="1280160"/>
              <a:ext cx="64135" cy="4526280"/>
            </a:xfrm>
            <a:custGeom>
              <a:avLst/>
              <a:gdLst/>
              <a:ahLst/>
              <a:cxnLst/>
              <a:rect l="l" t="t" r="r" b="b"/>
              <a:pathLst>
                <a:path w="64134" h="4526280">
                  <a:moveTo>
                    <a:pt x="64007" y="0"/>
                  </a:moveTo>
                  <a:lnTo>
                    <a:pt x="0" y="0"/>
                  </a:lnTo>
                  <a:lnTo>
                    <a:pt x="0" y="4526280"/>
                  </a:lnTo>
                  <a:lnTo>
                    <a:pt x="64007" y="4526280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EAF71F1D-0B75-DD71-4E82-9953BBB9F965}"/>
              </a:ext>
            </a:extLst>
          </p:cNvPr>
          <p:cNvSpPr txBox="1"/>
          <p:nvPr/>
        </p:nvSpPr>
        <p:spPr>
          <a:xfrm>
            <a:off x="1060450" y="1143001"/>
            <a:ext cx="10058400" cy="5501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SKILLSYNC AI — FUNCTIONALITIES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Job data ingestion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Data validation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Data cleaning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Duplicate removal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Data transformation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Skill extraction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Skill normalization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Skill categorization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Skill-demand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Emerging skill identification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Demand forecasting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Interactive visualization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045C956-4B62-3837-F5E6-A2A2DD18187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55860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85DC9-C244-5EC8-787D-A2B18AC4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59581A31-91D0-FE3B-111A-D0776206A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099" y="310267"/>
            <a:ext cx="4425951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PROJECT WORKFLOW</a:t>
            </a:r>
            <a:endParaRPr spc="-10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A42978B-C485-2BDA-5F8D-01B36846168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D0DD6-41DE-2BAB-E6F1-F17924837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" y="1376200"/>
            <a:ext cx="10459017" cy="491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88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/>
              <a:t>THANK</a:t>
            </a:r>
            <a:r>
              <a:rPr sz="3800" spc="-210" dirty="0"/>
              <a:t> </a:t>
            </a:r>
            <a:r>
              <a:rPr sz="3800" spc="-25" dirty="0"/>
              <a:t>YOU</a:t>
            </a:r>
            <a:endParaRPr sz="3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4853940" y="3020707"/>
            <a:ext cx="2499360" cy="140335"/>
            <a:chOff x="4853940" y="3020707"/>
            <a:chExt cx="2499360" cy="140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3940" y="3020707"/>
              <a:ext cx="2499360" cy="1402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892040" y="3035807"/>
              <a:ext cx="2423160" cy="64135"/>
            </a:xfrm>
            <a:custGeom>
              <a:avLst/>
              <a:gdLst/>
              <a:ahLst/>
              <a:cxnLst/>
              <a:rect l="l" t="t" r="r" b="b"/>
              <a:pathLst>
                <a:path w="2423159" h="64135">
                  <a:moveTo>
                    <a:pt x="242316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2423160" y="64008"/>
                  </a:lnTo>
                  <a:lnTo>
                    <a:pt x="2423160" y="0"/>
                  </a:lnTo>
                  <a:close/>
                </a:path>
              </a:pathLst>
            </a:custGeom>
            <a:solidFill>
              <a:srgbClr val="2AC4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010659" y="5930013"/>
            <a:ext cx="28549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97A9C1"/>
                </a:solidFill>
                <a:latin typeface="Arial MT"/>
                <a:cs typeface="Arial MT"/>
              </a:rPr>
              <a:t>SkillSync</a:t>
            </a:r>
            <a:r>
              <a:rPr sz="900" spc="-5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AI</a:t>
            </a:r>
            <a:r>
              <a:rPr sz="900" spc="25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•</a:t>
            </a:r>
            <a:r>
              <a:rPr sz="900" spc="254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Fundamentals</a:t>
            </a:r>
            <a:r>
              <a:rPr sz="9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of</a:t>
            </a:r>
            <a:r>
              <a:rPr sz="900" spc="-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Data</a:t>
            </a:r>
            <a:r>
              <a:rPr sz="9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Engineering</a:t>
            </a:r>
            <a:r>
              <a:rPr sz="900" spc="5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97A9C1"/>
                </a:solidFill>
                <a:latin typeface="Arial MT"/>
                <a:cs typeface="Arial MT"/>
              </a:rPr>
              <a:t>for</a:t>
            </a:r>
            <a:r>
              <a:rPr sz="900" spc="-50" dirty="0">
                <a:solidFill>
                  <a:srgbClr val="97A9C1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97A9C1"/>
                </a:solidFill>
                <a:latin typeface="Arial MT"/>
                <a:cs typeface="Arial MT"/>
              </a:rPr>
              <a:t>AI</a:t>
            </a:r>
            <a:endParaRPr sz="9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497</Words>
  <Application>Microsoft Office PowerPoint</Application>
  <PresentationFormat>Custom</PresentationFormat>
  <Paragraphs>139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MT</vt:lpstr>
      <vt:lpstr>Calibri</vt:lpstr>
      <vt:lpstr>Office Theme</vt:lpstr>
      <vt:lpstr>SKILLSYNC AI</vt:lpstr>
      <vt:lpstr>PROJECT OVERVIEW</vt:lpstr>
      <vt:lpstr>METHODOLOGY</vt:lpstr>
      <vt:lpstr>SYSTEM ARCHITECTURE</vt:lpstr>
      <vt:lpstr>TECHNOLOGY STACK</vt:lpstr>
      <vt:lpstr>DATA ENGINEERING PIPELINE</vt:lpstr>
      <vt:lpstr>IMPLEMENTATION</vt:lpstr>
      <vt:lpstr>CODING QUALITY</vt:lpstr>
      <vt:lpstr>FUNCTIONALITIES</vt:lpstr>
      <vt:lpstr>PROJECT WORKFLOW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SkillSync_AI_Final_Review_PPT</dc:title>
  <cp:lastModifiedBy>akshaya vizzapu</cp:lastModifiedBy>
  <cp:revision>6</cp:revision>
  <dcterms:created xsi:type="dcterms:W3CDTF">2026-09-05T04:52:14Z</dcterms:created>
  <dcterms:modified xsi:type="dcterms:W3CDTF">2026-09-16T03:30:48Z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2026-08-26T00:00:00Z</vt:filetime>
  </property>
  <property fmtid="{D5CDD505-2E9C-101B-9397-08002B2CF9AE}" pid="4" name="Creator">
    <vt:lpwstr>Keynote</vt:lpwstr>
  </property>
  <property fmtid="{D5CDD505-2E9C-101B-9397-08002B2CF9AE}" pid="5" name="LastSaved">
    <vt:filetime>2026-09-05T00:00:00Z</vt:filetime>
  </property>
  <property fmtid="{D5CDD505-2E9C-101B-9397-08002B2CF9AE}" pid="6" name="Producer">
    <vt:lpwstr>macOS Version 26.5.2 (Build 25F84) Quartz PDFContext</vt:lpwstr>
  </property>
</Properties>
</file>