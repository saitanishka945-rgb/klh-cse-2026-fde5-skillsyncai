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6" r:id="rId4"/>
    <p:sldId id="265" r:id="rId5"/>
    <p:sldId id="268" r:id="rId6"/>
    <p:sldId id="267" r:id="rId7"/>
    <p:sldId id="269" r:id="rId8"/>
    <p:sldId id="270" r:id="rId9"/>
    <p:sldId id="271" r:id="rId10"/>
    <p:sldId id="264" r:id="rId11"/>
  </p:sldIdLst>
  <p:sldSz cx="12179300" cy="6858000"/>
  <p:notesSz cx="12179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858000"/>
          </a:xfrm>
          <a:custGeom>
            <a:avLst/>
            <a:gdLst/>
            <a:ahLst/>
            <a:cxnLst/>
            <a:rect l="l" t="t" r="r" b="b"/>
            <a:pathLst>
              <a:path w="12179300" h="6858000">
                <a:moveTo>
                  <a:pt x="12179300" y="0"/>
                </a:moveTo>
                <a:lnTo>
                  <a:pt x="0" y="0"/>
                </a:lnTo>
                <a:lnTo>
                  <a:pt x="0" y="6858000"/>
                </a:lnTo>
                <a:lnTo>
                  <a:pt x="12179300" y="6858000"/>
                </a:lnTo>
                <a:lnTo>
                  <a:pt x="12179300" y="0"/>
                </a:lnTo>
                <a:close/>
              </a:path>
            </a:pathLst>
          </a:custGeom>
          <a:solidFill>
            <a:srgbClr val="0A14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79300" cy="13425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79300" cy="73660"/>
          </a:xfrm>
          <a:custGeom>
            <a:avLst/>
            <a:gdLst/>
            <a:ahLst/>
            <a:cxnLst/>
            <a:rect l="l" t="t" r="r" b="b"/>
            <a:pathLst>
              <a:path w="12179300" h="73660">
                <a:moveTo>
                  <a:pt x="0" y="73151"/>
                </a:moveTo>
                <a:lnTo>
                  <a:pt x="12179300" y="73151"/>
                </a:lnTo>
                <a:lnTo>
                  <a:pt x="12179300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2AC4D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2139" y="1265059"/>
            <a:ext cx="204215" cy="20421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0239" y="1280159"/>
            <a:ext cx="128016" cy="12801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05100" y="1996579"/>
            <a:ext cx="167639" cy="16763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43199" y="2011679"/>
            <a:ext cx="91440" cy="9144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71659" y="1356499"/>
            <a:ext cx="240792" cy="24079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09759" y="1371600"/>
            <a:ext cx="164592" cy="164591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477500" y="2179459"/>
            <a:ext cx="185927" cy="185927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515599" y="2194559"/>
            <a:ext cx="109728" cy="109728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23019" y="4465459"/>
            <a:ext cx="176783" cy="176783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61119" y="4480559"/>
            <a:ext cx="100583" cy="100583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796539" y="4648339"/>
            <a:ext cx="195072" cy="19507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34639" y="4663440"/>
            <a:ext cx="118871" cy="1188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139" y="2172470"/>
            <a:ext cx="2886075" cy="604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06388" y="1831596"/>
            <a:ext cx="4872355" cy="3623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D2DDE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858000"/>
          </a:xfrm>
          <a:custGeom>
            <a:avLst/>
            <a:gdLst/>
            <a:ahLst/>
            <a:cxnLst/>
            <a:rect l="l" t="t" r="r" b="b"/>
            <a:pathLst>
              <a:path w="12179300" h="6858000">
                <a:moveTo>
                  <a:pt x="12179300" y="0"/>
                </a:moveTo>
                <a:lnTo>
                  <a:pt x="0" y="0"/>
                </a:lnTo>
                <a:lnTo>
                  <a:pt x="0" y="6858000"/>
                </a:lnTo>
                <a:lnTo>
                  <a:pt x="12179300" y="6858000"/>
                </a:lnTo>
                <a:lnTo>
                  <a:pt x="12179300" y="0"/>
                </a:lnTo>
                <a:close/>
              </a:path>
            </a:pathLst>
          </a:custGeom>
          <a:solidFill>
            <a:srgbClr val="0A14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79300" cy="13425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79300" cy="73660"/>
          </a:xfrm>
          <a:custGeom>
            <a:avLst/>
            <a:gdLst/>
            <a:ahLst/>
            <a:cxnLst/>
            <a:rect l="l" t="t" r="r" b="b"/>
            <a:pathLst>
              <a:path w="12179300" h="73660">
                <a:moveTo>
                  <a:pt x="0" y="73151"/>
                </a:moveTo>
                <a:lnTo>
                  <a:pt x="12179300" y="73151"/>
                </a:lnTo>
                <a:lnTo>
                  <a:pt x="12179300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2AC4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099" y="310267"/>
            <a:ext cx="368998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1185" y="1732597"/>
            <a:ext cx="10875645" cy="1463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0962" y="6377940"/>
            <a:ext cx="389737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25408" y="6479713"/>
            <a:ext cx="14732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45980" y="1127899"/>
            <a:ext cx="277495" cy="277495"/>
            <a:chOff x="9745980" y="1127899"/>
            <a:chExt cx="277495" cy="2774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45980" y="1127899"/>
              <a:ext cx="277368" cy="27736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4080" y="1143000"/>
              <a:ext cx="201168" cy="201167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0706100" y="1722259"/>
            <a:ext cx="204470" cy="204470"/>
            <a:chOff x="10706100" y="1722259"/>
            <a:chExt cx="204470" cy="20447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06100" y="1722259"/>
              <a:ext cx="204216" cy="2042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44199" y="1737359"/>
              <a:ext cx="128016" cy="128016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9288780" y="2362339"/>
            <a:ext cx="186055" cy="186055"/>
            <a:chOff x="9288780" y="2362339"/>
            <a:chExt cx="186055" cy="18605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88780" y="2362339"/>
              <a:ext cx="185927" cy="1859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26880" y="2377439"/>
              <a:ext cx="109727" cy="10972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934700" y="2728099"/>
            <a:ext cx="241300" cy="241300"/>
            <a:chOff x="10934700" y="2728099"/>
            <a:chExt cx="241300" cy="24130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34700" y="2728099"/>
              <a:ext cx="240792" cy="2407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72800" y="2743200"/>
              <a:ext cx="164591" cy="164591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0066019" y="3551059"/>
            <a:ext cx="195580" cy="195580"/>
            <a:chOff x="10066019" y="3551059"/>
            <a:chExt cx="195580" cy="195580"/>
          </a:xfrm>
        </p:grpSpPr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66019" y="3551059"/>
              <a:ext cx="195072" cy="1950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04119" y="3566159"/>
              <a:ext cx="118871" cy="118871"/>
            </a:xfrm>
            <a:prstGeom prst="rect">
              <a:avLst/>
            </a:prstGeom>
          </p:spPr>
        </p:pic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855980" y="1251212"/>
            <a:ext cx="3183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SKILLSYNC</a:t>
            </a:r>
            <a:r>
              <a:rPr sz="3600" spc="-245" dirty="0"/>
              <a:t> </a:t>
            </a:r>
            <a:r>
              <a:rPr sz="3600" spc="-25" dirty="0"/>
              <a:t>AI</a:t>
            </a:r>
            <a:endParaRPr sz="3600"/>
          </a:p>
        </p:txBody>
      </p:sp>
      <p:sp>
        <p:nvSpPr>
          <p:cNvPr id="18" name="object 18"/>
          <p:cNvSpPr txBox="1"/>
          <p:nvPr/>
        </p:nvSpPr>
        <p:spPr>
          <a:xfrm>
            <a:off x="883411" y="1946662"/>
            <a:ext cx="7439025" cy="75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An</a:t>
            </a:r>
            <a:r>
              <a:rPr sz="2400" b="1" spc="-6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Intelligent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Data</a:t>
            </a:r>
            <a:r>
              <a:rPr sz="2400" b="1" spc="-5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Engineering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Platform</a:t>
            </a:r>
            <a:r>
              <a:rPr sz="2400" b="1" spc="-5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D2DDEA"/>
                </a:solidFill>
                <a:latin typeface="Arial"/>
                <a:cs typeface="Arial"/>
              </a:rPr>
              <a:t>for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b="1" spc="-10" dirty="0">
                <a:solidFill>
                  <a:srgbClr val="D2DDEA"/>
                </a:solidFill>
                <a:latin typeface="Arial"/>
                <a:cs typeface="Arial"/>
              </a:rPr>
              <a:t>Real-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Time</a:t>
            </a:r>
            <a:r>
              <a:rPr sz="2400" b="1" spc="-5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Job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Market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&amp;</a:t>
            </a:r>
            <a:r>
              <a:rPr sz="2400" b="1" spc="-5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Emerging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Skill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D2DDEA"/>
                </a:solidFill>
                <a:latin typeface="Arial"/>
                <a:cs typeface="Arial"/>
              </a:rPr>
              <a:t>Intelligence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66572" y="3258451"/>
            <a:ext cx="2270760" cy="140335"/>
            <a:chOff x="766572" y="3258451"/>
            <a:chExt cx="2270760" cy="140335"/>
          </a:xfrm>
        </p:grpSpPr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6572" y="3258451"/>
              <a:ext cx="2270760" cy="14020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04672" y="3273552"/>
              <a:ext cx="2194560" cy="64135"/>
            </a:xfrm>
            <a:custGeom>
              <a:avLst/>
              <a:gdLst/>
              <a:ahLst/>
              <a:cxnLst/>
              <a:rect l="l" t="t" r="r" b="b"/>
              <a:pathLst>
                <a:path w="2194560" h="64135">
                  <a:moveTo>
                    <a:pt x="219456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2194560" y="64008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83411" y="3699257"/>
            <a:ext cx="3637915" cy="1576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97A9C1"/>
                </a:solidFill>
                <a:latin typeface="Arial"/>
                <a:cs typeface="Arial"/>
              </a:rPr>
              <a:t>FUNDAMENTALS</a:t>
            </a:r>
            <a:r>
              <a:rPr sz="12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7A9C1"/>
                </a:solidFill>
                <a:latin typeface="Arial"/>
                <a:cs typeface="Arial"/>
              </a:rPr>
              <a:t>OF</a:t>
            </a:r>
            <a:r>
              <a:rPr sz="12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spc="-55" dirty="0">
                <a:solidFill>
                  <a:srgbClr val="97A9C1"/>
                </a:solidFill>
                <a:latin typeface="Arial"/>
                <a:cs typeface="Arial"/>
              </a:rPr>
              <a:t>DATA</a:t>
            </a:r>
            <a:r>
              <a:rPr sz="1200" b="1" spc="-4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7A9C1"/>
                </a:solidFill>
                <a:latin typeface="Arial"/>
                <a:cs typeface="Arial"/>
              </a:rPr>
              <a:t>ENGINEERING</a:t>
            </a:r>
            <a:r>
              <a:rPr sz="1200" b="1" spc="-1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7A9C1"/>
                </a:solidFill>
                <a:latin typeface="Arial"/>
                <a:cs typeface="Arial"/>
              </a:rPr>
              <a:t>FOR</a:t>
            </a:r>
            <a:r>
              <a:rPr sz="1200" b="1" spc="-5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97A9C1"/>
                </a:solidFill>
                <a:latin typeface="Arial"/>
                <a:cs typeface="Arial"/>
              </a:rPr>
              <a:t>AI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200">
              <a:latin typeface="Arial"/>
              <a:cs typeface="Arial"/>
            </a:endParaRPr>
          </a:p>
          <a:p>
            <a:pPr marL="24130" marR="1190625">
              <a:lnSpc>
                <a:spcPct val="100000"/>
              </a:lnSpc>
              <a:spcBef>
                <a:spcPts val="5"/>
              </a:spcBef>
            </a:pPr>
            <a:r>
              <a:rPr sz="1700" spc="-40" dirty="0">
                <a:solidFill>
                  <a:srgbClr val="D2DDEA"/>
                </a:solidFill>
                <a:latin typeface="Arial MT"/>
                <a:cs typeface="Arial MT"/>
              </a:rPr>
              <a:t>Team</a:t>
            </a:r>
            <a:r>
              <a:rPr sz="17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D2DDEA"/>
                </a:solidFill>
                <a:latin typeface="Arial MT"/>
                <a:cs typeface="Arial MT"/>
              </a:rPr>
              <a:t>Members: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2420030753</a:t>
            </a:r>
            <a:r>
              <a:rPr sz="15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-</a:t>
            </a:r>
            <a:r>
              <a:rPr sz="15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Sudhamsha</a:t>
            </a:r>
            <a:r>
              <a:rPr sz="1500" spc="-9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D2DDEA"/>
                </a:solidFill>
                <a:latin typeface="Arial MT"/>
                <a:cs typeface="Arial MT"/>
              </a:rPr>
              <a:t>A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2420090087</a:t>
            </a:r>
            <a:r>
              <a:rPr sz="15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-</a:t>
            </a:r>
            <a:r>
              <a:rPr sz="15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V</a:t>
            </a:r>
            <a:r>
              <a:rPr sz="1500" spc="-10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Akshaya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2420030619</a:t>
            </a:r>
            <a:r>
              <a:rPr sz="1500" spc="-5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-</a:t>
            </a:r>
            <a:r>
              <a:rPr sz="1500" spc="-7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Tanishka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4912" y="5745862"/>
            <a:ext cx="17621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Guide:</a:t>
            </a:r>
            <a:r>
              <a:rPr sz="1500" spc="-3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Dr.N.Shirisha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Associate</a:t>
            </a:r>
            <a:r>
              <a:rPr sz="1500" spc="-8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Professor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54259" y="6018532"/>
            <a:ext cx="8655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AC4D2"/>
                </a:solidFill>
                <a:latin typeface="Arial"/>
                <a:cs typeface="Arial"/>
              </a:rPr>
              <a:t>REVIEW</a:t>
            </a:r>
            <a:r>
              <a:rPr sz="1000" b="1" spc="-15" dirty="0">
                <a:solidFill>
                  <a:srgbClr val="2AC4D2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AC4D2"/>
                </a:solidFill>
                <a:latin typeface="Arial"/>
                <a:cs typeface="Arial"/>
              </a:rPr>
              <a:t>1</a:t>
            </a:r>
            <a:r>
              <a:rPr sz="1000" b="1" spc="-10" dirty="0">
                <a:solidFill>
                  <a:srgbClr val="2AC4D2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AC4D2"/>
                </a:solidFill>
                <a:latin typeface="Arial"/>
                <a:cs typeface="Arial"/>
              </a:rPr>
              <a:t>&amp;</a:t>
            </a:r>
            <a:r>
              <a:rPr sz="1000" b="1" spc="-10" dirty="0">
                <a:solidFill>
                  <a:srgbClr val="2AC4D2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2AC4D2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PROJECT OVERVIEW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642937" y="1260297"/>
            <a:ext cx="10921365" cy="4612005"/>
            <a:chOff x="642937" y="1260297"/>
            <a:chExt cx="10921365" cy="46120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65707" y="1453771"/>
            <a:ext cx="10153143" cy="4116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 err="1">
                <a:solidFill>
                  <a:schemeClr val="bg1"/>
                </a:solidFill>
              </a:rPr>
              <a:t>SkillSync</a:t>
            </a:r>
            <a:r>
              <a:rPr lang="en-IN" dirty="0">
                <a:solidFill>
                  <a:schemeClr val="bg1"/>
                </a:solidFill>
              </a:rPr>
              <a:t> AI is an intelligent data engineering platform designed to transform continuously evolving job-market data into actionable skill intelligence. The platform integrates heterogeneous job data from multiple sources using batch and real-time streaming ingestion, followed by automated data-quality validation, deduplication, standardization, and scalable processing using </a:t>
            </a:r>
            <a:r>
              <a:rPr lang="en-IN" dirty="0" err="1">
                <a:solidFill>
                  <a:schemeClr val="bg1"/>
                </a:solidFill>
              </a:rPr>
              <a:t>PySpark</a:t>
            </a:r>
            <a:r>
              <a:rPr lang="en-IN" dirty="0">
                <a:solidFill>
                  <a:schemeClr val="bg1"/>
                </a:solidFill>
              </a:rPr>
              <a:t>. Natural Language Processing (NLP) techniques are applied to unstructured job descriptions to extract, normalize, and categorize relevant skills. The processed data enables job-market analytics, emerging-skill detection, role-based skill-gap analysis, and machine-learning-based demand forecasting. By combining Data Engineering, NLP, Machine Learning, and analytics, </a:t>
            </a:r>
            <a:r>
              <a:rPr lang="en-IN" dirty="0" err="1">
                <a:solidFill>
                  <a:schemeClr val="bg1"/>
                </a:solidFill>
              </a:rPr>
              <a:t>SkillSync</a:t>
            </a:r>
            <a:r>
              <a:rPr lang="en-IN" dirty="0">
                <a:solidFill>
                  <a:schemeClr val="bg1"/>
                </a:solidFill>
              </a:rPr>
              <a:t> AI provides a scalable end-to-end solution for converting raw job-market data into reliable insights and decision-ready intelligence.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B2766-9A5B-A06B-108D-DFD1228D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C612679-D41D-32AD-068A-4BCF3FEA2C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METHODOLOGY</a:t>
            </a:r>
            <a:endParaRPr spc="-1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C0C945AE-60B0-FDB6-2076-3BA307E5663E}"/>
              </a:ext>
            </a:extLst>
          </p:cNvPr>
          <p:cNvGrpSpPr/>
          <p:nvPr/>
        </p:nvGrpSpPr>
        <p:grpSpPr>
          <a:xfrm>
            <a:off x="166727" y="1066800"/>
            <a:ext cx="11046866" cy="4983401"/>
            <a:chOff x="642937" y="1260297"/>
            <a:chExt cx="10921365" cy="461200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DB8F85F-2FBB-17EF-36BB-D1D8B215DEE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24D3CA9-D2CA-B983-A0C9-571F72FCF62A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4C7948F-26C4-8D6F-CCA1-20F94A890253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992F6688-FBCC-8E6E-FEB2-EC66881982C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D6FA6A2-3331-9AC2-0D94-B88AB52E5163}"/>
                </a:ext>
              </a:extLst>
            </p:cNvPr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2E194C46-46BE-1096-5B64-3B845A415200}"/>
              </a:ext>
            </a:extLst>
          </p:cNvPr>
          <p:cNvSpPr txBox="1"/>
          <p:nvPr/>
        </p:nvSpPr>
        <p:spPr>
          <a:xfrm>
            <a:off x="965707" y="1453771"/>
            <a:ext cx="4819143" cy="50860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</a:rPr>
              <a:t>Data Collection</a:t>
            </a:r>
            <a:r>
              <a:rPr lang="en-IN" dirty="0">
                <a:solidFill>
                  <a:schemeClr val="bg1"/>
                </a:solidFill>
              </a:rPr>
              <a:t>                                                        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Collect job-market data from multiple sources            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CSV / JSON / API-based data </a:t>
            </a:r>
          </a:p>
          <a:p>
            <a:pPr lvl="1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dirty="0">
                <a:solidFill>
                  <a:schemeClr val="bg1"/>
                </a:solidFill>
              </a:rPr>
              <a:t>Data Ingestion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Batch and streaming ingestion </a:t>
            </a:r>
          </a:p>
          <a:p>
            <a:pPr lvl="1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dirty="0">
                <a:solidFill>
                  <a:schemeClr val="bg1"/>
                </a:solidFill>
              </a:rPr>
              <a:t>Data Preprocessing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Data validation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Cleaning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Deduplication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Standardization </a:t>
            </a:r>
          </a:p>
          <a:p>
            <a:pPr lvl="1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dirty="0">
                <a:solidFill>
                  <a:schemeClr val="bg1"/>
                </a:solidFill>
              </a:rPr>
              <a:t>Skill Extraction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NLP-based extraction from job descriptions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Skill normalization and categorization </a:t>
            </a:r>
          </a:p>
          <a:p>
            <a:pPr lvl="1"/>
            <a:endParaRPr lang="en-IN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</a:pP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DFD62E0-56EB-7B50-C2D6-BC64FCB36C9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A1733C35-8193-7261-B181-23516DF2FFFB}"/>
              </a:ext>
            </a:extLst>
          </p:cNvPr>
          <p:cNvSpPr txBox="1"/>
          <p:nvPr/>
        </p:nvSpPr>
        <p:spPr>
          <a:xfrm>
            <a:off x="5823389" y="1453771"/>
            <a:ext cx="4956588" cy="37010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</a:rPr>
              <a:t>Data Analytics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Skill frequency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Role-wise skill analysis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Emerging skill detection </a:t>
            </a:r>
          </a:p>
          <a:p>
            <a:pPr lvl="1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dirty="0">
                <a:solidFill>
                  <a:schemeClr val="bg1"/>
                </a:solidFill>
              </a:rPr>
              <a:t>Prediction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IN" dirty="0" err="1">
                <a:solidFill>
                  <a:schemeClr val="bg1"/>
                </a:solidFill>
              </a:rPr>
              <a:t>Analyze</a:t>
            </a:r>
            <a:r>
              <a:rPr lang="en-IN" dirty="0">
                <a:solidFill>
                  <a:schemeClr val="bg1"/>
                </a:solidFill>
              </a:rPr>
              <a:t> historical trends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Forecast future skill demand </a:t>
            </a:r>
          </a:p>
          <a:p>
            <a:pPr lvl="1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dirty="0">
                <a:solidFill>
                  <a:schemeClr val="bg1"/>
                </a:solidFill>
              </a:rPr>
              <a:t>Visualization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Dashboard-based decision support</a:t>
            </a:r>
          </a:p>
          <a:p>
            <a:pPr lvl="1"/>
            <a:endParaRPr lang="en-IN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723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9858-D449-9997-FF24-FB84DD33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99" y="310267"/>
            <a:ext cx="4502151" cy="830997"/>
          </a:xfrm>
        </p:spPr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00136-6DA8-A04B-E7A0-06222C6EA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1" y="838201"/>
            <a:ext cx="11070780" cy="276999"/>
          </a:xfrm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38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D91D2-84D8-86FA-8005-59554D8D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6CC328F-0DBC-F7DB-11E0-9AFCE9BFE7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T</a:t>
            </a:r>
            <a:r>
              <a:rPr lang="en-IN" spc="-10" dirty="0"/>
              <a:t>ECHNOLOGY STACK</a:t>
            </a:r>
            <a:endParaRPr spc="-1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0082CC89-EAD6-7B02-736C-F74ABCD9C1D4}"/>
              </a:ext>
            </a:extLst>
          </p:cNvPr>
          <p:cNvGrpSpPr/>
          <p:nvPr/>
        </p:nvGrpSpPr>
        <p:grpSpPr>
          <a:xfrm>
            <a:off x="-28473" y="911943"/>
            <a:ext cx="11213593" cy="5260257"/>
            <a:chOff x="642937" y="1260297"/>
            <a:chExt cx="10921365" cy="461200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0C26E779-C5D8-2903-2024-0F40AA0EB1C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4EC15BA-392E-9922-5F4B-F247EE592D7A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31D557C-C82D-6621-9A1D-08B869E4FCA8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CC9C7290-D65D-EDFA-8F19-63EA3A75FC8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C77ADB9-0A9C-903F-282B-721649E9BC80}"/>
                </a:ext>
              </a:extLst>
            </p:cNvPr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D855E43E-7F2A-1A1F-4AD8-EDECDC2AF80C}"/>
              </a:ext>
            </a:extLst>
          </p:cNvPr>
          <p:cNvSpPr txBox="1"/>
          <p:nvPr/>
        </p:nvSpPr>
        <p:spPr>
          <a:xfrm>
            <a:off x="673099" y="1295400"/>
            <a:ext cx="5111751" cy="4998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Programming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dirty="0">
                <a:solidFill>
                  <a:schemeClr val="bg1"/>
                </a:solidFill>
              </a:rPr>
              <a:t>Python 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Data Engineering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dirty="0">
                <a:solidFill>
                  <a:schemeClr val="bg1"/>
                </a:solidFill>
              </a:rPr>
              <a:t>Apache Spark </a:t>
            </a:r>
          </a:p>
          <a:p>
            <a:pPr lvl="0"/>
            <a:r>
              <a:rPr lang="en-IN" dirty="0" err="1">
                <a:solidFill>
                  <a:schemeClr val="bg1"/>
                </a:solidFill>
              </a:rPr>
              <a:t>PySpark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Apache Kafka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r>
              <a:rPr lang="en-IN" b="1" dirty="0">
                <a:solidFill>
                  <a:schemeClr val="bg1"/>
                </a:solidFill>
              </a:rPr>
              <a:t>Data Storage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dirty="0" err="1">
                <a:solidFill>
                  <a:schemeClr val="bg1"/>
                </a:solidFill>
              </a:rPr>
              <a:t>MinIO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Apache Parquet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PostgreSQL 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Data Quality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dirty="0">
                <a:solidFill>
                  <a:schemeClr val="bg1"/>
                </a:solidFill>
              </a:rPr>
              <a:t>Great Expectations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44917D8-D103-53E2-D16A-7A80320AEE1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1EE23F40-1334-5B06-14F2-436007598566}"/>
              </a:ext>
            </a:extLst>
          </p:cNvPr>
          <p:cNvSpPr txBox="1"/>
          <p:nvPr/>
        </p:nvSpPr>
        <p:spPr>
          <a:xfrm>
            <a:off x="5823389" y="1453771"/>
            <a:ext cx="4956588" cy="4167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AI / NLP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dirty="0" err="1">
                <a:solidFill>
                  <a:schemeClr val="bg1"/>
                </a:solidFill>
              </a:rPr>
              <a:t>spaCy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Transformers / LLM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r>
              <a:rPr lang="en-IN" b="1" dirty="0">
                <a:solidFill>
                  <a:schemeClr val="bg1"/>
                </a:solidFill>
              </a:rPr>
              <a:t>Machine Learning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dirty="0">
                <a:solidFill>
                  <a:schemeClr val="bg1"/>
                </a:solidFill>
              </a:rPr>
              <a:t>Scikit-learn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r>
              <a:rPr lang="en-IN" b="1" dirty="0">
                <a:solidFill>
                  <a:schemeClr val="bg1"/>
                </a:solidFill>
              </a:rPr>
              <a:t>Orchestration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dirty="0">
                <a:solidFill>
                  <a:schemeClr val="bg1"/>
                </a:solidFill>
              </a:rPr>
              <a:t>Apache Airflow 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Visualization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dirty="0" err="1">
                <a:solidFill>
                  <a:schemeClr val="bg1"/>
                </a:solidFill>
              </a:rPr>
              <a:t>Streamlit</a:t>
            </a:r>
            <a:r>
              <a:rPr lang="en-IN" dirty="0">
                <a:solidFill>
                  <a:schemeClr val="bg1"/>
                </a:solidFill>
              </a:rPr>
              <a:t> / Power BI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r>
              <a:rPr lang="en-IN" b="1" dirty="0">
                <a:solidFill>
                  <a:schemeClr val="bg1"/>
                </a:solidFill>
              </a:rPr>
              <a:t>Deployment</a:t>
            </a:r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dirty="0">
                <a:solidFill>
                  <a:schemeClr val="bg1"/>
                </a:solidFill>
              </a:rPr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3274507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BF6A0-509B-E898-DDF0-9857354D2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93F5591-6472-82D9-6F0E-EDE1C2149C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3681" y="329670"/>
            <a:ext cx="5895569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DATA ENGINEERING PIPELINE</a:t>
            </a:r>
            <a:endParaRPr spc="-1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F534BADF-D792-AB7A-5E5A-B30F50DE43DF}"/>
              </a:ext>
            </a:extLst>
          </p:cNvPr>
          <p:cNvGrpSpPr/>
          <p:nvPr/>
        </p:nvGrpSpPr>
        <p:grpSpPr>
          <a:xfrm>
            <a:off x="527051" y="1260297"/>
            <a:ext cx="5105399" cy="5064303"/>
            <a:chOff x="642937" y="1260297"/>
            <a:chExt cx="10921365" cy="461200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7DF2CCB-4D8D-2AF2-788D-DA9AD11EFAB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D15F4A5-24B7-F071-81C4-716ADCF0AC52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0BC3DF6-F70D-9827-5553-88299275B335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7698064D-1DDD-A488-A384-75CBCC13ABE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9936BB43-A9F4-EF5E-91B2-0DC72A2DF9FD}"/>
                </a:ext>
              </a:extLst>
            </p:cNvPr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F1B8D82E-A943-AD56-3ACC-0D8F9C556396}"/>
              </a:ext>
            </a:extLst>
          </p:cNvPr>
          <p:cNvSpPr txBox="1"/>
          <p:nvPr/>
        </p:nvSpPr>
        <p:spPr>
          <a:xfrm>
            <a:off x="965707" y="1453771"/>
            <a:ext cx="10153143" cy="4820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Source Data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Ingestion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Validation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Cleaning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Deduplication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Transformation</a:t>
            </a:r>
          </a:p>
          <a:p>
            <a:pPr algn="l"/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Parquet / Data Lake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PostgreSQL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2DBD47D-B37B-ABE3-697C-39443405613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57F8EA5B-A95B-C897-D60C-76C0F135738C}"/>
              </a:ext>
            </a:extLst>
          </p:cNvPr>
          <p:cNvGrpSpPr/>
          <p:nvPr/>
        </p:nvGrpSpPr>
        <p:grpSpPr>
          <a:xfrm>
            <a:off x="5793561" y="1260297"/>
            <a:ext cx="5391559" cy="5086946"/>
            <a:chOff x="642937" y="1260297"/>
            <a:chExt cx="11533513" cy="4632626"/>
          </a:xfrm>
        </p:grpSpPr>
        <p:pic>
          <p:nvPicPr>
            <p:cNvPr id="12" name="object 5">
              <a:extLst>
                <a:ext uri="{FF2B5EF4-FFF2-40B4-BE49-F238E27FC236}">
                  <a16:creationId xmlns:a16="http://schemas.microsoft.com/office/drawing/2014/main" id="{CF044E74-4836-F361-F8DC-AA6E0C2D885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786F4FEE-2062-11EC-043C-7546A3AEE350}"/>
                </a:ext>
              </a:extLst>
            </p:cNvPr>
            <p:cNvSpPr/>
            <p:nvPr/>
          </p:nvSpPr>
          <p:spPr>
            <a:xfrm>
              <a:off x="826008" y="1366643"/>
              <a:ext cx="11350442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r>
                <a:rPr lang="en-IN" b="1" dirty="0">
                  <a:solidFill>
                    <a:schemeClr val="bg1"/>
                  </a:solidFill>
                </a:rPr>
                <a:t>Key implementation features:</a:t>
              </a:r>
            </a:p>
            <a:p>
              <a:endParaRPr lang="en-IN" dirty="0">
                <a:solidFill>
                  <a:schemeClr val="bg1"/>
                </a:solidFill>
              </a:endParaRPr>
            </a:p>
            <a:p>
              <a:pPr marL="285750" lvl="3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bg1"/>
                  </a:solidFill>
                </a:rPr>
                <a:t>Automated data cleaning </a:t>
              </a:r>
            </a:p>
            <a:p>
              <a:pPr marL="285750" lvl="3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bg1"/>
                  </a:solidFill>
                </a:rPr>
                <a:t>Schema standardization </a:t>
              </a:r>
            </a:p>
            <a:p>
              <a:pPr marL="285750" lvl="3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bg1"/>
                  </a:solidFill>
                </a:rPr>
                <a:t>Duplicate detection </a:t>
              </a:r>
            </a:p>
            <a:p>
              <a:pPr marL="285750" lvl="3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bg1"/>
                  </a:solidFill>
                </a:rPr>
                <a:t>Missing-value handling </a:t>
              </a:r>
            </a:p>
            <a:p>
              <a:pPr marL="285750" lvl="3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bg1"/>
                  </a:solidFill>
                </a:rPr>
                <a:t>Scalable processing using </a:t>
              </a:r>
              <a:r>
                <a:rPr lang="en-IN" dirty="0" err="1">
                  <a:solidFill>
                    <a:schemeClr val="bg1"/>
                  </a:solidFill>
                </a:rPr>
                <a:t>PySpark</a:t>
              </a:r>
              <a:endParaRPr lang="en-IN" dirty="0">
                <a:solidFill>
                  <a:schemeClr val="bg1"/>
                </a:solidFill>
              </a:endParaRPr>
            </a:p>
            <a:p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14" name="object 7">
              <a:extLst>
                <a:ext uri="{FF2B5EF4-FFF2-40B4-BE49-F238E27FC236}">
                  <a16:creationId xmlns:a16="http://schemas.microsoft.com/office/drawing/2014/main" id="{BBFFFDAE-694C-45F9-F6D3-663FA6769DA0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8">
              <a:extLst>
                <a:ext uri="{FF2B5EF4-FFF2-40B4-BE49-F238E27FC236}">
                  <a16:creationId xmlns:a16="http://schemas.microsoft.com/office/drawing/2014/main" id="{C77B843C-009A-ABE2-1D03-E6BDF95A332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16" name="object 9">
              <a:extLst>
                <a:ext uri="{FF2B5EF4-FFF2-40B4-BE49-F238E27FC236}">
                  <a16:creationId xmlns:a16="http://schemas.microsoft.com/office/drawing/2014/main" id="{CF7C9128-C700-FFD4-8B7A-082C3A9CE820}"/>
                </a:ext>
              </a:extLst>
            </p:cNvPr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13460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A0F3D-03AC-E586-F447-7DD743B7E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72A428A-5939-13BA-D030-390851C4F1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IMPLEMENTATION</a:t>
            </a:r>
            <a:endParaRPr spc="-1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7E9592BE-FC2E-C2A5-8ECE-F31265F4E269}"/>
              </a:ext>
            </a:extLst>
          </p:cNvPr>
          <p:cNvGrpSpPr/>
          <p:nvPr/>
        </p:nvGrpSpPr>
        <p:grpSpPr>
          <a:xfrm>
            <a:off x="673099" y="990599"/>
            <a:ext cx="10891203" cy="5791201"/>
            <a:chOff x="642937" y="1260297"/>
            <a:chExt cx="10921365" cy="461200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98063CF-2BC9-4F3A-A06C-287152F9BB8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0230BBE-D114-9036-863A-4A1CD5BC2419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9927049-A070-1AF6-5075-46C1D9D0ADC6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ACB6614D-DDCA-23CF-5195-B9A3257DDCA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857A2E2-2F75-E131-BFA0-457E918E7F83}"/>
                </a:ext>
              </a:extLst>
            </p:cNvPr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49880D63-EC77-046F-52F4-0A5E43DBDF07}"/>
              </a:ext>
            </a:extLst>
          </p:cNvPr>
          <p:cNvSpPr txBox="1"/>
          <p:nvPr/>
        </p:nvSpPr>
        <p:spPr>
          <a:xfrm>
            <a:off x="1060450" y="1143001"/>
            <a:ext cx="10058400" cy="5275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IMPLEMENTATION OF CORE MODULES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01 Data Processing</a:t>
            </a:r>
          </a:p>
          <a:p>
            <a:r>
              <a:rPr lang="en-IN" dirty="0">
                <a:solidFill>
                  <a:schemeClr val="bg1"/>
                </a:solidFill>
              </a:rPr>
              <a:t>Python + </a:t>
            </a:r>
            <a:r>
              <a:rPr lang="en-IN" dirty="0" err="1">
                <a:solidFill>
                  <a:schemeClr val="bg1"/>
                </a:solidFill>
              </a:rPr>
              <a:t>PySpark</a:t>
            </a:r>
            <a:r>
              <a:rPr lang="en-IN" dirty="0">
                <a:solidFill>
                  <a:schemeClr val="bg1"/>
                </a:solidFill>
              </a:rPr>
              <a:t> used for data transformation.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02 Skill Extraction</a:t>
            </a:r>
          </a:p>
          <a:p>
            <a:r>
              <a:rPr lang="en-IN" dirty="0">
                <a:solidFill>
                  <a:schemeClr val="bg1"/>
                </a:solidFill>
              </a:rPr>
              <a:t>NLP processes job descriptions and identifies relevant skills.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03 Skill Normalization</a:t>
            </a:r>
          </a:p>
          <a:p>
            <a:r>
              <a:rPr lang="en-IN" dirty="0">
                <a:solidFill>
                  <a:schemeClr val="bg1"/>
                </a:solidFill>
              </a:rPr>
              <a:t>Different representations of the same skill are standardized.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04 Analytics</a:t>
            </a:r>
          </a:p>
          <a:p>
            <a:r>
              <a:rPr lang="en-IN" dirty="0">
                <a:solidFill>
                  <a:schemeClr val="bg1"/>
                </a:solidFill>
              </a:rPr>
              <a:t>Processed data is used to identify skill-demand patterns.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05 Forecasting</a:t>
            </a:r>
          </a:p>
          <a:p>
            <a:r>
              <a:rPr lang="en-IN" dirty="0">
                <a:solidFill>
                  <a:schemeClr val="bg1"/>
                </a:solidFill>
              </a:rPr>
              <a:t>Historical trends are used to estimate future demand.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06 Dashboard</a:t>
            </a:r>
          </a:p>
          <a:p>
            <a:r>
              <a:rPr lang="en-IN" dirty="0">
                <a:solidFill>
                  <a:schemeClr val="bg1"/>
                </a:solidFill>
              </a:rPr>
              <a:t>Insights are presented through an interactive interface.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E9A7BDC-C7BB-6CCD-30FC-D12A3DF6B1B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575896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BB2C6-2BE4-6EF8-191A-23932452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7ADA079-D8E7-8025-F476-E6912A3A69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CODING QUALITY</a:t>
            </a:r>
            <a:endParaRPr spc="-1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FAF92C73-4CEF-B7A7-21C5-D05E5D5C0936}"/>
              </a:ext>
            </a:extLst>
          </p:cNvPr>
          <p:cNvGrpSpPr/>
          <p:nvPr/>
        </p:nvGrpSpPr>
        <p:grpSpPr>
          <a:xfrm>
            <a:off x="673099" y="990599"/>
            <a:ext cx="10891203" cy="5791201"/>
            <a:chOff x="642937" y="1260297"/>
            <a:chExt cx="10921365" cy="461200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F4874CE9-E1D1-D064-0138-C64A84E03C9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3198AC7-A370-7F3F-5D3B-30E23F6F082C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DDFCB96-83EA-0650-7801-A155635370C6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526145CF-E94F-EDE0-DF02-483D2FF87AC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63B7D102-5032-ED68-7B39-AA4345C0C89F}"/>
                </a:ext>
              </a:extLst>
            </p:cNvPr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A7221DE3-A34E-1373-7CA5-D8D4D9A5A9A7}"/>
              </a:ext>
            </a:extLst>
          </p:cNvPr>
          <p:cNvSpPr txBox="1"/>
          <p:nvPr/>
        </p:nvSpPr>
        <p:spPr>
          <a:xfrm>
            <a:off x="1060450" y="1143001"/>
            <a:ext cx="10058400" cy="42550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CODING QUALITY &amp; BEST PRACTICES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Modular code structure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Reusable functions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Meaningful variable and function names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Proper exception handling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Input validation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Separation of data-processing and application logic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Consistent coding standards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Comments for important processing steps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Version control using Git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1B24279-9C9C-6F30-CFC6-414BB9512BB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339488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7EE68-DEA6-FF5D-F126-DD636E2C8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D2EAFCB-850E-8E1E-FD6E-C3C42A7A1D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FUNCTIONALITIES</a:t>
            </a:r>
            <a:endParaRPr spc="-1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8C78ABA-13CE-0B29-6E7B-3C6A4A4BE83B}"/>
              </a:ext>
            </a:extLst>
          </p:cNvPr>
          <p:cNvGrpSpPr/>
          <p:nvPr/>
        </p:nvGrpSpPr>
        <p:grpSpPr>
          <a:xfrm>
            <a:off x="673099" y="990599"/>
            <a:ext cx="10891203" cy="5791201"/>
            <a:chOff x="642937" y="1260297"/>
            <a:chExt cx="10921365" cy="461200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245608A-761E-D709-4018-B0EB97B11D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A2E53CB-899A-A3E0-6EBA-F2DB4A94F821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04EE165-A3D6-1B8C-F4AC-470106CC2F2F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93FEBA4C-D2C2-AF24-5B28-2495F12BD81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D8AF77D-8689-0B7C-37CE-540B9BD02B4E}"/>
                </a:ext>
              </a:extLst>
            </p:cNvPr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EAF71F1D-0B75-DD71-4E82-9953BBB9F965}"/>
              </a:ext>
            </a:extLst>
          </p:cNvPr>
          <p:cNvSpPr txBox="1"/>
          <p:nvPr/>
        </p:nvSpPr>
        <p:spPr>
          <a:xfrm>
            <a:off x="1060450" y="1143001"/>
            <a:ext cx="10058400" cy="5501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SKILLSYNC AI — FUNCTIONALITIES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Job data ingestion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Data validation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Data cleaning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Duplicate removal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Data transformation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Skill extraction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Skill normalization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Skill categorization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Skill-demand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Emerging skill identification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Demand forecasting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Interactive visualization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045C956-4B62-3837-F5E6-A2A2DD18187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55860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THANK</a:t>
            </a:r>
            <a:r>
              <a:rPr sz="3800" spc="-210" dirty="0"/>
              <a:t> </a:t>
            </a:r>
            <a:r>
              <a:rPr sz="3800" spc="-25" dirty="0"/>
              <a:t>YOU</a:t>
            </a:r>
            <a:endParaRPr sz="3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4853940" y="3020707"/>
            <a:ext cx="2499360" cy="140335"/>
            <a:chOff x="4853940" y="3020707"/>
            <a:chExt cx="2499360" cy="140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3940" y="3020707"/>
              <a:ext cx="2499360" cy="1402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92040" y="3035807"/>
              <a:ext cx="2423160" cy="64135"/>
            </a:xfrm>
            <a:custGeom>
              <a:avLst/>
              <a:gdLst/>
              <a:ahLst/>
              <a:cxnLst/>
              <a:rect l="l" t="t" r="r" b="b"/>
              <a:pathLst>
                <a:path w="2423159" h="64135">
                  <a:moveTo>
                    <a:pt x="242316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2423160" y="64008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010659" y="5930013"/>
            <a:ext cx="28549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97A9C1"/>
                </a:solidFill>
                <a:latin typeface="Arial MT"/>
                <a:cs typeface="Arial MT"/>
              </a:rPr>
              <a:t>SkillSync</a:t>
            </a:r>
            <a:r>
              <a:rPr sz="900" spc="-5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AI</a:t>
            </a:r>
            <a:r>
              <a:rPr sz="900" spc="25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•</a:t>
            </a:r>
            <a:r>
              <a:rPr sz="900" spc="254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Fundamentals</a:t>
            </a:r>
            <a:r>
              <a:rPr sz="9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of</a:t>
            </a:r>
            <a:r>
              <a:rPr sz="900" spc="-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Data</a:t>
            </a:r>
            <a:r>
              <a:rPr sz="9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Engineering</a:t>
            </a:r>
            <a:r>
              <a:rPr sz="9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for</a:t>
            </a:r>
            <a:r>
              <a:rPr sz="900" spc="-5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97A9C1"/>
                </a:solidFill>
                <a:latin typeface="Arial MT"/>
                <a:cs typeface="Arial MT"/>
              </a:rPr>
              <a:t>AI</a:t>
            </a:r>
            <a:endParaRPr sz="9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493</Words>
  <Application>Microsoft Office PowerPoint</Application>
  <PresentationFormat>Custom</PresentationFormat>
  <Paragraphs>153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MT</vt:lpstr>
      <vt:lpstr>Calibri</vt:lpstr>
      <vt:lpstr>Office Theme</vt:lpstr>
      <vt:lpstr>SKILLSYNC AI</vt:lpstr>
      <vt:lpstr>PROJECT OVERVIEW</vt:lpstr>
      <vt:lpstr>METHODOLOGY</vt:lpstr>
      <vt:lpstr>SYSTEM ARCHITECTURE</vt:lpstr>
      <vt:lpstr>TECHNOLOGY STACK</vt:lpstr>
      <vt:lpstr>DATA ENGINEERING PIPELINE</vt:lpstr>
      <vt:lpstr>IMPLEMENTATION</vt:lpstr>
      <vt:lpstr>CODING QUALITY</vt:lpstr>
      <vt:lpstr>FUNCTIONALITIES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SkillSync_AI_Final_Review_PPT</dc:title>
  <dc:creator>AKSHAYA</dc:creator>
  <cp:lastModifiedBy>akshaya vizzapu</cp:lastModifiedBy>
  <cp:revision>4</cp:revision>
  <dcterms:created xsi:type="dcterms:W3CDTF">2026-09-05T04:52:14Z</dcterms:created>
  <dcterms:modified xsi:type="dcterms:W3CDTF">2026-09-12T06:04:03Z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2026-08-26T00:00:00Z</vt:filetime>
  </property>
  <property fmtid="{D5CDD505-2E9C-101B-9397-08002B2CF9AE}" pid="4" name="Creator">
    <vt:lpwstr>Keynote</vt:lpwstr>
  </property>
  <property fmtid="{D5CDD505-2E9C-101B-9397-08002B2CF9AE}" pid="5" name="LastSaved">
    <vt:filetime>2026-09-05T00:00:00Z</vt:filetime>
  </property>
  <property fmtid="{D5CDD505-2E9C-101B-9397-08002B2CF9AE}" pid="6" name="Producer">
    <vt:lpwstr>macOS Version 26.5.2 (Build 25F84) Quartz PDFContext</vt:lpwstr>
  </property>
</Properties>
</file>